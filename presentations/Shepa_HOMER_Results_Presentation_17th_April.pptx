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AABBCC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AABBCC"/>
                </a:solidFill>
                <a:latin typeface="Arial" panose="020B0604020202020204"/>
              </a:rPr>
              <a:t>Component NPC Breakdown ($)</a:t>
            </a:r>
            <a:endParaRPr sz="1100" b="0" i="0" u="none" strike="noStrike">
              <a:solidFill>
                <a:srgbClr val="AABBCC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NPC ($)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7A58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DADE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ED6F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E9EB0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Li-Ion Battery</c:v>
                </c:pt>
                <c:pt idx="1">
                  <c:v>Genset</c:v>
                </c:pt>
                <c:pt idx="2">
                  <c:v>Electrolyzer</c:v>
                </c:pt>
                <c:pt idx="3">
                  <c:v>Solar PV</c:v>
                </c:pt>
                <c:pt idx="4">
                  <c:v>H₂ Tank</c:v>
                </c:pt>
                <c:pt idx="5">
                  <c:v>Converter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130476</c:v>
                </c:pt>
                <c:pt idx="1">
                  <c:v>94107</c:v>
                </c:pt>
                <c:pt idx="2">
                  <c:v>70715</c:v>
                </c:pt>
                <c:pt idx="3">
                  <c:v>213310</c:v>
                </c:pt>
                <c:pt idx="4">
                  <c:v>20867</c:v>
                </c:pt>
                <c:pt idx="5">
                  <c:v>230856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AABB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AABB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22030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cb0f0a1-c2af-44cc-828b-72a48210f6c0}"/>
      </c:ext>
    </c:extLst>
  </c:chart>
  <c:spPr>
    <a:solidFill>
      <a:srgbClr val="122030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291840"/>
            <a:ext cx="11996928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SHEPA PROJECT  |  CENTRAL HUB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HOMER Pro Simulation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9144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Report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Full-Year Hybrid Solar – Battery – Hydrogen System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Merti, Isiolo County, Kenya  |  HOMER Pro 3.14.2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5029200" cy="109728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4663440"/>
            <a:ext cx="4754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Author: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Cassandra Lelei
</a:t>
            </a:r>
            <a:r>
              <a:rPr lang="en-US" sz="1100" b="1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Model: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SHEPA_CentralHub_v1.homer
</a:t>
            </a:r>
            <a:r>
              <a:rPr lang="en-US" sz="1100" b="1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Version: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  | 17th  April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4572000"/>
            <a:ext cx="4937760" cy="109728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0" y="4645152"/>
            <a:ext cx="4572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Simulation Complete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Hub – Full Year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Borehole system models will be presented in the next phase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0292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554480"/>
            <a:ext cx="4754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34416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Architecture, loads, and design assumptions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788920"/>
            <a:ext cx="50292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108960"/>
            <a:ext cx="4754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89864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Financial Results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38328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NPC, LCOE, and component cost breakdown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34340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4343400"/>
            <a:ext cx="50292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4663440"/>
            <a:ext cx="4754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45312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Generation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93776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Solar, battery, and generation profile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23444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234440"/>
            <a:ext cx="50292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1554480"/>
            <a:ext cx="4754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134416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Electrolyzer Performance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182880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Hydrogen production observations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78892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788920"/>
            <a:ext cx="50292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3108960"/>
            <a:ext cx="4754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289864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Warnings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338328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Issues identified and implications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34340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4343400"/>
            <a:ext cx="50292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4663440"/>
            <a:ext cx="4754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03720" y="445312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Steps &amp; Optimisation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493776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actions for the next simulation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657600" cy="210312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 PV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96596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 kW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Generic Flat Plate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188720"/>
            <a:ext cx="3657600" cy="210312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3716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BATTERY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434840" y="196596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 kWh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434840" y="260604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Li-Ion · 3 strings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3880" y="1188720"/>
            <a:ext cx="3657600" cy="210312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3716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0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CONVERTER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366760" y="196596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kW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366760" y="260604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" y="3657600"/>
            <a:ext cx="3657600" cy="210312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84048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38404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DAD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ELECTROLYZER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02920" y="443484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kW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502920" y="507492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H₂ Production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51960" y="3657600"/>
            <a:ext cx="3657600" cy="210312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84048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29200" y="38404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H₂ TANK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434840" y="443484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kg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4434840" y="507492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Hydrogen Storage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83880" y="3657600"/>
            <a:ext cx="3657600" cy="210312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84048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961120" y="38404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8366760" y="443484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kW</a:t>
            </a:r>
            <a:endParaRPr lang="en-US" sz="2600" dirty="0"/>
          </a:p>
        </p:txBody>
      </p:sp>
      <p:sp>
        <p:nvSpPr>
          <p:cNvPr id="33" name="Text 25"/>
          <p:cNvSpPr/>
          <p:nvPr/>
        </p:nvSpPr>
        <p:spPr>
          <a:xfrm>
            <a:off x="8366760" y="507492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Diesel Backup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320040" y="6080760"/>
            <a:ext cx="11521440" cy="50292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457200" y="6099048"/>
            <a:ext cx="11430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Dispatch Strategy: HOMER Cycle Charging  |  Location: Merti, Isiolo County, Kenya (1°4.0'N, 38°40.0'E)  |  Project Lifetime: 25 years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LOAD PROFILE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5212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24-Hour Critical Loads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212080" cy="548640"/>
          </a:xfrm>
          <a:prstGeom prst="rect">
            <a:avLst/>
          </a:prstGeom>
          <a:solidFill>
            <a:srgbClr val="F0F5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47672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Cold Room HVAC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947672"/>
            <a:ext cx="1005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8.5 kW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947672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 kWh/day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87752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Cold Room Fans &amp; Controls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587752"/>
            <a:ext cx="1005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 kW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2587752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 kWh/day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5212080" cy="548640"/>
          </a:xfrm>
          <a:prstGeom prst="rect">
            <a:avLst/>
          </a:prstGeom>
          <a:solidFill>
            <a:srgbClr val="F0F5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27832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Cold Room Lighting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227832"/>
            <a:ext cx="1005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 kW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3227832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kWh/day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79476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67912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Room (SCADA)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867912"/>
            <a:ext cx="1005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 kW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867912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19.2 kWh/day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434840"/>
            <a:ext cx="5212080" cy="548640"/>
          </a:xfrm>
          <a:prstGeom prst="rect">
            <a:avLst/>
          </a:prstGeom>
          <a:solidFill>
            <a:srgbClr val="F0F5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507992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H₂ Auxiliary Systems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4507992"/>
            <a:ext cx="1005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 kW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34840" y="4507992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 kWh/day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6035040"/>
            <a:ext cx="521208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605332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TOTAL: 295 kWh/day  |  18.75 kW peak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1188720"/>
            <a:ext cx="5486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1188720"/>
            <a:ext cx="5486400" cy="5486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216152"/>
            <a:ext cx="5212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Daytime Deferrable Loads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1874520"/>
            <a:ext cx="5212080" cy="548640"/>
          </a:xfrm>
          <a:prstGeom prst="rect">
            <a:avLst/>
          </a:prstGeom>
          <a:solidFill>
            <a:srgbClr val="F0F5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947672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Electrolyzer (DC)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81160" y="1947672"/>
            <a:ext cx="1005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6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30.0 kW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332720" y="1947672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240 kWh/day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251460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587752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H₂ Compressor + RO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81160" y="2587752"/>
            <a:ext cx="1005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6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 kW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332720" y="2587752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16.8 kWh/day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3154680"/>
            <a:ext cx="5212080" cy="548640"/>
          </a:xfrm>
          <a:prstGeom prst="rect">
            <a:avLst/>
          </a:prstGeom>
          <a:solidFill>
            <a:srgbClr val="F0F5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227832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AWG (Rainy Months)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81160" y="3227832"/>
            <a:ext cx="1005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6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 kW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332720" y="3227832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14.5 kWh/day avg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6035040"/>
            <a:ext cx="5212080" cy="3200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605332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TOTAL: ~257 kWh/day  |  35.3 kW peak (daytime)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FINANCIAL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657600" cy="192024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NPC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383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$760,330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3383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25-Year Lifecycle Cost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143000"/>
            <a:ext cx="3657600" cy="192024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123444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LCOE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1572768"/>
            <a:ext cx="3383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$0.4424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434840" y="2331720"/>
            <a:ext cx="3383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kWh generated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143000"/>
            <a:ext cx="3657600" cy="192024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23444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5DAD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COST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66760" y="1572768"/>
            <a:ext cx="3383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$23,297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66760" y="2331720"/>
            <a:ext cx="3383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year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65760" y="3200400"/>
          <a:ext cx="7772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8321040" y="3200400"/>
            <a:ext cx="3474720" cy="338328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12480" y="329184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Capital Costs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12480" y="374904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 PV (200 kW)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424160" y="3749040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$170,000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412480" y="413308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Genset (50 kW)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424160" y="4133088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$120,000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412480" y="4517136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Li-Ion Battery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424160" y="4517136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$54,000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412480" y="4901184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Electrolyzer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424160" y="4901184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$45,000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412480" y="5285232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H₂ Tank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424160" y="5285232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$20,000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412480" y="566928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424160" y="5669280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$15,000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412480" y="605332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424160" y="6053328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$424,000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GENERATION ANALYSIS</a:t>
            </a:r>
            <a:endParaRPr lang="en-US" sz="2200" dirty="0"/>
          </a:p>
        </p:txBody>
      </p:sp>
      <p:pic>
        <p:nvPicPr>
          <p:cNvPr id="4" name="Image 0" descr="/mnt/user-data/uploads/1776403501502_imag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4320" y="1097280"/>
            <a:ext cx="731520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097280"/>
            <a:ext cx="41148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0" y="1097280"/>
            <a:ext cx="411480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1124712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1691640"/>
            <a:ext cx="3977640" cy="804672"/>
          </a:xfrm>
          <a:prstGeom prst="rect">
            <a:avLst/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184708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66760" y="1783080"/>
            <a:ext cx="3337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 PV dominates generation — covers daytime loads and charges battery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818120" y="260604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276148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66760" y="2697480"/>
            <a:ext cx="3337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Battery provides continuous overnight discharge for critical cold room loads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818120" y="3520440"/>
            <a:ext cx="3977640" cy="804672"/>
          </a:xfrm>
          <a:prstGeom prst="rect">
            <a:avLst/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67588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66760" y="3611880"/>
            <a:ext cx="3337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Diesel generator activates during low-solar periods — system not fully renewable yet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7818120" y="443484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4590288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66760" y="4526280"/>
            <a:ext cx="3337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range: 50–175 kW consistent throughout year, confirming stable demand profile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274320" y="5669280"/>
            <a:ext cx="11612880" cy="868680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5788152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04672" y="5687568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4E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PV search space flagged as potentially insufficient — 200 kW may not be the optimal array size. Expand search space to 100–500 kW in next run.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ELECTROLYZER &amp; HYDROGEN PRODUCTION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6858000" cy="384048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6675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Electrolyzer Output – Annual Time Series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(from HOMER Pro Time Series Analysis)</a:t>
            </a:r>
            <a:endParaRPr lang="en-US" sz="1000" dirty="0"/>
          </a:p>
        </p:txBody>
      </p:sp>
      <p:pic>
        <p:nvPicPr>
          <p:cNvPr id="6" name="Image 0" descr="/mnt/user-data/uploads/1776403501502_imag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4320" y="1371600"/>
            <a:ext cx="68580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097280"/>
            <a:ext cx="4572000" cy="3840480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52360" y="118872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FINDING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06640" y="1691640"/>
            <a:ext cx="4389120" cy="530352"/>
          </a:xfrm>
          <a:prstGeom prst="rect">
            <a:avLst/>
          </a:prstGeom>
          <a:solidFill>
            <a:srgbClr val="122A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764792"/>
            <a:ext cx="1645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Output: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89720" y="1764792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~0.55 kg/hr (during operation)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06640" y="2258568"/>
            <a:ext cx="4389120" cy="530352"/>
          </a:xfrm>
          <a:prstGeom prst="rect">
            <a:avLst/>
          </a:prstGeom>
          <a:solidFill>
            <a:srgbClr val="12203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2331720"/>
            <a:ext cx="1645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 Pattern: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89720" y="2331720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Highly intermittent — sparse events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06640" y="2825496"/>
            <a:ext cx="4389120" cy="530352"/>
          </a:xfrm>
          <a:prstGeom prst="rect">
            <a:avLst/>
          </a:prstGeom>
          <a:solidFill>
            <a:srgbClr val="122A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2898648"/>
            <a:ext cx="1645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Production: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89720" y="2898648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Well below 5 kg/day target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06640" y="3392424"/>
            <a:ext cx="4389120" cy="530352"/>
          </a:xfrm>
          <a:prstGeom prst="rect">
            <a:avLst/>
          </a:prstGeom>
          <a:solidFill>
            <a:srgbClr val="12203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3465576"/>
            <a:ext cx="1645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Operation: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189720" y="3465576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achieving 8 hrs/day as designed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06640" y="4023360"/>
            <a:ext cx="4389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electrolyzer is not being dispatched consistently. Insufficient excess PV capacity after meeting primary loads means hydrogen production targets cannot be met with the current 200 kW PV configuration.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5120640"/>
            <a:ext cx="11612880" cy="1417320"/>
          </a:xfrm>
          <a:prstGeom prst="rect">
            <a:avLst/>
          </a:prstGeom>
          <a:solidFill>
            <a:srgbClr val="0D3D57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05840" y="5166360"/>
            <a:ext cx="107899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Required Actions: (1) Increase PV capacity search space to 100–500 kW  ·  (2) Review electrolyzer dispatch strategy to prioritise hydrogen production during surplus solar hours  ·  (3) Consider a dedicated PV allocation for hydrogen production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WARNINGS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30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B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155448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98448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Converter Search Space Insufficient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1719072"/>
            <a:ext cx="6858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Issue: Current 50 kW converter may be undersized. Peak loads during simultaneous electrolyzer and critical load operation can exceed 50 kW.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55280" y="1645920"/>
            <a:ext cx="3566160" cy="731520"/>
          </a:xfrm>
          <a:prstGeom prst="rect">
            <a:avLst/>
          </a:prstGeom>
          <a:solidFill>
            <a:srgbClr val="EAF7F0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176479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0" y="1664208"/>
            <a:ext cx="30175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converter search space to 50–150 kW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2926080"/>
            <a:ext cx="11430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B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2926080"/>
            <a:ext cx="502920" cy="155448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34747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035808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Gen50 Fuel Curve Incomplete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05840" y="3456432"/>
            <a:ext cx="6858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Issue: Generator efficiency curve may not be accurately modelled. This affects dispatch decisions and fuel cost accuracy throughout the simulation.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955280" y="3383280"/>
            <a:ext cx="3566160" cy="731520"/>
          </a:xfrm>
          <a:prstGeom prst="rect">
            <a:avLst/>
          </a:prstGeom>
          <a:solidFill>
            <a:srgbClr val="EAF7F0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35021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0" y="3401568"/>
            <a:ext cx="30175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and update the fuel consumption curve for the 50 kW genset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5760" y="4663440"/>
            <a:ext cx="11430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B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65760" y="4663440"/>
            <a:ext cx="502920" cy="155448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52120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5840" y="4773168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PV Search Space Insufficient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005840" y="5193792"/>
            <a:ext cx="6858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Issue: HOMER was constrained to 200 kW PV maximum. The true optimal array size may be larger — the search space did not allow exploration of this.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7955280" y="5120640"/>
            <a:ext cx="3566160" cy="731520"/>
          </a:xfrm>
          <a:prstGeom prst="rect">
            <a:avLst/>
          </a:prstGeom>
          <a:solidFill>
            <a:srgbClr val="EAF7F0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5239512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12480" y="5138928"/>
            <a:ext cx="30175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PV search space to 100–500 kW and re-run optimisation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solidFill>
            <a:srgbClr val="FDEBD0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502920" y="6382512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4E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Note: Results are directionally useful but require refinement. A corrected simulation is needed before proposal documentation.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STEPS &amp; OPTIMISATION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5577840" cy="1261872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685800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508760"/>
            <a:ext cx="6583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4840" y="1188720"/>
            <a:ext cx="132588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3128" y="1197864"/>
            <a:ext cx="1298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" y="121615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Search Spaces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4712" y="1645920"/>
            <a:ext cx="46634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PV: 100–500 kW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Converter: 50–150 kW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Battery: 100–400 kWh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542032"/>
            <a:ext cx="5577840" cy="1261872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542032"/>
            <a:ext cx="685800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907792"/>
            <a:ext cx="6583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34840" y="2587752"/>
            <a:ext cx="132588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2596896"/>
            <a:ext cx="1298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" y="2615184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Gen Fuel Curve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3044952"/>
            <a:ext cx="46634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Gen50 fuel consumption curve for accurate dispatch &amp; cost modelling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941064"/>
            <a:ext cx="5577840" cy="1261872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41064"/>
            <a:ext cx="685800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4306824"/>
            <a:ext cx="6583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34840" y="3986784"/>
            <a:ext cx="132588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53128" y="3995928"/>
            <a:ext cx="1298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" y="4014216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Electrolyzer Dispatch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4712" y="4443984"/>
            <a:ext cx="46634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Revise to controlled dispatch — ensure continuous H₂ production during surplus solar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5340096"/>
            <a:ext cx="5577840" cy="1261872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5340096"/>
            <a:ext cx="685800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5705856"/>
            <a:ext cx="6583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34840" y="5385816"/>
            <a:ext cx="132588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53128" y="5394960"/>
            <a:ext cx="1298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" y="5413248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Re-run Optimisation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4712" y="5843016"/>
            <a:ext cx="46634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HOMER optimisation after all corrections — confirms final system sizing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1143000"/>
            <a:ext cx="5577840" cy="1261872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1143000"/>
            <a:ext cx="685800" cy="126187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1508760"/>
            <a:ext cx="6583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378440" y="1188720"/>
            <a:ext cx="1325880" cy="2926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96728" y="1197864"/>
            <a:ext cx="1298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68312" y="121615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Borehole Models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68312" y="1645920"/>
            <a:ext cx="46634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× independent HOMER models (27 kWh/day each) — presented next phase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2542032"/>
            <a:ext cx="5577840" cy="1261872"/>
          </a:xfrm>
          <a:prstGeom prst="rect">
            <a:avLst/>
          </a:prstGeom>
          <a:solidFill>
            <a:srgbClr val="122030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63640" y="2542032"/>
            <a:ext cx="685800" cy="126187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2907792"/>
            <a:ext cx="6583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378440" y="2587752"/>
            <a:ext cx="1325880" cy="2926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96728" y="2596896"/>
            <a:ext cx="1298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68312" y="2615184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Sensitivity Analysis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68312" y="3044952"/>
            <a:ext cx="46634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 resource, battery cost, and diesel price sensitivity testing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383280"/>
            <a:ext cx="11996928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9144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simulation establishes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viable baseline architecture.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73075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61188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Full-year integrated model successfully built — AWG seasonal load included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38912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427024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 defined: 200 kW PV · 100 kWh battery · 30 kW electrolyzer · 50 kW genset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4748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4928616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HOMER warnings require correction before results are final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705856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5586984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Electrolyzer not meeting H₂ production target — expanded PV and dispatch revision needed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57200" y="6172200"/>
            <a:ext cx="11338560" cy="41148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48640" y="6190488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Presentation: Borehole System Models (5 × independent systems) + Refined Central Hub Simulation Results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4979</Words>
  <Application>WPS Presentation</Application>
  <PresentationFormat>On-screen Show (16:9)</PresentationFormat>
  <Paragraphs>332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Shepa Project – HOMER Pro Results</dc:title>
  <dc:creator>PptxGenJS</dc:creator>
  <dc:subject>PptxGenJS Presentation</dc:subject>
  <cp:lastModifiedBy>Cassandra Lelei</cp:lastModifiedBy>
  <cp:revision>3</cp:revision>
  <dcterms:created xsi:type="dcterms:W3CDTF">2026-04-17T05:36:00Z</dcterms:created>
  <dcterms:modified xsi:type="dcterms:W3CDTF">2026-04-22T17:51:48Z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E2DC4FE540294E4B9FC4DDDA9B458357_13</vt:lpwstr>
  </property>
  <property fmtid="{D5CDD505-2E9C-101B-9397-08002B2CF9AE}" pid="3" name="KSOProductBuildVer">
    <vt:lpwstr>2057-12.2.0.23201</vt:lpwstr>
  </property>
</Properties>
</file>