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embeddedFontLst>
    <p:embeddedFont>
      <p:font typeface="Liter"/>
      <p:regular r:id="rId18"/>
    </p:embeddedFont>
    <p:embeddedFont>
      <p:font typeface="Quattrocento Sans"/>
      <p:regular r:id="rId19"/>
      <p:bold r:id="rId20"/>
      <p:italic r:id="rId21"/>
      <p:boldItalic r:id="rId22"/>
    </p:embeddedFont>
    <p:embeddedFont>
      <p:font typeface="Sorts Mill Goudy"/>
      <p:regular r:id="rId23"/>
      <p: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9C1025-8152-4FE0-969A-C152CAACD106}">
  <a:tblStyle styleId="{8B9C1025-8152-4FE0-969A-C152CAACD10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8.xml"/><Relationship Id="rId24" Type="http://schemas.openxmlformats.org/officeDocument/2006/relationships/font" Target="fonts/SortsMillGoudy-italic.fntdata"/><Relationship Id="rId12" Type="http://schemas.openxmlformats.org/officeDocument/2006/relationships/slide" Target="slides/slide7.xml"/><Relationship Id="rId23" Type="http://schemas.openxmlformats.org/officeDocument/2006/relationships/font" Target="fonts/SortsMillGoud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1.xml"/><Relationship Id="rId18" Type="http://schemas.openxmlformats.org/officeDocument/2006/relationships/font" Target="fonts/Li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Cost per kWh: $100 – $150/kWh, $30 – $80/kWh and $5 – $30/kWh</a:t>
            </a:r>
            <a:br>
              <a:rPr lang="en-US"/>
            </a:br>
            <a:endParaRPr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Hydrogen Process brings the RTE to 40%, areas of improvement are using it for heating, long term storage,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74" name="Google Shape;2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7FAFC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8" name="Google Shape;3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chinaglobalsouth.com/7e4603ec0f19115d5428879e720ded2e6a120455.jpg" id="17" name="Google Shape;17;p4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94901"/>
                </a:srgbClr>
              </a:gs>
              <a:gs pos="50000">
                <a:srgbClr val="1A202C">
                  <a:alpha val="85098"/>
                </a:srgbClr>
              </a:gs>
              <a:gs pos="100000">
                <a:srgbClr val="38A169">
                  <a:alpha val="3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4"/>
          <p:cNvSpPr/>
          <p:nvPr/>
        </p:nvSpPr>
        <p:spPr>
          <a:xfrm>
            <a:off x="381000" y="381000"/>
            <a:ext cx="76200" cy="609600"/>
          </a:xfrm>
          <a:custGeom>
            <a:rect b="b" l="l" r="r" t="t"/>
            <a:pathLst>
              <a:path extrusionOk="0" h="609600" w="762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20" name="Google Shape;20;p4"/>
          <p:cNvSpPr/>
          <p:nvPr/>
        </p:nvSpPr>
        <p:spPr>
          <a:xfrm>
            <a:off x="571500" y="419100"/>
            <a:ext cx="2752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HORIZON EUROPE ALIGNMENT</a:t>
            </a:r>
            <a:endParaRPr b="0" i="0" sz="1600" u="none" cap="none" strike="noStrike"/>
          </a:p>
        </p:txBody>
      </p:sp>
      <p:sp>
        <p:nvSpPr>
          <p:cNvPr id="21" name="Google Shape;21;p4"/>
          <p:cNvSpPr/>
          <p:nvPr/>
        </p:nvSpPr>
        <p:spPr>
          <a:xfrm>
            <a:off x="571500" y="7239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HORIZON-CL5-2027-02-D3-10</a:t>
            </a:r>
            <a:endParaRPr b="0" i="0" sz="1600" u="none" cap="none" strike="noStrike"/>
          </a:p>
        </p:txBody>
      </p:sp>
      <p:sp>
        <p:nvSpPr>
          <p:cNvPr id="22" name="Google Shape;22;p4"/>
          <p:cNvSpPr/>
          <p:nvPr/>
        </p:nvSpPr>
        <p:spPr>
          <a:xfrm>
            <a:off x="381000" y="1996678"/>
            <a:ext cx="11772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SHEPA Project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Progress Report</a:t>
            </a:r>
            <a:endParaRPr b="0" i="0" sz="1600" u="none" cap="none" strike="noStrike"/>
          </a:p>
        </p:txBody>
      </p:sp>
      <p:sp>
        <p:nvSpPr>
          <p:cNvPr id="23" name="Google Shape;23;p4"/>
          <p:cNvSpPr/>
          <p:nvPr/>
        </p:nvSpPr>
        <p:spPr>
          <a:xfrm>
            <a:off x="381000" y="3939778"/>
            <a:ext cx="1219200" cy="38100"/>
          </a:xfrm>
          <a:custGeom>
            <a:rect b="b" l="l" r="r" t="t"/>
            <a:pathLst>
              <a:path extrusionOk="0" h="38100" w="12192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381000" y="4282678"/>
            <a:ext cx="86772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7FAFC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Merti Site Assessment &amp; System Design Framework</a:t>
            </a:r>
            <a:endParaRPr b="0" i="0" sz="1600" u="none" cap="none" strike="noStrike"/>
          </a:p>
        </p:txBody>
      </p:sp>
      <p:sp>
        <p:nvSpPr>
          <p:cNvPr id="25" name="Google Shape;25;p4"/>
          <p:cNvSpPr/>
          <p:nvPr/>
        </p:nvSpPr>
        <p:spPr>
          <a:xfrm>
            <a:off x="381000" y="4975622"/>
            <a:ext cx="11525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Solar-Battery-Hydrogen Hybrid Microgrid for Rural Electrification</a:t>
            </a:r>
            <a:endParaRPr b="0" i="0" sz="1600" u="none" cap="none" strike="noStrike"/>
          </a:p>
        </p:txBody>
      </p:sp>
      <p:sp>
        <p:nvSpPr>
          <p:cNvPr id="26" name="Google Shape;26;p4"/>
          <p:cNvSpPr/>
          <p:nvPr/>
        </p:nvSpPr>
        <p:spPr>
          <a:xfrm>
            <a:off x="415528" y="6276975"/>
            <a:ext cx="150019" cy="171450"/>
          </a:xfrm>
          <a:custGeom>
            <a:rect b="b" l="l" r="r" t="t"/>
            <a:pathLst>
              <a:path extrusionOk="0" h="171450" w="150019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671513" y="6248400"/>
            <a:ext cx="866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 2026</a:t>
            </a:r>
            <a:endParaRPr b="0" i="0" sz="1600" u="none" cap="none" strike="noStrike"/>
          </a:p>
        </p:txBody>
      </p:sp>
      <p:sp>
        <p:nvSpPr>
          <p:cNvPr id="28" name="Google Shape;28;p4"/>
          <p:cNvSpPr/>
          <p:nvPr/>
        </p:nvSpPr>
        <p:spPr>
          <a:xfrm>
            <a:off x="1738789" y="6276975"/>
            <a:ext cx="128588" cy="171450"/>
          </a:xfrm>
          <a:custGeom>
            <a:rect b="b" l="l" r="r" t="t"/>
            <a:pathLst>
              <a:path extrusionOk="0" h="171450" w="128588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984058" y="6248400"/>
            <a:ext cx="1838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Merti, Isiolo County, Kenya</a:t>
            </a:r>
            <a:endParaRPr b="0" i="0" sz="1600" u="none" cap="none" strike="noStrike"/>
          </a:p>
        </p:txBody>
      </p:sp>
      <p:sp>
        <p:nvSpPr>
          <p:cNvPr id="30" name="Google Shape;30;p4"/>
          <p:cNvSpPr/>
          <p:nvPr/>
        </p:nvSpPr>
        <p:spPr>
          <a:xfrm>
            <a:off x="9748481" y="6248400"/>
            <a:ext cx="2066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Technical Consortium Review</a:t>
            </a:r>
            <a:endParaRPr b="0" i="0" sz="1600" u="none" cap="none" strike="noStrike"/>
          </a:p>
        </p:txBody>
      </p:sp>
      <p:sp>
        <p:nvSpPr>
          <p:cNvPr id="31" name="Google Shape;31;p4"/>
          <p:cNvSpPr txBox="1"/>
          <p:nvPr/>
        </p:nvSpPr>
        <p:spPr>
          <a:xfrm>
            <a:off x="9471650" y="4282675"/>
            <a:ext cx="22671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lt1"/>
                </a:solidFill>
              </a:rPr>
              <a:t>Presntation by</a:t>
            </a:r>
            <a:r>
              <a:rPr b="1" lang="en-US" sz="1600">
                <a:solidFill>
                  <a:schemeClr val="lt1"/>
                </a:solidFill>
              </a:rPr>
              <a:t>: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b="1" lang="en-US" sz="1600">
                <a:solidFill>
                  <a:schemeClr val="lt1"/>
                </a:solidFill>
              </a:rPr>
              <a:t>Cassandra Lelei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b="1" lang="en-US" sz="1600">
                <a:solidFill>
                  <a:schemeClr val="lt1"/>
                </a:solidFill>
              </a:rPr>
              <a:t>Joy Chemutai</a:t>
            </a:r>
            <a:endParaRPr b="1"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b="1" lang="en-US" sz="1600">
                <a:solidFill>
                  <a:schemeClr val="lt1"/>
                </a:solidFill>
              </a:rPr>
              <a:t>Joey Kanyi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381000" y="495300"/>
            <a:ext cx="57150" cy="381000"/>
          </a:xfrm>
          <a:custGeom>
            <a:rect b="b" l="l" r="r" t="t"/>
            <a:pathLst>
              <a:path extrusionOk="0" h="381000" w="5715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38" name="Google Shape;38;p5"/>
          <p:cNvSpPr/>
          <p:nvPr/>
        </p:nvSpPr>
        <p:spPr>
          <a:xfrm>
            <a:off x="552450" y="381000"/>
            <a:ext cx="4019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01</a:t>
            </a:r>
            <a:endParaRPr b="0" i="0" sz="1600" u="none" cap="none" strike="noStrike"/>
          </a:p>
        </p:txBody>
      </p:sp>
      <p:sp>
        <p:nvSpPr>
          <p:cNvPr id="39" name="Google Shape;39;p5"/>
          <p:cNvSpPr/>
          <p:nvPr/>
        </p:nvSpPr>
        <p:spPr>
          <a:xfrm>
            <a:off x="552450" y="609600"/>
            <a:ext cx="411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What is a Solar Microgrid?</a:t>
            </a:r>
            <a:endParaRPr b="0" i="0" sz="1600" u="none" cap="none" strike="noStrike"/>
          </a:p>
        </p:txBody>
      </p:sp>
      <p:sp>
        <p:nvSpPr>
          <p:cNvPr id="40" name="Google Shape;40;p5"/>
          <p:cNvSpPr/>
          <p:nvPr/>
        </p:nvSpPr>
        <p:spPr>
          <a:xfrm>
            <a:off x="571500" y="1066800"/>
            <a:ext cx="1131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basic electrification to resilient, zero-carbon energy systems</a:t>
            </a:r>
            <a:endParaRPr b="0" i="0" sz="1600" u="none" cap="none" strike="noStrike"/>
          </a:p>
        </p:txBody>
      </p:sp>
      <p:sp>
        <p:nvSpPr>
          <p:cNvPr id="41" name="Google Shape;41;p5"/>
          <p:cNvSpPr/>
          <p:nvPr/>
        </p:nvSpPr>
        <p:spPr>
          <a:xfrm>
            <a:off x="400050" y="1447800"/>
            <a:ext cx="2171700" cy="3486150"/>
          </a:xfrm>
          <a:custGeom>
            <a:rect b="b" l="l" r="r" t="t"/>
            <a:pathLst>
              <a:path extrusionOk="0" h="3486150" w="2171700">
                <a:moveTo>
                  <a:pt x="38100" y="0"/>
                </a:moveTo>
                <a:lnTo>
                  <a:pt x="2095495" y="0"/>
                </a:lnTo>
                <a:cubicBezTo>
                  <a:pt x="2137582" y="0"/>
                  <a:pt x="2171700" y="34118"/>
                  <a:pt x="2171700" y="76205"/>
                </a:cubicBezTo>
                <a:lnTo>
                  <a:pt x="2171700" y="3409945"/>
                </a:lnTo>
                <a:cubicBezTo>
                  <a:pt x="2171700" y="3452032"/>
                  <a:pt x="2137582" y="3486150"/>
                  <a:pt x="2095495" y="3486150"/>
                </a:cubicBezTo>
                <a:lnTo>
                  <a:pt x="38100" y="3486150"/>
                </a:lnTo>
                <a:cubicBezTo>
                  <a:pt x="17072" y="3486150"/>
                  <a:pt x="0" y="3469078"/>
                  <a:pt x="0" y="3448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400050" y="1447800"/>
            <a:ext cx="38100" cy="3486150"/>
          </a:xfrm>
          <a:custGeom>
            <a:rect b="b" l="l" r="r" t="t"/>
            <a:pathLst>
              <a:path extrusionOk="0" h="3486150" w="38100">
                <a:moveTo>
                  <a:pt x="38100" y="0"/>
                </a:moveTo>
                <a:lnTo>
                  <a:pt x="38100" y="0"/>
                </a:lnTo>
                <a:lnTo>
                  <a:pt x="38100" y="3486150"/>
                </a:lnTo>
                <a:lnTo>
                  <a:pt x="38100" y="3486150"/>
                </a:lnTo>
                <a:cubicBezTo>
                  <a:pt x="17072" y="3486150"/>
                  <a:pt x="0" y="3469078"/>
                  <a:pt x="0" y="3448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571500" y="16002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78656" y="1704975"/>
            <a:ext cx="171450" cy="171450"/>
          </a:xfrm>
          <a:custGeom>
            <a:rect b="b" l="l" r="r" t="t"/>
            <a:pathLst>
              <a:path extrusionOk="0" h="171450" w="171450">
                <a:moveTo>
                  <a:pt x="93025" y="2880"/>
                </a:moveTo>
                <a:cubicBezTo>
                  <a:pt x="88906" y="-938"/>
                  <a:pt x="82544" y="-938"/>
                  <a:pt x="78458" y="2880"/>
                </a:cubicBezTo>
                <a:lnTo>
                  <a:pt x="3449" y="72531"/>
                </a:lnTo>
                <a:cubicBezTo>
                  <a:pt x="234" y="75545"/>
                  <a:pt x="-837" y="80200"/>
                  <a:pt x="770" y="84285"/>
                </a:cubicBezTo>
                <a:cubicBezTo>
                  <a:pt x="2378" y="88370"/>
                  <a:pt x="6295" y="91083"/>
                  <a:pt x="10716" y="91083"/>
                </a:cubicBezTo>
                <a:lnTo>
                  <a:pt x="16073" y="91083"/>
                </a:lnTo>
                <a:lnTo>
                  <a:pt x="16073" y="150019"/>
                </a:lnTo>
                <a:cubicBezTo>
                  <a:pt x="16073" y="161839"/>
                  <a:pt x="25684" y="171450"/>
                  <a:pt x="37505" y="171450"/>
                </a:cubicBezTo>
                <a:lnTo>
                  <a:pt x="133945" y="171450"/>
                </a:lnTo>
                <a:cubicBezTo>
                  <a:pt x="145766" y="171450"/>
                  <a:pt x="155377" y="161839"/>
                  <a:pt x="155377" y="150019"/>
                </a:cubicBezTo>
                <a:lnTo>
                  <a:pt x="155377" y="91083"/>
                </a:lnTo>
                <a:lnTo>
                  <a:pt x="160734" y="91083"/>
                </a:lnTo>
                <a:cubicBezTo>
                  <a:pt x="165155" y="91083"/>
                  <a:pt x="169106" y="88370"/>
                  <a:pt x="170713" y="84285"/>
                </a:cubicBezTo>
                <a:cubicBezTo>
                  <a:pt x="172321" y="80200"/>
                  <a:pt x="171249" y="75512"/>
                  <a:pt x="168034" y="72531"/>
                </a:cubicBezTo>
                <a:lnTo>
                  <a:pt x="93025" y="2880"/>
                </a:lnTo>
                <a:close/>
                <a:moveTo>
                  <a:pt x="80367" y="107156"/>
                </a:moveTo>
                <a:lnTo>
                  <a:pt x="91083" y="107156"/>
                </a:lnTo>
                <a:cubicBezTo>
                  <a:pt x="99957" y="107156"/>
                  <a:pt x="107156" y="114356"/>
                  <a:pt x="107156" y="123230"/>
                </a:cubicBezTo>
                <a:lnTo>
                  <a:pt x="107156" y="155377"/>
                </a:lnTo>
                <a:lnTo>
                  <a:pt x="64294" y="155377"/>
                </a:lnTo>
                <a:lnTo>
                  <a:pt x="64294" y="123230"/>
                </a:lnTo>
                <a:cubicBezTo>
                  <a:pt x="64294" y="114356"/>
                  <a:pt x="71493" y="107156"/>
                  <a:pt x="80367" y="107156"/>
                </a:cubicBezTo>
                <a:close/>
              </a:path>
            </a:pathLst>
          </a:cu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1028700" y="16573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SHS</a:t>
            </a:r>
            <a:endParaRPr b="0" i="0" sz="1600" u="none" cap="none" strike="noStrike"/>
          </a:p>
        </p:txBody>
      </p:sp>
      <p:sp>
        <p:nvSpPr>
          <p:cNvPr id="46" name="Google Shape;46;p5"/>
          <p:cNvSpPr/>
          <p:nvPr/>
        </p:nvSpPr>
        <p:spPr>
          <a:xfrm>
            <a:off x="571500" y="2095500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 Home Systems</a:t>
            </a:r>
            <a:endParaRPr b="0" i="0" sz="1600" u="none" cap="none" strike="noStrike"/>
          </a:p>
        </p:txBody>
      </p:sp>
      <p:sp>
        <p:nvSpPr>
          <p:cNvPr id="47" name="Google Shape;47;p5"/>
          <p:cNvSpPr/>
          <p:nvPr/>
        </p:nvSpPr>
        <p:spPr>
          <a:xfrm>
            <a:off x="571500" y="2400300"/>
            <a:ext cx="192405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Individual household units with small PV panels and basic battery storage for lighting and phone charging</a:t>
            </a:r>
            <a:endParaRPr b="0" i="0" sz="1600" u="none" cap="none" strike="noStrike"/>
          </a:p>
        </p:txBody>
      </p:sp>
      <p:sp>
        <p:nvSpPr>
          <p:cNvPr id="48" name="Google Shape;48;p5"/>
          <p:cNvSpPr/>
          <p:nvPr/>
        </p:nvSpPr>
        <p:spPr>
          <a:xfrm>
            <a:off x="571500" y="4434841"/>
            <a:ext cx="1847850" cy="7620"/>
          </a:xfrm>
          <a:custGeom>
            <a:rect b="b" l="l" r="r" t="t"/>
            <a:pathLst>
              <a:path extrusionOk="0" h="7620" w="1847850">
                <a:moveTo>
                  <a:pt x="0" y="0"/>
                </a:moveTo>
                <a:lnTo>
                  <a:pt x="1847850" y="0"/>
                </a:lnTo>
                <a:lnTo>
                  <a:pt x="1847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50196"/>
            </a:srgbClr>
          </a:solidFill>
          <a:ln>
            <a:noFill/>
          </a:ln>
        </p:spPr>
      </p:sp>
      <p:sp>
        <p:nvSpPr>
          <p:cNvPr id="49" name="Google Shape;49;p5"/>
          <p:cNvSpPr/>
          <p:nvPr/>
        </p:nvSpPr>
        <p:spPr>
          <a:xfrm>
            <a:off x="571500" y="4552950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Capacity:</a:t>
            </a:r>
            <a:r>
              <a:rPr b="0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10-100W</a:t>
            </a:r>
            <a:endParaRPr b="0" i="0" sz="1600" u="none" cap="none" strike="noStrike"/>
          </a:p>
        </p:txBody>
      </p:sp>
      <p:sp>
        <p:nvSpPr>
          <p:cNvPr id="50" name="Google Shape;50;p5"/>
          <p:cNvSpPr/>
          <p:nvPr/>
        </p:nvSpPr>
        <p:spPr>
          <a:xfrm>
            <a:off x="2708910" y="1447800"/>
            <a:ext cx="2171700" cy="3486150"/>
          </a:xfrm>
          <a:custGeom>
            <a:rect b="b" l="l" r="r" t="t"/>
            <a:pathLst>
              <a:path extrusionOk="0" h="3486150" w="2171700">
                <a:moveTo>
                  <a:pt x="38100" y="0"/>
                </a:moveTo>
                <a:lnTo>
                  <a:pt x="2095495" y="0"/>
                </a:lnTo>
                <a:cubicBezTo>
                  <a:pt x="2137582" y="0"/>
                  <a:pt x="2171700" y="34118"/>
                  <a:pt x="2171700" y="76205"/>
                </a:cubicBezTo>
                <a:lnTo>
                  <a:pt x="2171700" y="3409945"/>
                </a:lnTo>
                <a:cubicBezTo>
                  <a:pt x="2171700" y="3452032"/>
                  <a:pt x="2137582" y="3486150"/>
                  <a:pt x="2095495" y="3486150"/>
                </a:cubicBezTo>
                <a:lnTo>
                  <a:pt x="38100" y="3486150"/>
                </a:lnTo>
                <a:cubicBezTo>
                  <a:pt x="17072" y="3486150"/>
                  <a:pt x="0" y="3469078"/>
                  <a:pt x="0" y="3448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2708910" y="1447800"/>
            <a:ext cx="38100" cy="3486150"/>
          </a:xfrm>
          <a:custGeom>
            <a:rect b="b" l="l" r="r" t="t"/>
            <a:pathLst>
              <a:path extrusionOk="0" h="3486150" w="38100">
                <a:moveTo>
                  <a:pt x="38100" y="0"/>
                </a:moveTo>
                <a:lnTo>
                  <a:pt x="38100" y="0"/>
                </a:lnTo>
                <a:lnTo>
                  <a:pt x="38100" y="3486150"/>
                </a:lnTo>
                <a:lnTo>
                  <a:pt x="38100" y="3486150"/>
                </a:lnTo>
                <a:cubicBezTo>
                  <a:pt x="17072" y="3486150"/>
                  <a:pt x="0" y="3469078"/>
                  <a:pt x="0" y="3448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2880360" y="16002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2966085" y="1704975"/>
            <a:ext cx="214313" cy="171450"/>
          </a:xfrm>
          <a:custGeom>
            <a:rect b="b" l="l" r="r" t="t"/>
            <a:pathLst>
              <a:path extrusionOk="0" h="171450" w="214313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337560" y="1657350"/>
            <a:ext cx="714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Minigrid</a:t>
            </a:r>
            <a:endParaRPr b="0" i="0" sz="1600" u="none" cap="none" strike="noStrike"/>
          </a:p>
        </p:txBody>
      </p:sp>
      <p:sp>
        <p:nvSpPr>
          <p:cNvPr id="55" name="Google Shape;55;p5"/>
          <p:cNvSpPr/>
          <p:nvPr/>
        </p:nvSpPr>
        <p:spPr>
          <a:xfrm>
            <a:off x="2880360" y="2095500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Community Minigrids</a:t>
            </a:r>
            <a:endParaRPr b="0" i="0" sz="1600" u="none" cap="none" strike="noStrike"/>
          </a:p>
        </p:txBody>
      </p:sp>
      <p:sp>
        <p:nvSpPr>
          <p:cNvPr id="56" name="Google Shape;56;p5"/>
          <p:cNvSpPr/>
          <p:nvPr/>
        </p:nvSpPr>
        <p:spPr>
          <a:xfrm>
            <a:off x="2880360" y="2400300"/>
            <a:ext cx="192405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Standalone systems serving multiple households with centralized generation and distribution network</a:t>
            </a:r>
            <a:endParaRPr b="0" i="0" sz="1600" u="none" cap="none" strike="noStrike"/>
          </a:p>
        </p:txBody>
      </p:sp>
      <p:sp>
        <p:nvSpPr>
          <p:cNvPr id="57" name="Google Shape;57;p5"/>
          <p:cNvSpPr/>
          <p:nvPr/>
        </p:nvSpPr>
        <p:spPr>
          <a:xfrm>
            <a:off x="2880360" y="4434841"/>
            <a:ext cx="1847850" cy="7620"/>
          </a:xfrm>
          <a:custGeom>
            <a:rect b="b" l="l" r="r" t="t"/>
            <a:pathLst>
              <a:path extrusionOk="0" h="7620" w="1847850">
                <a:moveTo>
                  <a:pt x="0" y="0"/>
                </a:moveTo>
                <a:lnTo>
                  <a:pt x="1847850" y="0"/>
                </a:lnTo>
                <a:lnTo>
                  <a:pt x="1847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50196"/>
            </a:srgbClr>
          </a:solidFill>
          <a:ln>
            <a:noFill/>
          </a:ln>
        </p:spPr>
      </p:sp>
      <p:sp>
        <p:nvSpPr>
          <p:cNvPr id="58" name="Google Shape;58;p5"/>
          <p:cNvSpPr/>
          <p:nvPr/>
        </p:nvSpPr>
        <p:spPr>
          <a:xfrm>
            <a:off x="2880360" y="4552950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Capacity:</a:t>
            </a:r>
            <a:r>
              <a:rPr b="0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10-100kW</a:t>
            </a:r>
            <a:endParaRPr b="0" i="0" sz="1600" u="none" cap="none" strike="noStrike"/>
          </a:p>
        </p:txBody>
      </p:sp>
      <p:sp>
        <p:nvSpPr>
          <p:cNvPr id="59" name="Google Shape;59;p5"/>
          <p:cNvSpPr/>
          <p:nvPr/>
        </p:nvSpPr>
        <p:spPr>
          <a:xfrm>
            <a:off x="5017770" y="1447800"/>
            <a:ext cx="2171700" cy="3486150"/>
          </a:xfrm>
          <a:custGeom>
            <a:rect b="b" l="l" r="r" t="t"/>
            <a:pathLst>
              <a:path extrusionOk="0" h="3486150" w="2171700">
                <a:moveTo>
                  <a:pt x="38100" y="0"/>
                </a:moveTo>
                <a:lnTo>
                  <a:pt x="2095495" y="0"/>
                </a:lnTo>
                <a:cubicBezTo>
                  <a:pt x="2137582" y="0"/>
                  <a:pt x="2171700" y="34118"/>
                  <a:pt x="2171700" y="76205"/>
                </a:cubicBezTo>
                <a:lnTo>
                  <a:pt x="2171700" y="3409945"/>
                </a:lnTo>
                <a:cubicBezTo>
                  <a:pt x="2171700" y="3452032"/>
                  <a:pt x="2137582" y="3486150"/>
                  <a:pt x="2095495" y="3486150"/>
                </a:cubicBezTo>
                <a:lnTo>
                  <a:pt x="38100" y="3486150"/>
                </a:lnTo>
                <a:cubicBezTo>
                  <a:pt x="17072" y="3486150"/>
                  <a:pt x="0" y="3469078"/>
                  <a:pt x="0" y="3448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017770" y="1447800"/>
            <a:ext cx="38100" cy="3486150"/>
          </a:xfrm>
          <a:custGeom>
            <a:rect b="b" l="l" r="r" t="t"/>
            <a:pathLst>
              <a:path extrusionOk="0" h="3486150" w="38100">
                <a:moveTo>
                  <a:pt x="38100" y="0"/>
                </a:moveTo>
                <a:lnTo>
                  <a:pt x="38100" y="0"/>
                </a:lnTo>
                <a:lnTo>
                  <a:pt x="38100" y="3486150"/>
                </a:lnTo>
                <a:lnTo>
                  <a:pt x="38100" y="3486150"/>
                </a:lnTo>
                <a:cubicBezTo>
                  <a:pt x="17072" y="3486150"/>
                  <a:pt x="0" y="3469078"/>
                  <a:pt x="0" y="3448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189220" y="16002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274945" y="1704975"/>
            <a:ext cx="214313" cy="171450"/>
          </a:xfrm>
          <a:custGeom>
            <a:rect b="b" l="l" r="r" t="t"/>
            <a:pathLst>
              <a:path extrusionOk="0" h="171450" w="214313">
                <a:moveTo>
                  <a:pt x="176808" y="42863"/>
                </a:moveTo>
                <a:cubicBezTo>
                  <a:pt x="179755" y="42863"/>
                  <a:pt x="182166" y="45274"/>
                  <a:pt x="182166" y="48220"/>
                </a:cubicBezTo>
                <a:lnTo>
                  <a:pt x="182166" y="123230"/>
                </a:lnTo>
                <a:cubicBezTo>
                  <a:pt x="182166" y="126176"/>
                  <a:pt x="179755" y="128588"/>
                  <a:pt x="176808" y="128588"/>
                </a:cubicBezTo>
                <a:lnTo>
                  <a:pt x="37505" y="128588"/>
                </a:lnTo>
                <a:cubicBezTo>
                  <a:pt x="34558" y="128588"/>
                  <a:pt x="32147" y="126176"/>
                  <a:pt x="32147" y="123230"/>
                </a:cubicBezTo>
                <a:lnTo>
                  <a:pt x="32147" y="48220"/>
                </a:lnTo>
                <a:cubicBezTo>
                  <a:pt x="32147" y="45274"/>
                  <a:pt x="34558" y="42863"/>
                  <a:pt x="37505" y="42863"/>
                </a:cubicBezTo>
                <a:lnTo>
                  <a:pt x="176808" y="42863"/>
                </a:lnTo>
                <a:close/>
                <a:moveTo>
                  <a:pt x="37505" y="21431"/>
                </a:moveTo>
                <a:cubicBezTo>
                  <a:pt x="22704" y="21431"/>
                  <a:pt x="10716" y="33419"/>
                  <a:pt x="10716" y="48220"/>
                </a:cubicBezTo>
                <a:lnTo>
                  <a:pt x="10716" y="123230"/>
                </a:lnTo>
                <a:cubicBezTo>
                  <a:pt x="10716" y="138031"/>
                  <a:pt x="22704" y="150019"/>
                  <a:pt x="37505" y="150019"/>
                </a:cubicBezTo>
                <a:lnTo>
                  <a:pt x="176808" y="150019"/>
                </a:lnTo>
                <a:cubicBezTo>
                  <a:pt x="191609" y="150019"/>
                  <a:pt x="203597" y="138031"/>
                  <a:pt x="203597" y="123230"/>
                </a:cubicBezTo>
                <a:lnTo>
                  <a:pt x="203597" y="107156"/>
                </a:lnTo>
                <a:cubicBezTo>
                  <a:pt x="209524" y="107156"/>
                  <a:pt x="214313" y="102368"/>
                  <a:pt x="214313" y="96441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lnTo>
                  <a:pt x="203597" y="48220"/>
                </a:lnTo>
                <a:cubicBezTo>
                  <a:pt x="203597" y="33419"/>
                  <a:pt x="191609" y="21431"/>
                  <a:pt x="176808" y="21431"/>
                </a:cubicBezTo>
                <a:lnTo>
                  <a:pt x="37505" y="21431"/>
                </a:lnTo>
                <a:close/>
                <a:moveTo>
                  <a:pt x="56257" y="58936"/>
                </a:moveTo>
                <a:cubicBezTo>
                  <a:pt x="51803" y="58936"/>
                  <a:pt x="48220" y="62519"/>
                  <a:pt x="48220" y="66973"/>
                </a:cubicBezTo>
                <a:lnTo>
                  <a:pt x="48220" y="104477"/>
                </a:lnTo>
                <a:cubicBezTo>
                  <a:pt x="48220" y="108931"/>
                  <a:pt x="51803" y="112514"/>
                  <a:pt x="56257" y="112514"/>
                </a:cubicBezTo>
                <a:lnTo>
                  <a:pt x="158055" y="112514"/>
                </a:lnTo>
                <a:cubicBezTo>
                  <a:pt x="162509" y="112514"/>
                  <a:pt x="166092" y="108931"/>
                  <a:pt x="166092" y="104477"/>
                </a:cubicBezTo>
                <a:lnTo>
                  <a:pt x="166092" y="66973"/>
                </a:lnTo>
                <a:cubicBezTo>
                  <a:pt x="166092" y="62519"/>
                  <a:pt x="162509" y="58936"/>
                  <a:pt x="158055" y="58936"/>
                </a:cubicBezTo>
                <a:lnTo>
                  <a:pt x="56257" y="58936"/>
                </a:lnTo>
                <a:close/>
              </a:path>
            </a:pathLst>
          </a:cu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646420" y="1657350"/>
            <a:ext cx="600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Hybrid</a:t>
            </a:r>
            <a:endParaRPr b="0" i="0" sz="1600" u="none" cap="none" strike="noStrike"/>
          </a:p>
        </p:txBody>
      </p:sp>
      <p:sp>
        <p:nvSpPr>
          <p:cNvPr id="64" name="Google Shape;64;p5"/>
          <p:cNvSpPr/>
          <p:nvPr/>
        </p:nvSpPr>
        <p:spPr>
          <a:xfrm>
            <a:off x="5189220" y="2095500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Solar-Battery Hybrid</a:t>
            </a:r>
            <a:endParaRPr b="0" i="0" sz="1600" u="none" cap="none" strike="noStrike"/>
          </a:p>
        </p:txBody>
      </p:sp>
      <p:sp>
        <p:nvSpPr>
          <p:cNvPr id="65" name="Google Shape;65;p5"/>
          <p:cNvSpPr/>
          <p:nvPr/>
        </p:nvSpPr>
        <p:spPr>
          <a:xfrm>
            <a:off x="5189220" y="2400300"/>
            <a:ext cx="192405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Integrated PV generation with lithium-ion battery storage for 24/7 power and load balancing</a:t>
            </a:r>
            <a:endParaRPr b="0" i="0" sz="1600" u="none" cap="none" strike="noStrike"/>
          </a:p>
        </p:txBody>
      </p:sp>
      <p:sp>
        <p:nvSpPr>
          <p:cNvPr id="66" name="Google Shape;66;p5"/>
          <p:cNvSpPr/>
          <p:nvPr/>
        </p:nvSpPr>
        <p:spPr>
          <a:xfrm>
            <a:off x="5189220" y="4434841"/>
            <a:ext cx="1847850" cy="7620"/>
          </a:xfrm>
          <a:custGeom>
            <a:rect b="b" l="l" r="r" t="t"/>
            <a:pathLst>
              <a:path extrusionOk="0" h="7620" w="1847850">
                <a:moveTo>
                  <a:pt x="0" y="0"/>
                </a:moveTo>
                <a:lnTo>
                  <a:pt x="1847850" y="0"/>
                </a:lnTo>
                <a:lnTo>
                  <a:pt x="1847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50196"/>
            </a:srgbClr>
          </a:solidFill>
          <a:ln>
            <a:noFill/>
          </a:ln>
        </p:spPr>
      </p:sp>
      <p:sp>
        <p:nvSpPr>
          <p:cNvPr id="67" name="Google Shape;67;p5"/>
          <p:cNvSpPr/>
          <p:nvPr/>
        </p:nvSpPr>
        <p:spPr>
          <a:xfrm>
            <a:off x="5189220" y="4552950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Capacity:</a:t>
            </a:r>
            <a:r>
              <a:rPr b="0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50kW-1MW</a:t>
            </a:r>
            <a:endParaRPr b="0" i="0" sz="1600" u="none" cap="none" strike="noStrike"/>
          </a:p>
        </p:txBody>
      </p:sp>
      <p:sp>
        <p:nvSpPr>
          <p:cNvPr id="68" name="Google Shape;68;p5"/>
          <p:cNvSpPr/>
          <p:nvPr/>
        </p:nvSpPr>
        <p:spPr>
          <a:xfrm>
            <a:off x="7326630" y="1447800"/>
            <a:ext cx="2171700" cy="3486150"/>
          </a:xfrm>
          <a:custGeom>
            <a:rect b="b" l="l" r="r" t="t"/>
            <a:pathLst>
              <a:path extrusionOk="0" h="3486150" w="2171700">
                <a:moveTo>
                  <a:pt x="38100" y="0"/>
                </a:moveTo>
                <a:lnTo>
                  <a:pt x="2095495" y="0"/>
                </a:lnTo>
                <a:cubicBezTo>
                  <a:pt x="2137582" y="0"/>
                  <a:pt x="2171700" y="34118"/>
                  <a:pt x="2171700" y="76205"/>
                </a:cubicBezTo>
                <a:lnTo>
                  <a:pt x="2171700" y="3409945"/>
                </a:lnTo>
                <a:cubicBezTo>
                  <a:pt x="2171700" y="3452032"/>
                  <a:pt x="2137582" y="3486150"/>
                  <a:pt x="2095495" y="3486150"/>
                </a:cubicBezTo>
                <a:lnTo>
                  <a:pt x="38100" y="3486150"/>
                </a:lnTo>
                <a:cubicBezTo>
                  <a:pt x="17072" y="3486150"/>
                  <a:pt x="0" y="3469078"/>
                  <a:pt x="0" y="3448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7326630" y="1447800"/>
            <a:ext cx="38100" cy="3486150"/>
          </a:xfrm>
          <a:custGeom>
            <a:rect b="b" l="l" r="r" t="t"/>
            <a:pathLst>
              <a:path extrusionOk="0" h="3486150" w="38100">
                <a:moveTo>
                  <a:pt x="38100" y="0"/>
                </a:moveTo>
                <a:lnTo>
                  <a:pt x="38100" y="0"/>
                </a:lnTo>
                <a:lnTo>
                  <a:pt x="38100" y="3486150"/>
                </a:lnTo>
                <a:lnTo>
                  <a:pt x="38100" y="3486150"/>
                </a:lnTo>
                <a:cubicBezTo>
                  <a:pt x="17072" y="3486150"/>
                  <a:pt x="0" y="3469078"/>
                  <a:pt x="0" y="3448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498080" y="160020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7605236" y="1704975"/>
            <a:ext cx="171450" cy="171450"/>
          </a:xfrm>
          <a:custGeom>
            <a:rect b="b" l="l" r="r" t="t"/>
            <a:pathLst>
              <a:path extrusionOk="0" h="171450" w="171450">
                <a:moveTo>
                  <a:pt x="10716" y="21431"/>
                </a:moveTo>
                <a:cubicBezTo>
                  <a:pt x="10716" y="9611"/>
                  <a:pt x="20326" y="0"/>
                  <a:pt x="32147" y="0"/>
                </a:cubicBezTo>
                <a:lnTo>
                  <a:pt x="85725" y="0"/>
                </a:lnTo>
                <a:cubicBezTo>
                  <a:pt x="97546" y="0"/>
                  <a:pt x="107156" y="9611"/>
                  <a:pt x="107156" y="21431"/>
                </a:cubicBezTo>
                <a:lnTo>
                  <a:pt x="107156" y="85725"/>
                </a:lnTo>
                <a:lnTo>
                  <a:pt x="109835" y="85725"/>
                </a:lnTo>
                <a:cubicBezTo>
                  <a:pt x="126110" y="85725"/>
                  <a:pt x="139303" y="98919"/>
                  <a:pt x="139303" y="115193"/>
                </a:cubicBezTo>
                <a:lnTo>
                  <a:pt x="139303" y="125909"/>
                </a:lnTo>
                <a:cubicBezTo>
                  <a:pt x="139303" y="130362"/>
                  <a:pt x="142886" y="133945"/>
                  <a:pt x="147340" y="133945"/>
                </a:cubicBezTo>
                <a:cubicBezTo>
                  <a:pt x="151794" y="133945"/>
                  <a:pt x="155377" y="130362"/>
                  <a:pt x="155377" y="125909"/>
                </a:cubicBezTo>
                <a:lnTo>
                  <a:pt x="155377" y="74340"/>
                </a:lnTo>
                <a:cubicBezTo>
                  <a:pt x="146134" y="71962"/>
                  <a:pt x="139303" y="63557"/>
                  <a:pt x="139303" y="53578"/>
                </a:cubicBezTo>
                <a:lnTo>
                  <a:pt x="139303" y="33654"/>
                </a:lnTo>
                <a:lnTo>
                  <a:pt x="130664" y="24177"/>
                </a:lnTo>
                <a:cubicBezTo>
                  <a:pt x="127683" y="20895"/>
                  <a:pt x="127918" y="15806"/>
                  <a:pt x="131199" y="12825"/>
                </a:cubicBezTo>
                <a:cubicBezTo>
                  <a:pt x="134481" y="9845"/>
                  <a:pt x="139571" y="10079"/>
                  <a:pt x="142551" y="13361"/>
                </a:cubicBezTo>
                <a:lnTo>
                  <a:pt x="166561" y="39748"/>
                </a:lnTo>
                <a:cubicBezTo>
                  <a:pt x="169709" y="43197"/>
                  <a:pt x="171450" y="47685"/>
                  <a:pt x="171450" y="52373"/>
                </a:cubicBezTo>
                <a:lnTo>
                  <a:pt x="171450" y="125909"/>
                </a:lnTo>
                <a:cubicBezTo>
                  <a:pt x="171450" y="139236"/>
                  <a:pt x="160667" y="150019"/>
                  <a:pt x="147340" y="150019"/>
                </a:cubicBezTo>
                <a:cubicBezTo>
                  <a:pt x="134012" y="150019"/>
                  <a:pt x="123230" y="139236"/>
                  <a:pt x="123230" y="125909"/>
                </a:cubicBezTo>
                <a:lnTo>
                  <a:pt x="123230" y="115193"/>
                </a:lnTo>
                <a:cubicBezTo>
                  <a:pt x="123230" y="107792"/>
                  <a:pt x="117236" y="101798"/>
                  <a:pt x="109835" y="101798"/>
                </a:cubicBezTo>
                <a:lnTo>
                  <a:pt x="107156" y="101798"/>
                </a:lnTo>
                <a:lnTo>
                  <a:pt x="107156" y="155845"/>
                </a:lnTo>
                <a:cubicBezTo>
                  <a:pt x="110270" y="156950"/>
                  <a:pt x="112514" y="159931"/>
                  <a:pt x="112514" y="163413"/>
                </a:cubicBezTo>
                <a:cubicBezTo>
                  <a:pt x="112514" y="167867"/>
                  <a:pt x="108931" y="171450"/>
                  <a:pt x="104477" y="171450"/>
                </a:cubicBezTo>
                <a:lnTo>
                  <a:pt x="13395" y="171450"/>
                </a:lnTo>
                <a:cubicBezTo>
                  <a:pt x="8941" y="171450"/>
                  <a:pt x="5358" y="167867"/>
                  <a:pt x="5358" y="163413"/>
                </a:cubicBezTo>
                <a:cubicBezTo>
                  <a:pt x="5358" y="159897"/>
                  <a:pt x="7601" y="156950"/>
                  <a:pt x="10716" y="155845"/>
                </a:cubicBezTo>
                <a:lnTo>
                  <a:pt x="10716" y="21431"/>
                </a:lnTo>
                <a:close/>
                <a:moveTo>
                  <a:pt x="32147" y="26789"/>
                </a:moveTo>
                <a:lnTo>
                  <a:pt x="32147" y="58936"/>
                </a:lnTo>
                <a:cubicBezTo>
                  <a:pt x="32147" y="61883"/>
                  <a:pt x="34558" y="64294"/>
                  <a:pt x="37505" y="64294"/>
                </a:cubicBezTo>
                <a:lnTo>
                  <a:pt x="80367" y="64294"/>
                </a:lnTo>
                <a:cubicBezTo>
                  <a:pt x="83314" y="64294"/>
                  <a:pt x="85725" y="61883"/>
                  <a:pt x="85725" y="58936"/>
                </a:cubicBezTo>
                <a:lnTo>
                  <a:pt x="85725" y="26789"/>
                </a:lnTo>
                <a:cubicBezTo>
                  <a:pt x="85725" y="23842"/>
                  <a:pt x="83314" y="21431"/>
                  <a:pt x="80367" y="21431"/>
                </a:cubicBezTo>
                <a:lnTo>
                  <a:pt x="37505" y="21431"/>
                </a:lnTo>
                <a:cubicBezTo>
                  <a:pt x="34558" y="21431"/>
                  <a:pt x="32147" y="23842"/>
                  <a:pt x="32147" y="26789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955280" y="1657350"/>
            <a:ext cx="1095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Diesel Hybrid</a:t>
            </a:r>
            <a:endParaRPr b="0" i="0" sz="1600" u="none" cap="none" strike="noStrike"/>
          </a:p>
        </p:txBody>
      </p:sp>
      <p:sp>
        <p:nvSpPr>
          <p:cNvPr id="73" name="Google Shape;73;p5"/>
          <p:cNvSpPr/>
          <p:nvPr/>
        </p:nvSpPr>
        <p:spPr>
          <a:xfrm>
            <a:off x="7498080" y="2095500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Solar-Battery-Diesel</a:t>
            </a:r>
            <a:endParaRPr b="0" i="0" sz="1600" u="none" cap="none" strike="noStrike"/>
          </a:p>
        </p:txBody>
      </p:sp>
      <p:sp>
        <p:nvSpPr>
          <p:cNvPr id="74" name="Google Shape;74;p5"/>
          <p:cNvSpPr/>
          <p:nvPr/>
        </p:nvSpPr>
        <p:spPr>
          <a:xfrm>
            <a:off x="7498080" y="2400300"/>
            <a:ext cx="192405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Hybrid systems with diesel backup for extended cloudy periods, reducing but not eliminating fossil fuel dependence</a:t>
            </a:r>
            <a:endParaRPr b="0" i="0" sz="1600" u="none" cap="none" strike="noStrike"/>
          </a:p>
        </p:txBody>
      </p:sp>
      <p:sp>
        <p:nvSpPr>
          <p:cNvPr id="75" name="Google Shape;75;p5"/>
          <p:cNvSpPr/>
          <p:nvPr/>
        </p:nvSpPr>
        <p:spPr>
          <a:xfrm>
            <a:off x="7498080" y="4434841"/>
            <a:ext cx="1847850" cy="7620"/>
          </a:xfrm>
          <a:custGeom>
            <a:rect b="b" l="l" r="r" t="t"/>
            <a:pathLst>
              <a:path extrusionOk="0" h="7620" w="1847850">
                <a:moveTo>
                  <a:pt x="0" y="0"/>
                </a:moveTo>
                <a:lnTo>
                  <a:pt x="1847850" y="0"/>
                </a:lnTo>
                <a:lnTo>
                  <a:pt x="1847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50196"/>
            </a:srgbClr>
          </a:solidFill>
          <a:ln>
            <a:noFill/>
          </a:ln>
        </p:spPr>
      </p:sp>
      <p:sp>
        <p:nvSpPr>
          <p:cNvPr id="76" name="Google Shape;76;p5"/>
          <p:cNvSpPr/>
          <p:nvPr/>
        </p:nvSpPr>
        <p:spPr>
          <a:xfrm>
            <a:off x="7498080" y="4552950"/>
            <a:ext cx="1924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Capacity:</a:t>
            </a:r>
            <a:r>
              <a:rPr b="0" i="0" lang="en-US" sz="12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100kW-5MW</a:t>
            </a:r>
            <a:endParaRPr b="0" i="0" sz="1600" u="none" cap="none" strike="noStrike"/>
          </a:p>
        </p:txBody>
      </p:sp>
      <p:sp>
        <p:nvSpPr>
          <p:cNvPr id="77" name="Google Shape;77;p5"/>
          <p:cNvSpPr/>
          <p:nvPr/>
        </p:nvSpPr>
        <p:spPr>
          <a:xfrm>
            <a:off x="9624060" y="1455420"/>
            <a:ext cx="2177415" cy="3472815"/>
          </a:xfrm>
          <a:custGeom>
            <a:rect b="b" l="l" r="r" t="t"/>
            <a:pathLst>
              <a:path extrusionOk="0" h="3472815" w="2177415">
                <a:moveTo>
                  <a:pt x="76210" y="0"/>
                </a:moveTo>
                <a:lnTo>
                  <a:pt x="2101205" y="0"/>
                </a:lnTo>
                <a:cubicBezTo>
                  <a:pt x="2143295" y="0"/>
                  <a:pt x="2177415" y="34120"/>
                  <a:pt x="2177415" y="76210"/>
                </a:cubicBezTo>
                <a:lnTo>
                  <a:pt x="2177415" y="3396605"/>
                </a:lnTo>
                <a:cubicBezTo>
                  <a:pt x="2177415" y="3438695"/>
                  <a:pt x="2143295" y="3472815"/>
                  <a:pt x="2101205" y="3472815"/>
                </a:cubicBezTo>
                <a:lnTo>
                  <a:pt x="76210" y="3472815"/>
                </a:lnTo>
                <a:cubicBezTo>
                  <a:pt x="34120" y="3472815"/>
                  <a:pt x="0" y="3438695"/>
                  <a:pt x="0" y="3396605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gradFill>
            <a:gsLst>
              <a:gs pos="0">
                <a:srgbClr val="38A169">
                  <a:alpha val="30196"/>
                </a:srgbClr>
              </a:gs>
              <a:gs pos="100000">
                <a:srgbClr val="38A169">
                  <a:alpha val="10196"/>
                </a:srgbClr>
              </a:gs>
            </a:gsLst>
            <a:lin ang="2700000" scaled="0"/>
          </a:gradFill>
          <a:ln cap="flat" cmpd="sng" w="20300">
            <a:solidFill>
              <a:srgbClr val="38A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11414760" y="1082040"/>
            <a:ext cx="762000" cy="762000"/>
          </a:xfrm>
          <a:custGeom>
            <a:rect b="b" l="l" r="r" t="t"/>
            <a:pathLst>
              <a:path extrusionOk="0" h="762000" w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8A16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9784081" y="161544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901953" y="1720215"/>
            <a:ext cx="150019" cy="171450"/>
          </a:xfrm>
          <a:custGeom>
            <a:rect b="b" l="l" r="r" t="t"/>
            <a:pathLst>
              <a:path extrusionOk="0" h="171450" w="150019">
                <a:moveTo>
                  <a:pt x="75009" y="133543"/>
                </a:moveTo>
                <a:cubicBezTo>
                  <a:pt x="71058" y="135251"/>
                  <a:pt x="67174" y="136792"/>
                  <a:pt x="63323" y="138064"/>
                </a:cubicBezTo>
                <a:cubicBezTo>
                  <a:pt x="68915" y="149383"/>
                  <a:pt x="73703" y="150019"/>
                  <a:pt x="75009" y="150019"/>
                </a:cubicBezTo>
                <a:cubicBezTo>
                  <a:pt x="76315" y="150019"/>
                  <a:pt x="81070" y="149383"/>
                  <a:pt x="86696" y="138064"/>
                </a:cubicBezTo>
                <a:cubicBezTo>
                  <a:pt x="82879" y="136758"/>
                  <a:pt x="78961" y="135251"/>
                  <a:pt x="75009" y="133543"/>
                </a:cubicBezTo>
                <a:close/>
                <a:moveTo>
                  <a:pt x="138633" y="85725"/>
                </a:moveTo>
                <a:cubicBezTo>
                  <a:pt x="149684" y="100861"/>
                  <a:pt x="153468" y="116164"/>
                  <a:pt x="146536" y="128588"/>
                </a:cubicBezTo>
                <a:cubicBezTo>
                  <a:pt x="139772" y="140743"/>
                  <a:pt x="125607" y="145096"/>
                  <a:pt x="107960" y="143054"/>
                </a:cubicBezTo>
                <a:cubicBezTo>
                  <a:pt x="100593" y="160500"/>
                  <a:pt x="89308" y="171450"/>
                  <a:pt x="75009" y="171450"/>
                </a:cubicBezTo>
                <a:cubicBezTo>
                  <a:pt x="60711" y="171450"/>
                  <a:pt x="49426" y="160500"/>
                  <a:pt x="42059" y="143054"/>
                </a:cubicBezTo>
                <a:cubicBezTo>
                  <a:pt x="24412" y="145096"/>
                  <a:pt x="10247" y="140743"/>
                  <a:pt x="3483" y="128588"/>
                </a:cubicBezTo>
                <a:cubicBezTo>
                  <a:pt x="-3449" y="116164"/>
                  <a:pt x="335" y="100861"/>
                  <a:pt x="11385" y="85725"/>
                </a:cubicBezTo>
                <a:cubicBezTo>
                  <a:pt x="335" y="70589"/>
                  <a:pt x="-3449" y="55286"/>
                  <a:pt x="3483" y="42863"/>
                </a:cubicBezTo>
                <a:cubicBezTo>
                  <a:pt x="10247" y="30707"/>
                  <a:pt x="24412" y="26354"/>
                  <a:pt x="42059" y="28396"/>
                </a:cubicBezTo>
                <a:cubicBezTo>
                  <a:pt x="49426" y="10950"/>
                  <a:pt x="60677" y="0"/>
                  <a:pt x="75009" y="0"/>
                </a:cubicBezTo>
                <a:cubicBezTo>
                  <a:pt x="89342" y="0"/>
                  <a:pt x="100593" y="10950"/>
                  <a:pt x="107960" y="28396"/>
                </a:cubicBezTo>
                <a:cubicBezTo>
                  <a:pt x="125607" y="26354"/>
                  <a:pt x="139772" y="30673"/>
                  <a:pt x="146536" y="42863"/>
                </a:cubicBezTo>
                <a:cubicBezTo>
                  <a:pt x="153468" y="55286"/>
                  <a:pt x="149684" y="70589"/>
                  <a:pt x="138633" y="85725"/>
                </a:cubicBezTo>
                <a:close/>
                <a:moveTo>
                  <a:pt x="116599" y="108295"/>
                </a:moveTo>
                <a:cubicBezTo>
                  <a:pt x="116030" y="113050"/>
                  <a:pt x="115293" y="117671"/>
                  <a:pt x="114356" y="122091"/>
                </a:cubicBezTo>
                <a:cubicBezTo>
                  <a:pt x="125004" y="122560"/>
                  <a:pt x="127282" y="119178"/>
                  <a:pt x="127817" y="118173"/>
                </a:cubicBezTo>
                <a:cubicBezTo>
                  <a:pt x="128588" y="116767"/>
                  <a:pt x="130161" y="112179"/>
                  <a:pt x="123832" y="102066"/>
                </a:cubicBezTo>
                <a:cubicBezTo>
                  <a:pt x="121555" y="104176"/>
                  <a:pt x="119144" y="106252"/>
                  <a:pt x="116599" y="108295"/>
                </a:cubicBezTo>
                <a:close/>
                <a:moveTo>
                  <a:pt x="114356" y="49392"/>
                </a:moveTo>
                <a:cubicBezTo>
                  <a:pt x="115293" y="53779"/>
                  <a:pt x="116030" y="58400"/>
                  <a:pt x="116599" y="63189"/>
                </a:cubicBezTo>
                <a:cubicBezTo>
                  <a:pt x="119144" y="65231"/>
                  <a:pt x="121555" y="67308"/>
                  <a:pt x="123832" y="69417"/>
                </a:cubicBezTo>
                <a:cubicBezTo>
                  <a:pt x="130161" y="59304"/>
                  <a:pt x="128588" y="54683"/>
                  <a:pt x="127817" y="53310"/>
                </a:cubicBezTo>
                <a:cubicBezTo>
                  <a:pt x="127282" y="52339"/>
                  <a:pt x="125004" y="48957"/>
                  <a:pt x="114356" y="49392"/>
                </a:cubicBezTo>
                <a:close/>
                <a:moveTo>
                  <a:pt x="86696" y="33386"/>
                </a:moveTo>
                <a:cubicBezTo>
                  <a:pt x="81070" y="22067"/>
                  <a:pt x="76315" y="21431"/>
                  <a:pt x="75009" y="21431"/>
                </a:cubicBezTo>
                <a:cubicBezTo>
                  <a:pt x="73703" y="21431"/>
                  <a:pt x="68948" y="22067"/>
                  <a:pt x="63323" y="33386"/>
                </a:cubicBezTo>
                <a:cubicBezTo>
                  <a:pt x="67140" y="34692"/>
                  <a:pt x="71058" y="36199"/>
                  <a:pt x="75009" y="37907"/>
                </a:cubicBezTo>
                <a:cubicBezTo>
                  <a:pt x="78961" y="36199"/>
                  <a:pt x="82845" y="34658"/>
                  <a:pt x="86696" y="33386"/>
                </a:cubicBezTo>
                <a:close/>
                <a:moveTo>
                  <a:pt x="33453" y="63155"/>
                </a:moveTo>
                <a:cubicBezTo>
                  <a:pt x="34022" y="58367"/>
                  <a:pt x="34759" y="53779"/>
                  <a:pt x="35696" y="49359"/>
                </a:cubicBezTo>
                <a:cubicBezTo>
                  <a:pt x="25048" y="48890"/>
                  <a:pt x="22771" y="52272"/>
                  <a:pt x="22235" y="53277"/>
                </a:cubicBezTo>
                <a:cubicBezTo>
                  <a:pt x="21465" y="54683"/>
                  <a:pt x="19891" y="59271"/>
                  <a:pt x="26220" y="69384"/>
                </a:cubicBezTo>
                <a:cubicBezTo>
                  <a:pt x="28497" y="67274"/>
                  <a:pt x="30908" y="65198"/>
                  <a:pt x="33453" y="63155"/>
                </a:cubicBezTo>
                <a:close/>
                <a:moveTo>
                  <a:pt x="26186" y="102066"/>
                </a:moveTo>
                <a:cubicBezTo>
                  <a:pt x="19857" y="112179"/>
                  <a:pt x="21431" y="116800"/>
                  <a:pt x="22201" y="118173"/>
                </a:cubicBezTo>
                <a:cubicBezTo>
                  <a:pt x="22737" y="119144"/>
                  <a:pt x="25014" y="122526"/>
                  <a:pt x="35663" y="122091"/>
                </a:cubicBezTo>
                <a:cubicBezTo>
                  <a:pt x="34725" y="117704"/>
                  <a:pt x="33989" y="113083"/>
                  <a:pt x="33419" y="108295"/>
                </a:cubicBezTo>
                <a:cubicBezTo>
                  <a:pt x="30874" y="106252"/>
                  <a:pt x="28463" y="104176"/>
                  <a:pt x="26186" y="102066"/>
                </a:cubicBezTo>
                <a:close/>
                <a:moveTo>
                  <a:pt x="101798" y="85725"/>
                </a:moveTo>
                <a:cubicBezTo>
                  <a:pt x="101798" y="70940"/>
                  <a:pt x="89795" y="58936"/>
                  <a:pt x="75009" y="58936"/>
                </a:cubicBezTo>
                <a:cubicBezTo>
                  <a:pt x="60224" y="58936"/>
                  <a:pt x="48220" y="70940"/>
                  <a:pt x="48220" y="85725"/>
                </a:cubicBezTo>
                <a:cubicBezTo>
                  <a:pt x="48220" y="100510"/>
                  <a:pt x="60224" y="112514"/>
                  <a:pt x="75009" y="112514"/>
                </a:cubicBezTo>
                <a:cubicBezTo>
                  <a:pt x="89795" y="112514"/>
                  <a:pt x="101798" y="100510"/>
                  <a:pt x="101798" y="85725"/>
                </a:cubicBezTo>
                <a:close/>
                <a:moveTo>
                  <a:pt x="75009" y="75009"/>
                </a:moveTo>
                <a:cubicBezTo>
                  <a:pt x="80923" y="75009"/>
                  <a:pt x="85725" y="79811"/>
                  <a:pt x="85725" y="85725"/>
                </a:cubicBezTo>
                <a:cubicBezTo>
                  <a:pt x="85725" y="91639"/>
                  <a:pt x="80923" y="96441"/>
                  <a:pt x="75009" y="96441"/>
                </a:cubicBezTo>
                <a:cubicBezTo>
                  <a:pt x="69095" y="96441"/>
                  <a:pt x="64294" y="91639"/>
                  <a:pt x="64294" y="85725"/>
                </a:cubicBezTo>
                <a:cubicBezTo>
                  <a:pt x="64294" y="79811"/>
                  <a:pt x="69095" y="75009"/>
                  <a:pt x="75009" y="75009"/>
                </a:cubicBezTo>
                <a:close/>
              </a:path>
            </a:pathLst>
          </a:cu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0241281" y="1672590"/>
            <a:ext cx="638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SHEPA</a:t>
            </a:r>
            <a:endParaRPr b="0" i="0" sz="1600" u="none" cap="none" strike="noStrike"/>
          </a:p>
        </p:txBody>
      </p:sp>
      <p:sp>
        <p:nvSpPr>
          <p:cNvPr id="82" name="Google Shape;82;p5"/>
          <p:cNvSpPr/>
          <p:nvPr/>
        </p:nvSpPr>
        <p:spPr>
          <a:xfrm>
            <a:off x="9784081" y="211074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Solar-Battery-H₂ Hybrid</a:t>
            </a:r>
            <a:endParaRPr b="0" i="0" sz="1600" u="none" cap="none" strike="noStrike"/>
          </a:p>
        </p:txBody>
      </p:sp>
      <p:sp>
        <p:nvSpPr>
          <p:cNvPr id="83" name="Google Shape;83;p5"/>
          <p:cNvSpPr/>
          <p:nvPr/>
        </p:nvSpPr>
        <p:spPr>
          <a:xfrm>
            <a:off x="9784081" y="2415540"/>
            <a:ext cx="1933575" cy="188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Zero-carbon resilience:</a:t>
            </a: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Seasonal hydrogen storage enables 100% renewable operation with multi-day backup capability</a:t>
            </a:r>
            <a:endParaRPr b="0" i="0" sz="1600" u="none" cap="none" strike="noStrike"/>
          </a:p>
        </p:txBody>
      </p:sp>
      <p:sp>
        <p:nvSpPr>
          <p:cNvPr id="84" name="Google Shape;84;p5"/>
          <p:cNvSpPr/>
          <p:nvPr/>
        </p:nvSpPr>
        <p:spPr>
          <a:xfrm>
            <a:off x="9784081" y="4419600"/>
            <a:ext cx="1857375" cy="7620"/>
          </a:xfrm>
          <a:custGeom>
            <a:rect b="b" l="l" r="r" t="t"/>
            <a:pathLst>
              <a:path extrusionOk="0" h="7620" w="1857375">
                <a:moveTo>
                  <a:pt x="0" y="0"/>
                </a:moveTo>
                <a:lnTo>
                  <a:pt x="1857375" y="0"/>
                </a:lnTo>
                <a:lnTo>
                  <a:pt x="18573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8A169">
              <a:alpha val="50196"/>
            </a:srgbClr>
          </a:solidFill>
          <a:ln>
            <a:noFill/>
          </a:ln>
        </p:spPr>
      </p:sp>
      <p:sp>
        <p:nvSpPr>
          <p:cNvPr id="85" name="Google Shape;85;p5"/>
          <p:cNvSpPr/>
          <p:nvPr/>
        </p:nvSpPr>
        <p:spPr>
          <a:xfrm>
            <a:off x="9784081" y="4537710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Capacity:</a:t>
            </a:r>
            <a:r>
              <a:rPr b="0" i="0" lang="en-US" sz="12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100kW-10MW+</a:t>
            </a:r>
            <a:endParaRPr b="0" i="0" sz="1600" u="none" cap="none" strike="noStrike"/>
          </a:p>
        </p:txBody>
      </p:sp>
      <p:sp>
        <p:nvSpPr>
          <p:cNvPr id="86" name="Google Shape;86;p5"/>
          <p:cNvSpPr/>
          <p:nvPr/>
        </p:nvSpPr>
        <p:spPr>
          <a:xfrm>
            <a:off x="400050" y="5086350"/>
            <a:ext cx="11410950" cy="1390650"/>
          </a:xfrm>
          <a:custGeom>
            <a:rect b="b" l="l" r="r" t="t"/>
            <a:pathLst>
              <a:path extrusionOk="0" h="1390650" w="11410950">
                <a:moveTo>
                  <a:pt x="38100" y="0"/>
                </a:moveTo>
                <a:lnTo>
                  <a:pt x="11334756" y="0"/>
                </a:lnTo>
                <a:cubicBezTo>
                  <a:pt x="11376809" y="0"/>
                  <a:pt x="11410950" y="34141"/>
                  <a:pt x="11410950" y="76194"/>
                </a:cubicBezTo>
                <a:lnTo>
                  <a:pt x="11410950" y="1314456"/>
                </a:lnTo>
                <a:cubicBezTo>
                  <a:pt x="11410950" y="1356509"/>
                  <a:pt x="11376809" y="1390650"/>
                  <a:pt x="113347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00050" y="5086350"/>
            <a:ext cx="38100" cy="1390650"/>
          </a:xfrm>
          <a:custGeom>
            <a:rect b="b" l="l" r="r" t="t"/>
            <a:pathLst>
              <a:path extrusionOk="0" h="1390650" w="3810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28650" y="5276850"/>
            <a:ext cx="171450" cy="228600"/>
          </a:xfrm>
          <a:custGeom>
            <a:rect b="b" l="l" r="r" t="t"/>
            <a:pathLst>
              <a:path extrusionOk="0" h="228600" w="17145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009650" y="5238750"/>
            <a:ext cx="10734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SHEPA Innovation: Third-Life Batteries</a:t>
            </a:r>
            <a:endParaRPr b="0" i="0" sz="1600" u="none" cap="none" strike="noStrike"/>
          </a:p>
        </p:txBody>
      </p:sp>
      <p:sp>
        <p:nvSpPr>
          <p:cNvPr id="90" name="Google Shape;90;p5"/>
          <p:cNvSpPr/>
          <p:nvPr/>
        </p:nvSpPr>
        <p:spPr>
          <a:xfrm>
            <a:off x="1009650" y="5581650"/>
            <a:ext cx="107251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SHEPA introduces a </a:t>
            </a:r>
            <a:r>
              <a:rPr b="1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circular economy dimension</a:t>
            </a: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by using </a:t>
            </a:r>
            <a:r>
              <a:rPr b="0" i="0" lang="en-US" sz="1200" u="none" cap="none" strike="noStrike">
                <a:solidFill>
                  <a:srgbClr val="F7FAFC"/>
                </a:solidFill>
                <a:highlight>
                  <a:srgbClr val="D69E2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third-life batteries </a:t>
            </a: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batteries that have completed their first life in EVs (capacity ~80%) and second life in stationary storage (capacity ~60-70%), then reconditioned for microgrid deployment at ~50-60% original capacity. This dramatically reduces upfront costs while addressing Kenya's e-waste challenge.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354419" y="460744"/>
            <a:ext cx="53163" cy="354419"/>
          </a:xfrm>
          <a:custGeom>
            <a:rect b="b" l="l" r="r" t="t"/>
            <a:pathLst>
              <a:path extrusionOk="0" h="354419" w="53163">
                <a:moveTo>
                  <a:pt x="0" y="0"/>
                </a:moveTo>
                <a:lnTo>
                  <a:pt x="53163" y="0"/>
                </a:lnTo>
                <a:lnTo>
                  <a:pt x="53163" y="354419"/>
                </a:lnTo>
                <a:lnTo>
                  <a:pt x="0" y="354419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97" name="Google Shape;97;p6"/>
          <p:cNvSpPr/>
          <p:nvPr/>
        </p:nvSpPr>
        <p:spPr>
          <a:xfrm>
            <a:off x="513907" y="354419"/>
            <a:ext cx="4944140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6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02</a:t>
            </a:r>
            <a:endParaRPr b="0" i="0" sz="1600" u="none" cap="none" strike="noStrike"/>
          </a:p>
        </p:txBody>
      </p:sp>
      <p:sp>
        <p:nvSpPr>
          <p:cNvPr id="98" name="Google Shape;98;p6"/>
          <p:cNvSpPr/>
          <p:nvPr/>
        </p:nvSpPr>
        <p:spPr>
          <a:xfrm>
            <a:off x="513907" y="567070"/>
            <a:ext cx="5032744" cy="354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12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Merti: Energy-Poor, Resource-Rich</a:t>
            </a:r>
            <a:endParaRPr b="0" i="0" sz="1600" u="none" cap="none" strike="noStrike"/>
          </a:p>
        </p:txBody>
      </p:sp>
      <p:sp>
        <p:nvSpPr>
          <p:cNvPr id="99" name="Google Shape;99;p6"/>
          <p:cNvSpPr/>
          <p:nvPr/>
        </p:nvSpPr>
        <p:spPr>
          <a:xfrm>
            <a:off x="531628" y="992372"/>
            <a:ext cx="11376837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Isiolo County, Northern Kenya — A paradox of abundant renewable resources and severe energy poverty</a:t>
            </a:r>
            <a:endParaRPr b="0" i="0" sz="1600" u="none" cap="none" strike="noStrike"/>
          </a:p>
        </p:txBody>
      </p:sp>
      <p:sp>
        <p:nvSpPr>
          <p:cNvPr id="100" name="Google Shape;100;p6"/>
          <p:cNvSpPr/>
          <p:nvPr/>
        </p:nvSpPr>
        <p:spPr>
          <a:xfrm>
            <a:off x="357963" y="1350335"/>
            <a:ext cx="5660065" cy="3374065"/>
          </a:xfrm>
          <a:custGeom>
            <a:rect b="b" l="l" r="r" t="t"/>
            <a:pathLst>
              <a:path extrusionOk="0" h="3374065" w="5660065">
                <a:moveTo>
                  <a:pt x="70889" y="0"/>
                </a:moveTo>
                <a:lnTo>
                  <a:pt x="5589176" y="0"/>
                </a:lnTo>
                <a:cubicBezTo>
                  <a:pt x="5628301" y="0"/>
                  <a:pt x="5660065" y="31764"/>
                  <a:pt x="5660065" y="70889"/>
                </a:cubicBezTo>
                <a:lnTo>
                  <a:pt x="5660065" y="3303176"/>
                </a:lnTo>
                <a:cubicBezTo>
                  <a:pt x="5660065" y="3342301"/>
                  <a:pt x="5628301" y="3374065"/>
                  <a:pt x="5589176" y="3374065"/>
                </a:cubicBezTo>
                <a:lnTo>
                  <a:pt x="70889" y="3374065"/>
                </a:lnTo>
                <a:cubicBezTo>
                  <a:pt x="31764" y="3374065"/>
                  <a:pt x="0" y="3342301"/>
                  <a:pt x="0" y="3303176"/>
                </a:cubicBezTo>
                <a:lnTo>
                  <a:pt x="0" y="70889"/>
                </a:lnTo>
                <a:cubicBezTo>
                  <a:pt x="0" y="31764"/>
                  <a:pt x="31764" y="0"/>
                  <a:pt x="7088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03274" y="1513368"/>
            <a:ext cx="265814" cy="212651"/>
          </a:xfrm>
          <a:custGeom>
            <a:rect b="b" l="l" r="r" t="t"/>
            <a:pathLst>
              <a:path extrusionOk="0" h="212651" w="265814">
                <a:moveTo>
                  <a:pt x="239233" y="19936"/>
                </a:moveTo>
                <a:cubicBezTo>
                  <a:pt x="239233" y="15326"/>
                  <a:pt x="236865" y="11048"/>
                  <a:pt x="232919" y="8639"/>
                </a:cubicBezTo>
                <a:cubicBezTo>
                  <a:pt x="228974" y="6230"/>
                  <a:pt x="224114" y="5981"/>
                  <a:pt x="220003" y="8057"/>
                </a:cubicBezTo>
                <a:lnTo>
                  <a:pt x="171741" y="32188"/>
                </a:lnTo>
                <a:lnTo>
                  <a:pt x="97230" y="7310"/>
                </a:lnTo>
                <a:cubicBezTo>
                  <a:pt x="93866" y="6188"/>
                  <a:pt x="90252" y="6438"/>
                  <a:pt x="87096" y="8016"/>
                </a:cubicBezTo>
                <a:lnTo>
                  <a:pt x="33933" y="34597"/>
                </a:lnTo>
                <a:cubicBezTo>
                  <a:pt x="29406" y="36882"/>
                  <a:pt x="26581" y="41492"/>
                  <a:pt x="26581" y="46517"/>
                </a:cubicBezTo>
                <a:lnTo>
                  <a:pt x="26581" y="192715"/>
                </a:lnTo>
                <a:cubicBezTo>
                  <a:pt x="26581" y="197325"/>
                  <a:pt x="28949" y="201603"/>
                  <a:pt x="32894" y="204012"/>
                </a:cubicBezTo>
                <a:cubicBezTo>
                  <a:pt x="36840" y="206421"/>
                  <a:pt x="41700" y="206670"/>
                  <a:pt x="45811" y="204594"/>
                </a:cubicBezTo>
                <a:lnTo>
                  <a:pt x="94032" y="180463"/>
                </a:lnTo>
                <a:lnTo>
                  <a:pt x="166009" y="204469"/>
                </a:lnTo>
                <a:cubicBezTo>
                  <a:pt x="164223" y="201811"/>
                  <a:pt x="162479" y="199028"/>
                  <a:pt x="160776" y="196204"/>
                </a:cubicBezTo>
                <a:cubicBezTo>
                  <a:pt x="156207" y="188603"/>
                  <a:pt x="151680" y="179881"/>
                  <a:pt x="148316" y="170536"/>
                </a:cubicBezTo>
                <a:lnTo>
                  <a:pt x="106284" y="156539"/>
                </a:lnTo>
                <a:lnTo>
                  <a:pt x="106284" y="38377"/>
                </a:lnTo>
                <a:lnTo>
                  <a:pt x="159447" y="56112"/>
                </a:lnTo>
                <a:lnTo>
                  <a:pt x="159447" y="97354"/>
                </a:lnTo>
                <a:cubicBezTo>
                  <a:pt x="172322" y="82485"/>
                  <a:pt x="191428" y="73099"/>
                  <a:pt x="212610" y="73099"/>
                </a:cubicBezTo>
                <a:cubicBezTo>
                  <a:pt x="221996" y="73099"/>
                  <a:pt x="230967" y="74926"/>
                  <a:pt x="239191" y="78291"/>
                </a:cubicBezTo>
                <a:lnTo>
                  <a:pt x="239233" y="19936"/>
                </a:lnTo>
                <a:close/>
                <a:moveTo>
                  <a:pt x="212651" y="93035"/>
                </a:moveTo>
                <a:cubicBezTo>
                  <a:pt x="185114" y="93035"/>
                  <a:pt x="162811" y="114965"/>
                  <a:pt x="162811" y="142003"/>
                </a:cubicBezTo>
                <a:cubicBezTo>
                  <a:pt x="162811" y="170619"/>
                  <a:pt x="189434" y="204469"/>
                  <a:pt x="203763" y="220626"/>
                </a:cubicBezTo>
                <a:cubicBezTo>
                  <a:pt x="208581" y="226025"/>
                  <a:pt x="216763" y="226025"/>
                  <a:pt x="221581" y="220626"/>
                </a:cubicBezTo>
                <a:cubicBezTo>
                  <a:pt x="235910" y="204469"/>
                  <a:pt x="262533" y="170619"/>
                  <a:pt x="262533" y="142003"/>
                </a:cubicBezTo>
                <a:cubicBezTo>
                  <a:pt x="262533" y="114965"/>
                  <a:pt x="240229" y="93035"/>
                  <a:pt x="212693" y="93035"/>
                </a:cubicBezTo>
                <a:close/>
                <a:moveTo>
                  <a:pt x="196038" y="142875"/>
                </a:moveTo>
                <a:cubicBezTo>
                  <a:pt x="196038" y="133706"/>
                  <a:pt x="203482" y="126262"/>
                  <a:pt x="212651" y="126262"/>
                </a:cubicBezTo>
                <a:cubicBezTo>
                  <a:pt x="221820" y="126262"/>
                  <a:pt x="229265" y="133706"/>
                  <a:pt x="229265" y="142875"/>
                </a:cubicBezTo>
                <a:cubicBezTo>
                  <a:pt x="229265" y="152044"/>
                  <a:pt x="221820" y="159488"/>
                  <a:pt x="212651" y="159488"/>
                </a:cubicBezTo>
                <a:cubicBezTo>
                  <a:pt x="203482" y="159488"/>
                  <a:pt x="196038" y="152044"/>
                  <a:pt x="196038" y="142875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875414" y="1495647"/>
            <a:ext cx="1577163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Location &amp; Climate</a:t>
            </a:r>
            <a:endParaRPr b="0" i="0" sz="1600" u="none" cap="none" strike="noStrike"/>
          </a:p>
        </p:txBody>
      </p:sp>
      <p:sp>
        <p:nvSpPr>
          <p:cNvPr id="103" name="Google Shape;103;p6"/>
          <p:cNvSpPr/>
          <p:nvPr/>
        </p:nvSpPr>
        <p:spPr>
          <a:xfrm>
            <a:off x="525426" y="2104582"/>
            <a:ext cx="159488" cy="159488"/>
          </a:xfrm>
          <a:custGeom>
            <a:rect b="b" l="l" r="r" t="t"/>
            <a:pathLst>
              <a:path extrusionOk="0" h="159488" w="159488">
                <a:moveTo>
                  <a:pt x="139428" y="54513"/>
                </a:moveTo>
                <a:cubicBezTo>
                  <a:pt x="129584" y="31275"/>
                  <a:pt x="106564" y="14952"/>
                  <a:pt x="79744" y="14952"/>
                </a:cubicBezTo>
                <a:cubicBezTo>
                  <a:pt x="72860" y="14952"/>
                  <a:pt x="66225" y="16042"/>
                  <a:pt x="59995" y="18005"/>
                </a:cubicBezTo>
                <a:cubicBezTo>
                  <a:pt x="59870" y="18628"/>
                  <a:pt x="59808" y="19282"/>
                  <a:pt x="59808" y="19936"/>
                </a:cubicBezTo>
                <a:lnTo>
                  <a:pt x="59808" y="42800"/>
                </a:lnTo>
                <a:cubicBezTo>
                  <a:pt x="59808" y="46694"/>
                  <a:pt x="62954" y="49840"/>
                  <a:pt x="66848" y="49840"/>
                </a:cubicBezTo>
                <a:cubicBezTo>
                  <a:pt x="68717" y="49840"/>
                  <a:pt x="70524" y="49093"/>
                  <a:pt x="71832" y="47784"/>
                </a:cubicBezTo>
                <a:lnTo>
                  <a:pt x="76816" y="42800"/>
                </a:lnTo>
                <a:cubicBezTo>
                  <a:pt x="78685" y="40931"/>
                  <a:pt x="81208" y="39872"/>
                  <a:pt x="83856" y="39872"/>
                </a:cubicBezTo>
                <a:lnTo>
                  <a:pt x="85569" y="39872"/>
                </a:lnTo>
                <a:cubicBezTo>
                  <a:pt x="94447" y="39872"/>
                  <a:pt x="98901" y="50619"/>
                  <a:pt x="92609" y="56880"/>
                </a:cubicBezTo>
                <a:cubicBezTo>
                  <a:pt x="90740" y="58749"/>
                  <a:pt x="88217" y="59808"/>
                  <a:pt x="85569" y="59808"/>
                </a:cubicBezTo>
                <a:lnTo>
                  <a:pt x="66412" y="59808"/>
                </a:lnTo>
                <a:cubicBezTo>
                  <a:pt x="63764" y="59808"/>
                  <a:pt x="61241" y="60867"/>
                  <a:pt x="59372" y="62736"/>
                </a:cubicBezTo>
                <a:lnTo>
                  <a:pt x="52737" y="69371"/>
                </a:lnTo>
                <a:cubicBezTo>
                  <a:pt x="50868" y="71240"/>
                  <a:pt x="49809" y="73763"/>
                  <a:pt x="49809" y="76411"/>
                </a:cubicBezTo>
                <a:lnTo>
                  <a:pt x="49809" y="89712"/>
                </a:lnTo>
                <a:cubicBezTo>
                  <a:pt x="49809" y="95226"/>
                  <a:pt x="54263" y="99680"/>
                  <a:pt x="59777" y="99680"/>
                </a:cubicBezTo>
                <a:lnTo>
                  <a:pt x="69745" y="99680"/>
                </a:lnTo>
                <a:cubicBezTo>
                  <a:pt x="75259" y="99680"/>
                  <a:pt x="79713" y="104135"/>
                  <a:pt x="79713" y="109648"/>
                </a:cubicBezTo>
                <a:lnTo>
                  <a:pt x="79713" y="119616"/>
                </a:lnTo>
                <a:cubicBezTo>
                  <a:pt x="79713" y="125130"/>
                  <a:pt x="84167" y="129584"/>
                  <a:pt x="89681" y="129584"/>
                </a:cubicBezTo>
                <a:lnTo>
                  <a:pt x="90522" y="129584"/>
                </a:lnTo>
                <a:cubicBezTo>
                  <a:pt x="93170" y="129584"/>
                  <a:pt x="95693" y="128525"/>
                  <a:pt x="97562" y="126656"/>
                </a:cubicBezTo>
                <a:lnTo>
                  <a:pt x="106689" y="117529"/>
                </a:lnTo>
                <a:cubicBezTo>
                  <a:pt x="108558" y="115660"/>
                  <a:pt x="109617" y="113137"/>
                  <a:pt x="109617" y="110489"/>
                </a:cubicBezTo>
                <a:lnTo>
                  <a:pt x="109617" y="104664"/>
                </a:lnTo>
                <a:cubicBezTo>
                  <a:pt x="109617" y="101923"/>
                  <a:pt x="111860" y="99680"/>
                  <a:pt x="114601" y="99680"/>
                </a:cubicBezTo>
                <a:cubicBezTo>
                  <a:pt x="117342" y="99680"/>
                  <a:pt x="119585" y="97437"/>
                  <a:pt x="119585" y="94696"/>
                </a:cubicBezTo>
                <a:lnTo>
                  <a:pt x="119585" y="83887"/>
                </a:lnTo>
                <a:cubicBezTo>
                  <a:pt x="119585" y="81239"/>
                  <a:pt x="118526" y="78716"/>
                  <a:pt x="116657" y="76847"/>
                </a:cubicBezTo>
                <a:lnTo>
                  <a:pt x="111673" y="71863"/>
                </a:lnTo>
                <a:cubicBezTo>
                  <a:pt x="110365" y="70555"/>
                  <a:pt x="109617" y="68748"/>
                  <a:pt x="109617" y="66879"/>
                </a:cubicBezTo>
                <a:cubicBezTo>
                  <a:pt x="109617" y="62985"/>
                  <a:pt x="112763" y="59839"/>
                  <a:pt x="116657" y="59839"/>
                </a:cubicBezTo>
                <a:lnTo>
                  <a:pt x="130675" y="59839"/>
                </a:lnTo>
                <a:cubicBezTo>
                  <a:pt x="134537" y="59839"/>
                  <a:pt x="137746" y="57628"/>
                  <a:pt x="139397" y="54544"/>
                </a:cubicBezTo>
                <a:close/>
                <a:moveTo>
                  <a:pt x="0" y="79744"/>
                </a:moveTo>
                <a:cubicBezTo>
                  <a:pt x="0" y="35732"/>
                  <a:pt x="35732" y="0"/>
                  <a:pt x="79744" y="0"/>
                </a:cubicBezTo>
                <a:cubicBezTo>
                  <a:pt x="123756" y="0"/>
                  <a:pt x="159488" y="35732"/>
                  <a:pt x="159488" y="79744"/>
                </a:cubicBezTo>
                <a:cubicBezTo>
                  <a:pt x="159488" y="123756"/>
                  <a:pt x="123756" y="159488"/>
                  <a:pt x="79744" y="159488"/>
                </a:cubicBezTo>
                <a:cubicBezTo>
                  <a:pt x="35732" y="159488"/>
                  <a:pt x="0" y="123756"/>
                  <a:pt x="0" y="79744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08960" y="2069140"/>
            <a:ext cx="1975884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Arid &amp; Semi-Arid Lands (ASAL)</a:t>
            </a:r>
            <a:endParaRPr b="0" i="0" sz="1600" u="none" cap="none" strike="noStrike"/>
          </a:p>
        </p:txBody>
      </p:sp>
      <p:sp>
        <p:nvSpPr>
          <p:cNvPr id="105" name="Google Shape;105;p6"/>
          <p:cNvSpPr/>
          <p:nvPr/>
        </p:nvSpPr>
        <p:spPr>
          <a:xfrm>
            <a:off x="808960" y="2281791"/>
            <a:ext cx="1975884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Northern Kenya, Isiolo County</a:t>
            </a:r>
            <a:endParaRPr b="0" i="0" sz="1600" u="none" cap="none" strike="noStrike"/>
          </a:p>
        </p:txBody>
      </p:sp>
      <p:sp>
        <p:nvSpPr>
          <p:cNvPr id="106" name="Google Shape;106;p6"/>
          <p:cNvSpPr/>
          <p:nvPr/>
        </p:nvSpPr>
        <p:spPr>
          <a:xfrm>
            <a:off x="525426" y="3039029"/>
            <a:ext cx="159488" cy="159488"/>
          </a:xfrm>
          <a:custGeom>
            <a:rect b="b" l="l" r="r" t="t"/>
            <a:pathLst>
              <a:path extrusionOk="0" h="159488" w="159488">
                <a:moveTo>
                  <a:pt x="29904" y="29904"/>
                </a:moveTo>
                <a:cubicBezTo>
                  <a:pt x="29904" y="13395"/>
                  <a:pt x="43299" y="0"/>
                  <a:pt x="59808" y="0"/>
                </a:cubicBezTo>
                <a:cubicBezTo>
                  <a:pt x="76318" y="0"/>
                  <a:pt x="89712" y="13395"/>
                  <a:pt x="89712" y="29904"/>
                </a:cubicBezTo>
                <a:lnTo>
                  <a:pt x="89712" y="81208"/>
                </a:lnTo>
                <a:cubicBezTo>
                  <a:pt x="98901" y="89432"/>
                  <a:pt x="104664" y="101362"/>
                  <a:pt x="104664" y="114632"/>
                </a:cubicBezTo>
                <a:cubicBezTo>
                  <a:pt x="104664" y="139397"/>
                  <a:pt x="84572" y="159488"/>
                  <a:pt x="59808" y="159488"/>
                </a:cubicBezTo>
                <a:cubicBezTo>
                  <a:pt x="35044" y="159488"/>
                  <a:pt x="14952" y="139397"/>
                  <a:pt x="14952" y="114632"/>
                </a:cubicBezTo>
                <a:cubicBezTo>
                  <a:pt x="14952" y="101362"/>
                  <a:pt x="20715" y="89401"/>
                  <a:pt x="29904" y="81208"/>
                </a:cubicBezTo>
                <a:lnTo>
                  <a:pt x="29904" y="29904"/>
                </a:lnTo>
                <a:close/>
                <a:moveTo>
                  <a:pt x="59808" y="134568"/>
                </a:moveTo>
                <a:cubicBezTo>
                  <a:pt x="70804" y="134568"/>
                  <a:pt x="79744" y="125628"/>
                  <a:pt x="79744" y="114632"/>
                </a:cubicBezTo>
                <a:cubicBezTo>
                  <a:pt x="79744" y="106253"/>
                  <a:pt x="74604" y="99088"/>
                  <a:pt x="67284" y="96160"/>
                </a:cubicBezTo>
                <a:lnTo>
                  <a:pt x="67284" y="29904"/>
                </a:lnTo>
                <a:cubicBezTo>
                  <a:pt x="67284" y="25761"/>
                  <a:pt x="63951" y="22428"/>
                  <a:pt x="59808" y="22428"/>
                </a:cubicBezTo>
                <a:cubicBezTo>
                  <a:pt x="55665" y="22428"/>
                  <a:pt x="52332" y="25761"/>
                  <a:pt x="52332" y="29904"/>
                </a:cubicBezTo>
                <a:lnTo>
                  <a:pt x="52332" y="96160"/>
                </a:lnTo>
                <a:cubicBezTo>
                  <a:pt x="45012" y="99120"/>
                  <a:pt x="39872" y="106284"/>
                  <a:pt x="39872" y="114632"/>
                </a:cubicBezTo>
                <a:cubicBezTo>
                  <a:pt x="39872" y="125628"/>
                  <a:pt x="48812" y="134568"/>
                  <a:pt x="59808" y="134568"/>
                </a:cubicBezTo>
                <a:close/>
                <a:moveTo>
                  <a:pt x="144536" y="24920"/>
                </a:moveTo>
                <a:cubicBezTo>
                  <a:pt x="144536" y="19419"/>
                  <a:pt x="140070" y="14952"/>
                  <a:pt x="134568" y="14952"/>
                </a:cubicBezTo>
                <a:cubicBezTo>
                  <a:pt x="129067" y="14952"/>
                  <a:pt x="124600" y="19419"/>
                  <a:pt x="124600" y="24920"/>
                </a:cubicBezTo>
                <a:cubicBezTo>
                  <a:pt x="124600" y="30422"/>
                  <a:pt x="129067" y="34888"/>
                  <a:pt x="134568" y="34888"/>
                </a:cubicBezTo>
                <a:cubicBezTo>
                  <a:pt x="140070" y="34888"/>
                  <a:pt x="144536" y="30422"/>
                  <a:pt x="144536" y="24920"/>
                </a:cubicBezTo>
                <a:close/>
                <a:moveTo>
                  <a:pt x="109648" y="24920"/>
                </a:moveTo>
                <a:cubicBezTo>
                  <a:pt x="109648" y="11166"/>
                  <a:pt x="120815" y="0"/>
                  <a:pt x="134568" y="0"/>
                </a:cubicBezTo>
                <a:cubicBezTo>
                  <a:pt x="148322" y="0"/>
                  <a:pt x="159488" y="11166"/>
                  <a:pt x="159488" y="24920"/>
                </a:cubicBezTo>
                <a:cubicBezTo>
                  <a:pt x="159488" y="38674"/>
                  <a:pt x="148322" y="49840"/>
                  <a:pt x="134568" y="49840"/>
                </a:cubicBezTo>
                <a:cubicBezTo>
                  <a:pt x="120815" y="49840"/>
                  <a:pt x="109648" y="38674"/>
                  <a:pt x="109648" y="2492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08960" y="3003587"/>
            <a:ext cx="1577163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Extreme Temperatures</a:t>
            </a:r>
            <a:endParaRPr b="0" i="0" sz="1600" u="none" cap="none" strike="noStrike"/>
          </a:p>
        </p:txBody>
      </p:sp>
      <p:sp>
        <p:nvSpPr>
          <p:cNvPr id="108" name="Google Shape;108;p6"/>
          <p:cNvSpPr/>
          <p:nvPr/>
        </p:nvSpPr>
        <p:spPr>
          <a:xfrm>
            <a:off x="808960" y="3216239"/>
            <a:ext cx="1577163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Regularly </a:t>
            </a:r>
            <a:r>
              <a:rPr b="1" i="0" lang="en-US" sz="1116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35°C+</a:t>
            </a: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ambient</a:t>
            </a:r>
            <a:endParaRPr b="0" i="0" sz="1600" u="none" cap="none" strike="noStrike"/>
          </a:p>
        </p:txBody>
      </p:sp>
      <p:sp>
        <p:nvSpPr>
          <p:cNvPr id="109" name="Google Shape;109;p6"/>
          <p:cNvSpPr/>
          <p:nvPr/>
        </p:nvSpPr>
        <p:spPr>
          <a:xfrm>
            <a:off x="525426" y="3973587"/>
            <a:ext cx="159488" cy="159488"/>
          </a:xfrm>
          <a:custGeom>
            <a:rect b="b" l="l" r="r" t="t"/>
            <a:pathLst>
              <a:path extrusionOk="0" h="159488" w="159488">
                <a:moveTo>
                  <a:pt x="89712" y="9968"/>
                </a:moveTo>
                <a:cubicBezTo>
                  <a:pt x="89712" y="15482"/>
                  <a:pt x="94167" y="19936"/>
                  <a:pt x="99680" y="19936"/>
                </a:cubicBezTo>
                <a:lnTo>
                  <a:pt x="112140" y="19936"/>
                </a:lnTo>
                <a:cubicBezTo>
                  <a:pt x="116283" y="19936"/>
                  <a:pt x="119616" y="23269"/>
                  <a:pt x="119616" y="27412"/>
                </a:cubicBezTo>
                <a:cubicBezTo>
                  <a:pt x="119616" y="31555"/>
                  <a:pt x="116283" y="34888"/>
                  <a:pt x="112140" y="34888"/>
                </a:cubicBezTo>
                <a:lnTo>
                  <a:pt x="9968" y="34888"/>
                </a:lnTo>
                <a:cubicBezTo>
                  <a:pt x="4454" y="34888"/>
                  <a:pt x="0" y="39343"/>
                  <a:pt x="0" y="44856"/>
                </a:cubicBezTo>
                <a:cubicBezTo>
                  <a:pt x="0" y="50370"/>
                  <a:pt x="4454" y="54824"/>
                  <a:pt x="9968" y="54824"/>
                </a:cubicBezTo>
                <a:lnTo>
                  <a:pt x="112140" y="54824"/>
                </a:lnTo>
                <a:cubicBezTo>
                  <a:pt x="127279" y="54824"/>
                  <a:pt x="139552" y="42551"/>
                  <a:pt x="139552" y="27412"/>
                </a:cubicBezTo>
                <a:cubicBezTo>
                  <a:pt x="139552" y="12273"/>
                  <a:pt x="127279" y="0"/>
                  <a:pt x="112140" y="0"/>
                </a:cubicBezTo>
                <a:lnTo>
                  <a:pt x="99680" y="0"/>
                </a:lnTo>
                <a:cubicBezTo>
                  <a:pt x="94167" y="0"/>
                  <a:pt x="89712" y="4454"/>
                  <a:pt x="89712" y="9968"/>
                </a:cubicBezTo>
                <a:close/>
                <a:moveTo>
                  <a:pt x="109648" y="119616"/>
                </a:moveTo>
                <a:cubicBezTo>
                  <a:pt x="109648" y="125130"/>
                  <a:pt x="114103" y="129584"/>
                  <a:pt x="119616" y="129584"/>
                </a:cubicBezTo>
                <a:lnTo>
                  <a:pt x="129584" y="129584"/>
                </a:lnTo>
                <a:cubicBezTo>
                  <a:pt x="146094" y="129584"/>
                  <a:pt x="159488" y="116190"/>
                  <a:pt x="159488" y="99680"/>
                </a:cubicBezTo>
                <a:cubicBezTo>
                  <a:pt x="159488" y="83171"/>
                  <a:pt x="146094" y="69776"/>
                  <a:pt x="129584" y="69776"/>
                </a:cubicBezTo>
                <a:lnTo>
                  <a:pt x="9968" y="69776"/>
                </a:lnTo>
                <a:cubicBezTo>
                  <a:pt x="4454" y="69776"/>
                  <a:pt x="0" y="74231"/>
                  <a:pt x="0" y="79744"/>
                </a:cubicBezTo>
                <a:cubicBezTo>
                  <a:pt x="0" y="85258"/>
                  <a:pt x="4454" y="89712"/>
                  <a:pt x="9968" y="89712"/>
                </a:cubicBezTo>
                <a:lnTo>
                  <a:pt x="129584" y="89712"/>
                </a:lnTo>
                <a:cubicBezTo>
                  <a:pt x="135098" y="89712"/>
                  <a:pt x="139552" y="94167"/>
                  <a:pt x="139552" y="99680"/>
                </a:cubicBezTo>
                <a:cubicBezTo>
                  <a:pt x="139552" y="105194"/>
                  <a:pt x="135098" y="109648"/>
                  <a:pt x="129584" y="109648"/>
                </a:cubicBezTo>
                <a:lnTo>
                  <a:pt x="119616" y="109648"/>
                </a:lnTo>
                <a:cubicBezTo>
                  <a:pt x="114103" y="109648"/>
                  <a:pt x="109648" y="114103"/>
                  <a:pt x="109648" y="119616"/>
                </a:cubicBezTo>
                <a:close/>
                <a:moveTo>
                  <a:pt x="39872" y="159488"/>
                </a:moveTo>
                <a:lnTo>
                  <a:pt x="52332" y="159488"/>
                </a:lnTo>
                <a:cubicBezTo>
                  <a:pt x="67471" y="159488"/>
                  <a:pt x="79744" y="147215"/>
                  <a:pt x="79744" y="132076"/>
                </a:cubicBezTo>
                <a:cubicBezTo>
                  <a:pt x="79744" y="116937"/>
                  <a:pt x="67471" y="104664"/>
                  <a:pt x="52332" y="104664"/>
                </a:cubicBezTo>
                <a:lnTo>
                  <a:pt x="9968" y="104664"/>
                </a:lnTo>
                <a:cubicBezTo>
                  <a:pt x="4454" y="104664"/>
                  <a:pt x="0" y="109119"/>
                  <a:pt x="0" y="114632"/>
                </a:cubicBezTo>
                <a:cubicBezTo>
                  <a:pt x="0" y="120146"/>
                  <a:pt x="4454" y="124600"/>
                  <a:pt x="9968" y="124600"/>
                </a:cubicBezTo>
                <a:lnTo>
                  <a:pt x="52332" y="124600"/>
                </a:lnTo>
                <a:cubicBezTo>
                  <a:pt x="56475" y="124600"/>
                  <a:pt x="59808" y="127933"/>
                  <a:pt x="59808" y="132076"/>
                </a:cubicBezTo>
                <a:cubicBezTo>
                  <a:pt x="59808" y="136219"/>
                  <a:pt x="56475" y="139552"/>
                  <a:pt x="52332" y="139552"/>
                </a:cubicBezTo>
                <a:lnTo>
                  <a:pt x="39872" y="139552"/>
                </a:lnTo>
                <a:cubicBezTo>
                  <a:pt x="34359" y="139552"/>
                  <a:pt x="29904" y="144007"/>
                  <a:pt x="29904" y="149520"/>
                </a:cubicBezTo>
                <a:cubicBezTo>
                  <a:pt x="29904" y="155034"/>
                  <a:pt x="34359" y="159488"/>
                  <a:pt x="39872" y="159488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808960" y="3938145"/>
            <a:ext cx="2294860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Severe Dust Events</a:t>
            </a:r>
            <a:endParaRPr b="0" i="0" sz="1600" u="none" cap="none" strike="noStrike"/>
          </a:p>
        </p:txBody>
      </p:sp>
      <p:sp>
        <p:nvSpPr>
          <p:cNvPr id="111" name="Google Shape;111;p6"/>
          <p:cNvSpPr/>
          <p:nvPr/>
        </p:nvSpPr>
        <p:spPr>
          <a:xfrm>
            <a:off x="808960" y="4150796"/>
            <a:ext cx="2294860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January-March, up to 60% solar loss</a:t>
            </a:r>
            <a:endParaRPr b="0" i="0" sz="1600" u="none" cap="none" strike="noStrike"/>
          </a:p>
        </p:txBody>
      </p:sp>
      <p:sp>
        <p:nvSpPr>
          <p:cNvPr id="112" name="Google Shape;112;p6"/>
          <p:cNvSpPr/>
          <p:nvPr/>
        </p:nvSpPr>
        <p:spPr>
          <a:xfrm>
            <a:off x="357963" y="4876800"/>
            <a:ext cx="5660065" cy="1743740"/>
          </a:xfrm>
          <a:custGeom>
            <a:rect b="b" l="l" r="r" t="t"/>
            <a:pathLst>
              <a:path extrusionOk="0" h="1743740" w="5660065">
                <a:moveTo>
                  <a:pt x="70883" y="0"/>
                </a:moveTo>
                <a:lnTo>
                  <a:pt x="5589182" y="0"/>
                </a:lnTo>
                <a:cubicBezTo>
                  <a:pt x="5628330" y="0"/>
                  <a:pt x="5660065" y="31735"/>
                  <a:pt x="5660065" y="70883"/>
                </a:cubicBezTo>
                <a:lnTo>
                  <a:pt x="5660065" y="1672857"/>
                </a:lnTo>
                <a:cubicBezTo>
                  <a:pt x="5660065" y="1712004"/>
                  <a:pt x="5628330" y="1743740"/>
                  <a:pt x="5589182" y="1743740"/>
                </a:cubicBezTo>
                <a:lnTo>
                  <a:pt x="70883" y="1743740"/>
                </a:lnTo>
                <a:cubicBezTo>
                  <a:pt x="31735" y="1743740"/>
                  <a:pt x="0" y="1712004"/>
                  <a:pt x="0" y="1672857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03274" y="5039833"/>
            <a:ext cx="265814" cy="212651"/>
          </a:xfrm>
          <a:custGeom>
            <a:rect b="b" l="l" r="r" t="t"/>
            <a:pathLst>
              <a:path extrusionOk="0" h="212651" w="265814">
                <a:moveTo>
                  <a:pt x="132907" y="6645"/>
                </a:moveTo>
                <a:cubicBezTo>
                  <a:pt x="156747" y="6645"/>
                  <a:pt x="176102" y="26000"/>
                  <a:pt x="176102" y="49840"/>
                </a:cubicBezTo>
                <a:cubicBezTo>
                  <a:pt x="176102" y="73680"/>
                  <a:pt x="156747" y="93035"/>
                  <a:pt x="132907" y="93035"/>
                </a:cubicBezTo>
                <a:cubicBezTo>
                  <a:pt x="109067" y="93035"/>
                  <a:pt x="89712" y="73680"/>
                  <a:pt x="89712" y="49840"/>
                </a:cubicBezTo>
                <a:cubicBezTo>
                  <a:pt x="89712" y="26000"/>
                  <a:pt x="109067" y="6645"/>
                  <a:pt x="132907" y="6645"/>
                </a:cubicBezTo>
                <a:close/>
                <a:moveTo>
                  <a:pt x="39872" y="36549"/>
                </a:moveTo>
                <a:cubicBezTo>
                  <a:pt x="56377" y="36549"/>
                  <a:pt x="69776" y="49949"/>
                  <a:pt x="69776" y="66453"/>
                </a:cubicBezTo>
                <a:cubicBezTo>
                  <a:pt x="69776" y="82958"/>
                  <a:pt x="56377" y="96358"/>
                  <a:pt x="39872" y="96358"/>
                </a:cubicBezTo>
                <a:cubicBezTo>
                  <a:pt x="23368" y="96358"/>
                  <a:pt x="9968" y="82958"/>
                  <a:pt x="9968" y="66453"/>
                </a:cubicBezTo>
                <a:cubicBezTo>
                  <a:pt x="9968" y="49949"/>
                  <a:pt x="23368" y="36549"/>
                  <a:pt x="39872" y="36549"/>
                </a:cubicBezTo>
                <a:close/>
                <a:moveTo>
                  <a:pt x="0" y="172779"/>
                </a:moveTo>
                <a:cubicBezTo>
                  <a:pt x="0" y="143415"/>
                  <a:pt x="23799" y="119616"/>
                  <a:pt x="53163" y="119616"/>
                </a:cubicBezTo>
                <a:cubicBezTo>
                  <a:pt x="58479" y="119616"/>
                  <a:pt x="63629" y="120405"/>
                  <a:pt x="68489" y="121859"/>
                </a:cubicBezTo>
                <a:cubicBezTo>
                  <a:pt x="54824" y="137143"/>
                  <a:pt x="46517" y="157329"/>
                  <a:pt x="46517" y="179424"/>
                </a:cubicBezTo>
                <a:lnTo>
                  <a:pt x="46517" y="186070"/>
                </a:lnTo>
                <a:cubicBezTo>
                  <a:pt x="46517" y="190805"/>
                  <a:pt x="47514" y="195290"/>
                  <a:pt x="49300" y="199360"/>
                </a:cubicBezTo>
                <a:lnTo>
                  <a:pt x="13291" y="199360"/>
                </a:lnTo>
                <a:cubicBezTo>
                  <a:pt x="5939" y="199360"/>
                  <a:pt x="0" y="193421"/>
                  <a:pt x="0" y="186070"/>
                </a:cubicBezTo>
                <a:lnTo>
                  <a:pt x="0" y="172779"/>
                </a:lnTo>
                <a:close/>
                <a:moveTo>
                  <a:pt x="216514" y="199360"/>
                </a:moveTo>
                <a:cubicBezTo>
                  <a:pt x="218300" y="195290"/>
                  <a:pt x="219297" y="190805"/>
                  <a:pt x="219297" y="186070"/>
                </a:cubicBezTo>
                <a:lnTo>
                  <a:pt x="219297" y="179424"/>
                </a:lnTo>
                <a:cubicBezTo>
                  <a:pt x="219297" y="157329"/>
                  <a:pt x="210990" y="137143"/>
                  <a:pt x="197325" y="121859"/>
                </a:cubicBezTo>
                <a:cubicBezTo>
                  <a:pt x="202185" y="120405"/>
                  <a:pt x="207335" y="119616"/>
                  <a:pt x="212651" y="119616"/>
                </a:cubicBezTo>
                <a:cubicBezTo>
                  <a:pt x="242015" y="119616"/>
                  <a:pt x="265814" y="143415"/>
                  <a:pt x="265814" y="172779"/>
                </a:cubicBezTo>
                <a:lnTo>
                  <a:pt x="265814" y="186070"/>
                </a:lnTo>
                <a:cubicBezTo>
                  <a:pt x="265814" y="193421"/>
                  <a:pt x="259875" y="199360"/>
                  <a:pt x="252523" y="199360"/>
                </a:cubicBezTo>
                <a:lnTo>
                  <a:pt x="216514" y="199360"/>
                </a:lnTo>
                <a:close/>
                <a:moveTo>
                  <a:pt x="196038" y="66453"/>
                </a:moveTo>
                <a:cubicBezTo>
                  <a:pt x="196038" y="49949"/>
                  <a:pt x="209437" y="36549"/>
                  <a:pt x="225942" y="36549"/>
                </a:cubicBezTo>
                <a:cubicBezTo>
                  <a:pt x="242446" y="36549"/>
                  <a:pt x="255846" y="49949"/>
                  <a:pt x="255846" y="66453"/>
                </a:cubicBezTo>
                <a:cubicBezTo>
                  <a:pt x="255846" y="82958"/>
                  <a:pt x="242446" y="96358"/>
                  <a:pt x="225942" y="96358"/>
                </a:cubicBezTo>
                <a:cubicBezTo>
                  <a:pt x="209437" y="96358"/>
                  <a:pt x="196038" y="82958"/>
                  <a:pt x="196038" y="66453"/>
                </a:cubicBezTo>
                <a:close/>
                <a:moveTo>
                  <a:pt x="66453" y="179424"/>
                </a:moveTo>
                <a:cubicBezTo>
                  <a:pt x="66453" y="142709"/>
                  <a:pt x="96191" y="112971"/>
                  <a:pt x="132907" y="112971"/>
                </a:cubicBezTo>
                <a:cubicBezTo>
                  <a:pt x="169623" y="112971"/>
                  <a:pt x="199360" y="142709"/>
                  <a:pt x="199360" y="179424"/>
                </a:cubicBezTo>
                <a:lnTo>
                  <a:pt x="199360" y="186070"/>
                </a:lnTo>
                <a:cubicBezTo>
                  <a:pt x="199360" y="193421"/>
                  <a:pt x="193421" y="199360"/>
                  <a:pt x="186070" y="199360"/>
                </a:cubicBezTo>
                <a:lnTo>
                  <a:pt x="79744" y="199360"/>
                </a:lnTo>
                <a:cubicBezTo>
                  <a:pt x="72393" y="199360"/>
                  <a:pt x="66453" y="193421"/>
                  <a:pt x="66453" y="186070"/>
                </a:cubicBezTo>
                <a:lnTo>
                  <a:pt x="66453" y="179424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75414" y="5022112"/>
            <a:ext cx="1231605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Demographics</a:t>
            </a:r>
            <a:endParaRPr b="0" i="0" sz="1600" u="none" cap="none" strike="noStrike"/>
          </a:p>
        </p:txBody>
      </p:sp>
      <p:sp>
        <p:nvSpPr>
          <p:cNvPr id="115" name="Google Shape;115;p6"/>
          <p:cNvSpPr/>
          <p:nvPr/>
        </p:nvSpPr>
        <p:spPr>
          <a:xfrm>
            <a:off x="503274" y="5376531"/>
            <a:ext cx="2631558" cy="815163"/>
          </a:xfrm>
          <a:custGeom>
            <a:rect b="b" l="l" r="r" t="t"/>
            <a:pathLst>
              <a:path extrusionOk="0" h="815163" w="2631558">
                <a:moveTo>
                  <a:pt x="35443" y="0"/>
                </a:moveTo>
                <a:lnTo>
                  <a:pt x="2596115" y="0"/>
                </a:lnTo>
                <a:cubicBezTo>
                  <a:pt x="2615690" y="0"/>
                  <a:pt x="2631558" y="15868"/>
                  <a:pt x="2631558" y="35443"/>
                </a:cubicBezTo>
                <a:lnTo>
                  <a:pt x="2631558" y="779720"/>
                </a:lnTo>
                <a:cubicBezTo>
                  <a:pt x="2631558" y="799294"/>
                  <a:pt x="2615690" y="815163"/>
                  <a:pt x="2596115" y="815163"/>
                </a:cubicBezTo>
                <a:lnTo>
                  <a:pt x="35443" y="815163"/>
                </a:lnTo>
                <a:cubicBezTo>
                  <a:pt x="15868" y="815163"/>
                  <a:pt x="0" y="799294"/>
                  <a:pt x="0" y="779720"/>
                </a:cubicBezTo>
                <a:lnTo>
                  <a:pt x="0" y="35443"/>
                </a:lnTo>
                <a:cubicBezTo>
                  <a:pt x="0" y="15868"/>
                  <a:pt x="15868" y="0"/>
                  <a:pt x="3544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529856" y="5482856"/>
            <a:ext cx="2578395" cy="354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12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~10,990</a:t>
            </a:r>
            <a:endParaRPr b="0" i="0" sz="1600" u="none" cap="none" strike="noStrike"/>
          </a:p>
        </p:txBody>
      </p:sp>
      <p:sp>
        <p:nvSpPr>
          <p:cNvPr id="117" name="Google Shape;117;p6"/>
          <p:cNvSpPr/>
          <p:nvPr/>
        </p:nvSpPr>
        <p:spPr>
          <a:xfrm>
            <a:off x="574158" y="5872717"/>
            <a:ext cx="2489791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Urban Population</a:t>
            </a:r>
            <a:endParaRPr b="0" i="0" sz="1600" u="none" cap="none" strike="noStrike"/>
          </a:p>
        </p:txBody>
      </p:sp>
      <p:sp>
        <p:nvSpPr>
          <p:cNvPr id="118" name="Google Shape;118;p6"/>
          <p:cNvSpPr/>
          <p:nvPr/>
        </p:nvSpPr>
        <p:spPr>
          <a:xfrm>
            <a:off x="3242930" y="5376531"/>
            <a:ext cx="2631558" cy="815163"/>
          </a:xfrm>
          <a:custGeom>
            <a:rect b="b" l="l" r="r" t="t"/>
            <a:pathLst>
              <a:path extrusionOk="0" h="815163" w="2631558">
                <a:moveTo>
                  <a:pt x="35443" y="0"/>
                </a:moveTo>
                <a:lnTo>
                  <a:pt x="2596115" y="0"/>
                </a:lnTo>
                <a:cubicBezTo>
                  <a:pt x="2615690" y="0"/>
                  <a:pt x="2631558" y="15868"/>
                  <a:pt x="2631558" y="35443"/>
                </a:cubicBezTo>
                <a:lnTo>
                  <a:pt x="2631558" y="779720"/>
                </a:lnTo>
                <a:cubicBezTo>
                  <a:pt x="2631558" y="799294"/>
                  <a:pt x="2615690" y="815163"/>
                  <a:pt x="2596115" y="815163"/>
                </a:cubicBezTo>
                <a:lnTo>
                  <a:pt x="35443" y="815163"/>
                </a:lnTo>
                <a:cubicBezTo>
                  <a:pt x="15868" y="815163"/>
                  <a:pt x="0" y="799294"/>
                  <a:pt x="0" y="779720"/>
                </a:cubicBezTo>
                <a:lnTo>
                  <a:pt x="0" y="35443"/>
                </a:lnTo>
                <a:cubicBezTo>
                  <a:pt x="0" y="15868"/>
                  <a:pt x="15868" y="0"/>
                  <a:pt x="3544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269512" y="5482856"/>
            <a:ext cx="2578395" cy="354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12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~57,826</a:t>
            </a:r>
            <a:endParaRPr b="0" i="0" sz="1600" u="none" cap="none" strike="noStrike"/>
          </a:p>
        </p:txBody>
      </p:sp>
      <p:sp>
        <p:nvSpPr>
          <p:cNvPr id="120" name="Google Shape;120;p6"/>
          <p:cNvSpPr/>
          <p:nvPr/>
        </p:nvSpPr>
        <p:spPr>
          <a:xfrm>
            <a:off x="3313814" y="5872717"/>
            <a:ext cx="2489791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Sub-County Total</a:t>
            </a:r>
            <a:endParaRPr b="0" i="0" sz="1600" u="none" cap="none" strike="noStrike"/>
          </a:p>
        </p:txBody>
      </p:sp>
      <p:sp>
        <p:nvSpPr>
          <p:cNvPr id="121" name="Google Shape;121;p6"/>
          <p:cNvSpPr/>
          <p:nvPr/>
        </p:nvSpPr>
        <p:spPr>
          <a:xfrm>
            <a:off x="503274" y="6262577"/>
            <a:ext cx="5440326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KNBS 2019 Census, Isiolo CIDP 2023-2027</a:t>
            </a:r>
            <a:endParaRPr b="0" i="0" sz="1600" u="none" cap="none" strike="noStrike"/>
          </a:p>
        </p:txBody>
      </p:sp>
      <p:sp>
        <p:nvSpPr>
          <p:cNvPr id="122" name="Google Shape;122;p6"/>
          <p:cNvSpPr/>
          <p:nvPr/>
        </p:nvSpPr>
        <p:spPr>
          <a:xfrm>
            <a:off x="6170428" y="1350335"/>
            <a:ext cx="5660065" cy="3870251"/>
          </a:xfrm>
          <a:custGeom>
            <a:rect b="b" l="l" r="r" t="t"/>
            <a:pathLst>
              <a:path extrusionOk="0" h="3870251" w="5660065">
                <a:moveTo>
                  <a:pt x="70903" y="0"/>
                </a:moveTo>
                <a:lnTo>
                  <a:pt x="5589162" y="0"/>
                </a:lnTo>
                <a:cubicBezTo>
                  <a:pt x="5628321" y="0"/>
                  <a:pt x="5660065" y="31744"/>
                  <a:pt x="5660065" y="70903"/>
                </a:cubicBezTo>
                <a:lnTo>
                  <a:pt x="5660065" y="3799348"/>
                </a:lnTo>
                <a:cubicBezTo>
                  <a:pt x="5660065" y="3838507"/>
                  <a:pt x="5628321" y="3870251"/>
                  <a:pt x="5589162" y="3870251"/>
                </a:cubicBezTo>
                <a:lnTo>
                  <a:pt x="70903" y="3870251"/>
                </a:lnTo>
                <a:cubicBezTo>
                  <a:pt x="31744" y="3870251"/>
                  <a:pt x="0" y="3838507"/>
                  <a:pt x="0" y="3799348"/>
                </a:cubicBezTo>
                <a:lnTo>
                  <a:pt x="0" y="70903"/>
                </a:lnTo>
                <a:cubicBezTo>
                  <a:pt x="0" y="31744"/>
                  <a:pt x="31744" y="0"/>
                  <a:pt x="70903" y="0"/>
                </a:cubicBezTo>
                <a:close/>
              </a:path>
            </a:pathLst>
          </a:custGeom>
          <a:gradFill>
            <a:gsLst>
              <a:gs pos="0">
                <a:srgbClr val="38A169">
                  <a:alpha val="20000"/>
                </a:srgbClr>
              </a:gs>
              <a:gs pos="100000">
                <a:srgbClr val="38A169">
                  <a:alpha val="5098"/>
                </a:srgbClr>
              </a:gs>
            </a:gsLst>
            <a:lin ang="2700000" scaled="0"/>
          </a:gradFill>
          <a:ln cap="flat" cmpd="sng" w="10150">
            <a:solidFill>
              <a:srgbClr val="38A1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355612" y="1513368"/>
            <a:ext cx="186070" cy="212651"/>
          </a:xfrm>
          <a:custGeom>
            <a:rect b="b" l="l" r="r" t="t"/>
            <a:pathLst>
              <a:path extrusionOk="0" h="212651" w="186070">
                <a:moveTo>
                  <a:pt x="140715" y="-4112"/>
                </a:moveTo>
                <a:cubicBezTo>
                  <a:pt x="145658" y="-540"/>
                  <a:pt x="147485" y="5939"/>
                  <a:pt x="145242" y="11588"/>
                </a:cubicBezTo>
                <a:lnTo>
                  <a:pt x="112680" y="93035"/>
                </a:lnTo>
                <a:lnTo>
                  <a:pt x="172779" y="93035"/>
                </a:lnTo>
                <a:cubicBezTo>
                  <a:pt x="178386" y="93035"/>
                  <a:pt x="183370" y="96524"/>
                  <a:pt x="185281" y="101798"/>
                </a:cubicBezTo>
                <a:cubicBezTo>
                  <a:pt x="187191" y="107073"/>
                  <a:pt x="185571" y="112971"/>
                  <a:pt x="181293" y="116543"/>
                </a:cubicBezTo>
                <a:lnTo>
                  <a:pt x="61677" y="216223"/>
                </a:lnTo>
                <a:cubicBezTo>
                  <a:pt x="56984" y="220127"/>
                  <a:pt x="50297" y="220335"/>
                  <a:pt x="45355" y="216763"/>
                </a:cubicBezTo>
                <a:cubicBezTo>
                  <a:pt x="40412" y="213191"/>
                  <a:pt x="38585" y="206712"/>
                  <a:pt x="40827" y="201063"/>
                </a:cubicBezTo>
                <a:lnTo>
                  <a:pt x="73390" y="119616"/>
                </a:lnTo>
                <a:lnTo>
                  <a:pt x="13291" y="119616"/>
                </a:lnTo>
                <a:cubicBezTo>
                  <a:pt x="7684" y="119616"/>
                  <a:pt x="2700" y="116127"/>
                  <a:pt x="789" y="110853"/>
                </a:cubicBezTo>
                <a:cubicBezTo>
                  <a:pt x="-1121" y="105578"/>
                  <a:pt x="498" y="99680"/>
                  <a:pt x="4776" y="96108"/>
                </a:cubicBezTo>
                <a:lnTo>
                  <a:pt x="124393" y="-3572"/>
                </a:lnTo>
                <a:cubicBezTo>
                  <a:pt x="129086" y="-7476"/>
                  <a:pt x="135773" y="-7684"/>
                  <a:pt x="140715" y="-4112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687879" y="1495647"/>
            <a:ext cx="1710070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Abundant Resources</a:t>
            </a:r>
            <a:endParaRPr b="0" i="0" sz="1600" u="none" cap="none" strike="noStrike"/>
          </a:p>
        </p:txBody>
      </p:sp>
      <p:sp>
        <p:nvSpPr>
          <p:cNvPr id="125" name="Google Shape;125;p6"/>
          <p:cNvSpPr/>
          <p:nvPr/>
        </p:nvSpPr>
        <p:spPr>
          <a:xfrm>
            <a:off x="6315739" y="1850066"/>
            <a:ext cx="5369442" cy="1027814"/>
          </a:xfrm>
          <a:custGeom>
            <a:rect b="b" l="l" r="r" t="t"/>
            <a:pathLst>
              <a:path extrusionOk="0" h="1027814" w="5369442">
                <a:moveTo>
                  <a:pt x="70888" y="0"/>
                </a:moveTo>
                <a:lnTo>
                  <a:pt x="5298554" y="0"/>
                </a:lnTo>
                <a:cubicBezTo>
                  <a:pt x="5337704" y="0"/>
                  <a:pt x="5369442" y="31738"/>
                  <a:pt x="5369442" y="70888"/>
                </a:cubicBezTo>
                <a:lnTo>
                  <a:pt x="5369442" y="956926"/>
                </a:lnTo>
                <a:cubicBezTo>
                  <a:pt x="5369442" y="996076"/>
                  <a:pt x="5337704" y="1027814"/>
                  <a:pt x="5298554" y="1027814"/>
                </a:cubicBezTo>
                <a:lnTo>
                  <a:pt x="70888" y="1027814"/>
                </a:lnTo>
                <a:cubicBezTo>
                  <a:pt x="31738" y="1027814"/>
                  <a:pt x="0" y="996076"/>
                  <a:pt x="0" y="956926"/>
                </a:cubicBezTo>
                <a:lnTo>
                  <a:pt x="0" y="70888"/>
                </a:lnTo>
                <a:cubicBezTo>
                  <a:pt x="0" y="31738"/>
                  <a:pt x="31738" y="0"/>
                  <a:pt x="7088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422065" y="2009554"/>
            <a:ext cx="1036674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 Irradiance</a:t>
            </a:r>
            <a:endParaRPr b="0" i="0" sz="160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11096957" y="1956391"/>
            <a:ext cx="620233" cy="318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3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6.16</a:t>
            </a:r>
            <a:endParaRPr b="0" i="0" sz="1600" u="none" cap="none" strike="noStrike"/>
          </a:p>
        </p:txBody>
      </p:sp>
      <p:sp>
        <p:nvSpPr>
          <p:cNvPr id="128" name="Google Shape;128;p6"/>
          <p:cNvSpPr/>
          <p:nvPr/>
        </p:nvSpPr>
        <p:spPr>
          <a:xfrm>
            <a:off x="6422065" y="2310810"/>
            <a:ext cx="5227674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kWh/m²/day — Excellent resource</a:t>
            </a:r>
            <a:endParaRPr b="0" i="0" sz="1600" u="none" cap="none" strike="noStrike"/>
          </a:p>
        </p:txBody>
      </p:sp>
      <p:sp>
        <p:nvSpPr>
          <p:cNvPr id="129" name="Google Shape;129;p6"/>
          <p:cNvSpPr/>
          <p:nvPr/>
        </p:nvSpPr>
        <p:spPr>
          <a:xfrm>
            <a:off x="6422065" y="2558903"/>
            <a:ext cx="5227674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NASA POWER 39-46yr dataset</a:t>
            </a:r>
            <a:endParaRPr b="0" i="0" sz="160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6315739" y="2948763"/>
            <a:ext cx="5369442" cy="1027814"/>
          </a:xfrm>
          <a:custGeom>
            <a:rect b="b" l="l" r="r" t="t"/>
            <a:pathLst>
              <a:path extrusionOk="0" h="1027814" w="5369442">
                <a:moveTo>
                  <a:pt x="70888" y="0"/>
                </a:moveTo>
                <a:lnTo>
                  <a:pt x="5298554" y="0"/>
                </a:lnTo>
                <a:cubicBezTo>
                  <a:pt x="5337704" y="0"/>
                  <a:pt x="5369442" y="31738"/>
                  <a:pt x="5369442" y="70888"/>
                </a:cubicBezTo>
                <a:lnTo>
                  <a:pt x="5369442" y="956926"/>
                </a:lnTo>
                <a:cubicBezTo>
                  <a:pt x="5369442" y="996076"/>
                  <a:pt x="5337704" y="1027814"/>
                  <a:pt x="5298554" y="1027814"/>
                </a:cubicBezTo>
                <a:lnTo>
                  <a:pt x="70888" y="1027814"/>
                </a:lnTo>
                <a:cubicBezTo>
                  <a:pt x="31738" y="1027814"/>
                  <a:pt x="0" y="996076"/>
                  <a:pt x="0" y="956926"/>
                </a:cubicBezTo>
                <a:lnTo>
                  <a:pt x="0" y="70888"/>
                </a:lnTo>
                <a:cubicBezTo>
                  <a:pt x="0" y="31738"/>
                  <a:pt x="31738" y="0"/>
                  <a:pt x="7088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422065" y="3108252"/>
            <a:ext cx="1018953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 Resource</a:t>
            </a:r>
            <a:endParaRPr b="0" i="0" sz="160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11050219" y="3055089"/>
            <a:ext cx="664535" cy="318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3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6.95</a:t>
            </a:r>
            <a:endParaRPr b="0" i="0" sz="160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6422065" y="3409507"/>
            <a:ext cx="5227674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m/s at 100m — Strong potential</a:t>
            </a:r>
            <a:endParaRPr b="0" i="0" sz="1600" u="none" cap="none" strike="noStrike"/>
          </a:p>
        </p:txBody>
      </p:sp>
      <p:sp>
        <p:nvSpPr>
          <p:cNvPr id="134" name="Google Shape;134;p6"/>
          <p:cNvSpPr/>
          <p:nvPr/>
        </p:nvSpPr>
        <p:spPr>
          <a:xfrm>
            <a:off x="6422065" y="3657600"/>
            <a:ext cx="5227674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Global Wind Atlas</a:t>
            </a:r>
            <a:endParaRPr b="0" i="0" sz="160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6315739" y="4047461"/>
            <a:ext cx="5369442" cy="1027814"/>
          </a:xfrm>
          <a:custGeom>
            <a:rect b="b" l="l" r="r" t="t"/>
            <a:pathLst>
              <a:path extrusionOk="0" h="1027814" w="5369442">
                <a:moveTo>
                  <a:pt x="70888" y="0"/>
                </a:moveTo>
                <a:lnTo>
                  <a:pt x="5298554" y="0"/>
                </a:lnTo>
                <a:cubicBezTo>
                  <a:pt x="5337704" y="0"/>
                  <a:pt x="5369442" y="31738"/>
                  <a:pt x="5369442" y="70888"/>
                </a:cubicBezTo>
                <a:lnTo>
                  <a:pt x="5369442" y="956926"/>
                </a:lnTo>
                <a:cubicBezTo>
                  <a:pt x="5369442" y="996076"/>
                  <a:pt x="5337704" y="1027814"/>
                  <a:pt x="5298554" y="1027814"/>
                </a:cubicBezTo>
                <a:lnTo>
                  <a:pt x="70888" y="1027814"/>
                </a:lnTo>
                <a:cubicBezTo>
                  <a:pt x="31738" y="1027814"/>
                  <a:pt x="0" y="996076"/>
                  <a:pt x="0" y="956926"/>
                </a:cubicBezTo>
                <a:lnTo>
                  <a:pt x="0" y="70888"/>
                </a:lnTo>
                <a:cubicBezTo>
                  <a:pt x="0" y="31738"/>
                  <a:pt x="31738" y="0"/>
                  <a:pt x="7088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422065" y="4206949"/>
            <a:ext cx="1151860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Relative Humidity</a:t>
            </a:r>
            <a:endParaRPr b="0" i="0" sz="160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11082338" y="4153786"/>
            <a:ext cx="629093" cy="318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3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57%</a:t>
            </a:r>
            <a:endParaRPr b="0" i="0" sz="1600" u="none" cap="none" strike="noStrike"/>
          </a:p>
        </p:txBody>
      </p:sp>
      <p:sp>
        <p:nvSpPr>
          <p:cNvPr id="138" name="Google Shape;138;p6"/>
          <p:cNvSpPr/>
          <p:nvPr/>
        </p:nvSpPr>
        <p:spPr>
          <a:xfrm>
            <a:off x="6422065" y="4508205"/>
            <a:ext cx="5227674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 annual — Borderline for AWG</a:t>
            </a:r>
            <a:endParaRPr b="0" i="0" sz="160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6422065" y="4756298"/>
            <a:ext cx="5227674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Seasonal variation unknown</a:t>
            </a:r>
            <a:endParaRPr b="0" i="0" sz="160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6184605" y="5365899"/>
            <a:ext cx="5652977" cy="1258186"/>
          </a:xfrm>
          <a:custGeom>
            <a:rect b="b" l="l" r="r" t="t"/>
            <a:pathLst>
              <a:path extrusionOk="0" h="1258186" w="5652977">
                <a:moveTo>
                  <a:pt x="35442" y="0"/>
                </a:moveTo>
                <a:lnTo>
                  <a:pt x="5582091" y="0"/>
                </a:lnTo>
                <a:cubicBezTo>
                  <a:pt x="5621240" y="0"/>
                  <a:pt x="5652977" y="31737"/>
                  <a:pt x="5652977" y="70886"/>
                </a:cubicBezTo>
                <a:lnTo>
                  <a:pt x="5652977" y="1187300"/>
                </a:lnTo>
                <a:cubicBezTo>
                  <a:pt x="5652977" y="1226449"/>
                  <a:pt x="5621240" y="1258186"/>
                  <a:pt x="5582091" y="1258186"/>
                </a:cubicBezTo>
                <a:lnTo>
                  <a:pt x="35442" y="1258186"/>
                </a:lnTo>
                <a:cubicBezTo>
                  <a:pt x="15868" y="1258186"/>
                  <a:pt x="0" y="1242318"/>
                  <a:pt x="0" y="122274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184605" y="5365899"/>
            <a:ext cx="35442" cy="1258186"/>
          </a:xfrm>
          <a:custGeom>
            <a:rect b="b" l="l" r="r" t="t"/>
            <a:pathLst>
              <a:path extrusionOk="0" h="1258186" w="35442">
                <a:moveTo>
                  <a:pt x="35442" y="0"/>
                </a:moveTo>
                <a:lnTo>
                  <a:pt x="35442" y="0"/>
                </a:lnTo>
                <a:lnTo>
                  <a:pt x="35442" y="1258186"/>
                </a:lnTo>
                <a:lnTo>
                  <a:pt x="35442" y="1258186"/>
                </a:lnTo>
                <a:cubicBezTo>
                  <a:pt x="15868" y="1258186"/>
                  <a:pt x="0" y="1242318"/>
                  <a:pt x="0" y="122274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326372" y="5543108"/>
            <a:ext cx="177209" cy="177209"/>
          </a:xfrm>
          <a:custGeom>
            <a:rect b="b" l="l" r="r" t="t"/>
            <a:pathLst>
              <a:path extrusionOk="0" h="177209" w="177209">
                <a:moveTo>
                  <a:pt x="88605" y="0"/>
                </a:moveTo>
                <a:cubicBezTo>
                  <a:pt x="93692" y="0"/>
                  <a:pt x="98365" y="2804"/>
                  <a:pt x="100788" y="7268"/>
                </a:cubicBezTo>
                <a:lnTo>
                  <a:pt x="175548" y="145713"/>
                </a:lnTo>
                <a:cubicBezTo>
                  <a:pt x="177867" y="150005"/>
                  <a:pt x="177763" y="155197"/>
                  <a:pt x="175271" y="159385"/>
                </a:cubicBezTo>
                <a:cubicBezTo>
                  <a:pt x="172779" y="163572"/>
                  <a:pt x="168245" y="166134"/>
                  <a:pt x="163365" y="166134"/>
                </a:cubicBezTo>
                <a:lnTo>
                  <a:pt x="13844" y="166134"/>
                </a:lnTo>
                <a:cubicBezTo>
                  <a:pt x="8964" y="166134"/>
                  <a:pt x="4465" y="163572"/>
                  <a:pt x="1938" y="159385"/>
                </a:cubicBezTo>
                <a:cubicBezTo>
                  <a:pt x="-588" y="155197"/>
                  <a:pt x="-658" y="150005"/>
                  <a:pt x="1661" y="145713"/>
                </a:cubicBezTo>
                <a:lnTo>
                  <a:pt x="76422" y="7268"/>
                </a:lnTo>
                <a:cubicBezTo>
                  <a:pt x="78844" y="2804"/>
                  <a:pt x="83517" y="0"/>
                  <a:pt x="88605" y="0"/>
                </a:cubicBezTo>
                <a:close/>
                <a:moveTo>
                  <a:pt x="88605" y="58147"/>
                </a:moveTo>
                <a:cubicBezTo>
                  <a:pt x="84001" y="58147"/>
                  <a:pt x="80298" y="61850"/>
                  <a:pt x="80298" y="66453"/>
                </a:cubicBezTo>
                <a:lnTo>
                  <a:pt x="80298" y="105218"/>
                </a:lnTo>
                <a:cubicBezTo>
                  <a:pt x="80298" y="109821"/>
                  <a:pt x="84001" y="113525"/>
                  <a:pt x="88605" y="113525"/>
                </a:cubicBezTo>
                <a:cubicBezTo>
                  <a:pt x="93208" y="113525"/>
                  <a:pt x="96911" y="109821"/>
                  <a:pt x="96911" y="105218"/>
                </a:cubicBezTo>
                <a:lnTo>
                  <a:pt x="96911" y="66453"/>
                </a:lnTo>
                <a:cubicBezTo>
                  <a:pt x="96911" y="61850"/>
                  <a:pt x="93208" y="58147"/>
                  <a:pt x="88605" y="58147"/>
                </a:cubicBezTo>
                <a:close/>
                <a:moveTo>
                  <a:pt x="97846" y="132907"/>
                </a:moveTo>
                <a:cubicBezTo>
                  <a:pt x="98056" y="129477"/>
                  <a:pt x="96345" y="126213"/>
                  <a:pt x="93405" y="124435"/>
                </a:cubicBezTo>
                <a:cubicBezTo>
                  <a:pt x="90464" y="122656"/>
                  <a:pt x="86780" y="122656"/>
                  <a:pt x="83839" y="124435"/>
                </a:cubicBezTo>
                <a:cubicBezTo>
                  <a:pt x="80898" y="126213"/>
                  <a:pt x="79188" y="129477"/>
                  <a:pt x="79398" y="132907"/>
                </a:cubicBezTo>
                <a:cubicBezTo>
                  <a:pt x="79188" y="136337"/>
                  <a:pt x="80898" y="139601"/>
                  <a:pt x="83839" y="141379"/>
                </a:cubicBezTo>
                <a:cubicBezTo>
                  <a:pt x="86780" y="143158"/>
                  <a:pt x="90464" y="143158"/>
                  <a:pt x="93405" y="141379"/>
                </a:cubicBezTo>
                <a:cubicBezTo>
                  <a:pt x="96345" y="139601"/>
                  <a:pt x="98056" y="136337"/>
                  <a:pt x="97846" y="132907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588310" y="5507666"/>
            <a:ext cx="5183372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6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The Energy Poverty Paradox</a:t>
            </a:r>
            <a:endParaRPr b="0" i="0" sz="160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6588310" y="5791201"/>
            <a:ext cx="5174512" cy="691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Despite exceptional renewable resources, Isiolo County has only </a:t>
            </a:r>
            <a:r>
              <a:rPr b="1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22.7% electricity access</a:t>
            </a:r>
            <a:r>
              <a:rPr b="0" i="0" lang="en-US" sz="111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(KNBS 2015). 85% of households rely on firewood for cooking. SHEPA aims to transform this resource abundance into energy access.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357275" y="464457"/>
            <a:ext cx="53591" cy="357275"/>
          </a:xfrm>
          <a:custGeom>
            <a:rect b="b" l="l" r="r" t="t"/>
            <a:pathLst>
              <a:path extrusionOk="0" h="357275" w="53591">
                <a:moveTo>
                  <a:pt x="0" y="0"/>
                </a:moveTo>
                <a:lnTo>
                  <a:pt x="53591" y="0"/>
                </a:lnTo>
                <a:lnTo>
                  <a:pt x="53591" y="357275"/>
                </a:lnTo>
                <a:lnTo>
                  <a:pt x="0" y="357275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151" name="Google Shape;151;p7"/>
          <p:cNvSpPr/>
          <p:nvPr/>
        </p:nvSpPr>
        <p:spPr>
          <a:xfrm>
            <a:off x="518048" y="357275"/>
            <a:ext cx="8011886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04</a:t>
            </a:r>
            <a:endParaRPr b="0" i="0" sz="160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518048" y="571640"/>
            <a:ext cx="8101204" cy="357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32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Mweiga vs. Merti: Same Architecture, Different Contexts</a:t>
            </a:r>
            <a:endParaRPr b="0" i="0" sz="160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535912" y="1000369"/>
            <a:ext cx="11370268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site-specific data drives divergent designs despite identical system concepts</a:t>
            </a:r>
            <a:endParaRPr b="0" i="0" sz="160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360847" y="1361217"/>
            <a:ext cx="11475664" cy="4294442"/>
          </a:xfrm>
          <a:custGeom>
            <a:rect b="b" l="l" r="r" t="t"/>
            <a:pathLst>
              <a:path extrusionOk="0" h="4294442" w="11475664">
                <a:moveTo>
                  <a:pt x="71460" y="0"/>
                </a:moveTo>
                <a:lnTo>
                  <a:pt x="11404205" y="0"/>
                </a:lnTo>
                <a:cubicBezTo>
                  <a:pt x="11443671" y="0"/>
                  <a:pt x="11475664" y="31994"/>
                  <a:pt x="11475664" y="71460"/>
                </a:cubicBezTo>
                <a:lnTo>
                  <a:pt x="11475664" y="4222983"/>
                </a:lnTo>
                <a:cubicBezTo>
                  <a:pt x="11475664" y="4262449"/>
                  <a:pt x="11443671" y="4294442"/>
                  <a:pt x="11404205" y="4294442"/>
                </a:cubicBezTo>
                <a:lnTo>
                  <a:pt x="71460" y="4294442"/>
                </a:lnTo>
                <a:cubicBezTo>
                  <a:pt x="31994" y="4294442"/>
                  <a:pt x="0" y="4262449"/>
                  <a:pt x="0" y="4222983"/>
                </a:cubicBezTo>
                <a:lnTo>
                  <a:pt x="0" y="71460"/>
                </a:lnTo>
                <a:cubicBezTo>
                  <a:pt x="0" y="32020"/>
                  <a:pt x="32020" y="0"/>
                  <a:pt x="7146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07330" y="1507702"/>
            <a:ext cx="11272018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7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Comparative Parameters</a:t>
            </a:r>
            <a:endParaRPr b="0" i="0" sz="1600" u="none" cap="none" strike="noStrike"/>
          </a:p>
        </p:txBody>
      </p:sp>
      <p:graphicFrame>
        <p:nvGraphicFramePr>
          <p:cNvPr id="156" name="Google Shape;156;p7"/>
          <p:cNvGraphicFramePr/>
          <p:nvPr/>
        </p:nvGraphicFramePr>
        <p:xfrm>
          <a:off x="507330" y="1864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{8B9C1025-8152-4FE0-969A-C152CAACD106}</a:tableStyleId>
              </a:tblPr>
              <a:tblGrid>
                <a:gridCol w="2429475"/>
                <a:gridCol w="3947875"/>
                <a:gridCol w="4805350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8A169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Parameter</a:t>
                      </a:r>
                      <a:endParaRPr sz="11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38A16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Mweiga (Known)</a:t>
                      </a:r>
                      <a:endParaRPr sz="11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38A16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69E2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Merti (Estimated/Partial)</a:t>
                      </a:r>
                      <a:endParaRPr sz="11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38A16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Solar Irradiance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38A16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5.5 kWh/m²/day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38A16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6.16 kWh/m²/day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                                               (+12%)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38A16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Population Served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~100 people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~10,990 urban / ~57,826 sub-county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Ambient Temperature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~20-25°C (highland)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35°C regularly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                                               (10-15% thermal derating)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Dust/Soiling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Minimal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Severe Jan-Mar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                                               (up to 60% loss on event days)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Wind Resource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Low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Strong: 6.95 m/s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                                               M100 annual mean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Load Inventory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Verified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                                               from community engagement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Not yet confirmed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Water Source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Shared borehole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Unknown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                                               — boreholes exist but unquantified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RH for AWG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Moderate (highland)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57% mean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                                               — seasonal variation unknown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Land Available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Confirmed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F7FAF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Not yet confirmed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1450" marB="71450" marR="107175" marL="10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7"/>
          <p:cNvSpPr/>
          <p:nvPr/>
        </p:nvSpPr>
        <p:spPr>
          <a:xfrm>
            <a:off x="363238" y="5927192"/>
            <a:ext cx="5653873" cy="1053960"/>
          </a:xfrm>
          <a:custGeom>
            <a:rect b="b" l="l" r="r" t="t"/>
            <a:pathLst>
              <a:path extrusionOk="0" h="1053960" w="5653873">
                <a:moveTo>
                  <a:pt x="35727" y="0"/>
                </a:moveTo>
                <a:lnTo>
                  <a:pt x="5582414" y="0"/>
                </a:lnTo>
                <a:cubicBezTo>
                  <a:pt x="5621879" y="0"/>
                  <a:pt x="5653873" y="31993"/>
                  <a:pt x="5653873" y="71459"/>
                </a:cubicBezTo>
                <a:lnTo>
                  <a:pt x="5653873" y="982502"/>
                </a:lnTo>
                <a:cubicBezTo>
                  <a:pt x="5653873" y="1021941"/>
                  <a:pt x="5621853" y="1053960"/>
                  <a:pt x="5582414" y="1053960"/>
                </a:cubicBezTo>
                <a:lnTo>
                  <a:pt x="35727" y="1053960"/>
                </a:lnTo>
                <a:cubicBezTo>
                  <a:pt x="15996" y="1053960"/>
                  <a:pt x="0" y="1037965"/>
                  <a:pt x="0" y="1018233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375138" y="5802142"/>
            <a:ext cx="35727" cy="1053960"/>
          </a:xfrm>
          <a:custGeom>
            <a:rect b="b" l="l" r="r" t="t"/>
            <a:pathLst>
              <a:path extrusionOk="0" h="1053960" w="35727">
                <a:moveTo>
                  <a:pt x="35727" y="0"/>
                </a:moveTo>
                <a:lnTo>
                  <a:pt x="35727" y="0"/>
                </a:lnTo>
                <a:lnTo>
                  <a:pt x="35727" y="1053960"/>
                </a:lnTo>
                <a:lnTo>
                  <a:pt x="35727" y="1053960"/>
                </a:lnTo>
                <a:cubicBezTo>
                  <a:pt x="15996" y="1053960"/>
                  <a:pt x="0" y="1037965"/>
                  <a:pt x="0" y="1018233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82321" y="5945052"/>
            <a:ext cx="178637" cy="178637"/>
          </a:xfrm>
          <a:custGeom>
            <a:rect b="b" l="l" r="r" t="t"/>
            <a:pathLst>
              <a:path extrusionOk="0" h="178637" w="178637">
                <a:moveTo>
                  <a:pt x="89319" y="178637"/>
                </a:moveTo>
                <a:cubicBezTo>
                  <a:pt x="138615" y="178637"/>
                  <a:pt x="178637" y="138615"/>
                  <a:pt x="178637" y="89319"/>
                </a:cubicBezTo>
                <a:cubicBezTo>
                  <a:pt x="178637" y="40022"/>
                  <a:pt x="138615" y="0"/>
                  <a:pt x="89319" y="0"/>
                </a:cubicBezTo>
                <a:cubicBezTo>
                  <a:pt x="40022" y="0"/>
                  <a:pt x="0" y="40022"/>
                  <a:pt x="0" y="89319"/>
                </a:cubicBezTo>
                <a:cubicBezTo>
                  <a:pt x="0" y="138615"/>
                  <a:pt x="40022" y="178637"/>
                  <a:pt x="89319" y="178637"/>
                </a:cubicBezTo>
                <a:close/>
                <a:moveTo>
                  <a:pt x="118766" y="74211"/>
                </a:moveTo>
                <a:lnTo>
                  <a:pt x="90854" y="118871"/>
                </a:lnTo>
                <a:cubicBezTo>
                  <a:pt x="89388" y="121208"/>
                  <a:pt x="86876" y="122674"/>
                  <a:pt x="84120" y="122813"/>
                </a:cubicBezTo>
                <a:cubicBezTo>
                  <a:pt x="81364" y="122953"/>
                  <a:pt x="78712" y="121697"/>
                  <a:pt x="77072" y="119464"/>
                </a:cubicBezTo>
                <a:lnTo>
                  <a:pt x="60325" y="97134"/>
                </a:lnTo>
                <a:cubicBezTo>
                  <a:pt x="57534" y="93436"/>
                  <a:pt x="58301" y="88202"/>
                  <a:pt x="62000" y="85411"/>
                </a:cubicBezTo>
                <a:cubicBezTo>
                  <a:pt x="65698" y="82620"/>
                  <a:pt x="70932" y="83387"/>
                  <a:pt x="73723" y="87086"/>
                </a:cubicBezTo>
                <a:lnTo>
                  <a:pt x="83143" y="99646"/>
                </a:lnTo>
                <a:lnTo>
                  <a:pt x="104566" y="65349"/>
                </a:lnTo>
                <a:cubicBezTo>
                  <a:pt x="107008" y="61441"/>
                  <a:pt x="112172" y="60220"/>
                  <a:pt x="116114" y="62698"/>
                </a:cubicBezTo>
                <a:cubicBezTo>
                  <a:pt x="120057" y="65175"/>
                  <a:pt x="121243" y="70304"/>
                  <a:pt x="118766" y="74246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46369" y="5909325"/>
            <a:ext cx="5243007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Mweiga Success Factor</a:t>
            </a:r>
            <a:endParaRPr b="0" i="0" sz="160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746369" y="6159417"/>
            <a:ext cx="5243007" cy="589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Mweiga design worked because </a:t>
            </a:r>
            <a:r>
              <a:rPr b="1" i="0" lang="en-US" sz="112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was thorough and verified</a:t>
            </a:r>
            <a:r>
              <a:rPr b="0" i="0" lang="en-US" sz="112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through direct community engagement. Load profiles, water sources, and land availability were all confirmed before sizing.</a:t>
            </a:r>
            <a:endParaRPr b="0" i="0" sz="160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6174870" y="5927192"/>
            <a:ext cx="5653873" cy="1053960"/>
          </a:xfrm>
          <a:custGeom>
            <a:rect b="b" l="l" r="r" t="t"/>
            <a:pathLst>
              <a:path extrusionOk="0" h="1053960" w="5653873">
                <a:moveTo>
                  <a:pt x="35727" y="0"/>
                </a:moveTo>
                <a:lnTo>
                  <a:pt x="5582414" y="0"/>
                </a:lnTo>
                <a:cubicBezTo>
                  <a:pt x="5621879" y="0"/>
                  <a:pt x="5653873" y="31993"/>
                  <a:pt x="5653873" y="71459"/>
                </a:cubicBezTo>
                <a:lnTo>
                  <a:pt x="5653873" y="982502"/>
                </a:lnTo>
                <a:cubicBezTo>
                  <a:pt x="5653873" y="1021941"/>
                  <a:pt x="5621853" y="1053960"/>
                  <a:pt x="5582414" y="1053960"/>
                </a:cubicBezTo>
                <a:lnTo>
                  <a:pt x="35727" y="1053960"/>
                </a:lnTo>
                <a:cubicBezTo>
                  <a:pt x="15996" y="1053960"/>
                  <a:pt x="0" y="1037965"/>
                  <a:pt x="0" y="1018233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6186770" y="5802142"/>
            <a:ext cx="35727" cy="1053960"/>
          </a:xfrm>
          <a:custGeom>
            <a:rect b="b" l="l" r="r" t="t"/>
            <a:pathLst>
              <a:path extrusionOk="0" h="1053960" w="35727">
                <a:moveTo>
                  <a:pt x="35727" y="0"/>
                </a:moveTo>
                <a:lnTo>
                  <a:pt x="35727" y="0"/>
                </a:lnTo>
                <a:lnTo>
                  <a:pt x="35727" y="1053960"/>
                </a:lnTo>
                <a:lnTo>
                  <a:pt x="35727" y="1053960"/>
                </a:lnTo>
                <a:cubicBezTo>
                  <a:pt x="15996" y="1053960"/>
                  <a:pt x="0" y="1037965"/>
                  <a:pt x="0" y="1018233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293953" y="5945052"/>
            <a:ext cx="178637" cy="178637"/>
          </a:xfrm>
          <a:custGeom>
            <a:rect b="b" l="l" r="r" t="t"/>
            <a:pathLst>
              <a:path extrusionOk="0" h="178637" w="178637">
                <a:moveTo>
                  <a:pt x="89319" y="0"/>
                </a:moveTo>
                <a:cubicBezTo>
                  <a:pt x="94448" y="0"/>
                  <a:pt x="99158" y="2826"/>
                  <a:pt x="101600" y="7327"/>
                </a:cubicBezTo>
                <a:lnTo>
                  <a:pt x="176963" y="146887"/>
                </a:lnTo>
                <a:cubicBezTo>
                  <a:pt x="179300" y="151214"/>
                  <a:pt x="179196" y="156447"/>
                  <a:pt x="176684" y="160669"/>
                </a:cubicBezTo>
                <a:cubicBezTo>
                  <a:pt x="174171" y="164891"/>
                  <a:pt x="169601" y="167473"/>
                  <a:pt x="164681" y="167473"/>
                </a:cubicBezTo>
                <a:lnTo>
                  <a:pt x="13956" y="167473"/>
                </a:lnTo>
                <a:cubicBezTo>
                  <a:pt x="9037" y="167473"/>
                  <a:pt x="4501" y="164891"/>
                  <a:pt x="1954" y="160669"/>
                </a:cubicBezTo>
                <a:cubicBezTo>
                  <a:pt x="-593" y="156447"/>
                  <a:pt x="-663" y="151214"/>
                  <a:pt x="1675" y="146887"/>
                </a:cubicBezTo>
                <a:lnTo>
                  <a:pt x="77037" y="7327"/>
                </a:lnTo>
                <a:cubicBezTo>
                  <a:pt x="79480" y="2826"/>
                  <a:pt x="84190" y="0"/>
                  <a:pt x="89319" y="0"/>
                </a:cubicBezTo>
                <a:close/>
                <a:moveTo>
                  <a:pt x="89319" y="58615"/>
                </a:moveTo>
                <a:cubicBezTo>
                  <a:pt x="84678" y="58615"/>
                  <a:pt x="80945" y="62349"/>
                  <a:pt x="80945" y="66989"/>
                </a:cubicBezTo>
                <a:lnTo>
                  <a:pt x="80945" y="106066"/>
                </a:lnTo>
                <a:cubicBezTo>
                  <a:pt x="80945" y="110706"/>
                  <a:pt x="84678" y="114440"/>
                  <a:pt x="89319" y="114440"/>
                </a:cubicBezTo>
                <a:cubicBezTo>
                  <a:pt x="93959" y="114440"/>
                  <a:pt x="97692" y="110706"/>
                  <a:pt x="97692" y="106066"/>
                </a:cubicBezTo>
                <a:lnTo>
                  <a:pt x="97692" y="66989"/>
                </a:lnTo>
                <a:cubicBezTo>
                  <a:pt x="97692" y="62349"/>
                  <a:pt x="93959" y="58615"/>
                  <a:pt x="89319" y="58615"/>
                </a:cubicBezTo>
                <a:close/>
                <a:moveTo>
                  <a:pt x="98634" y="133978"/>
                </a:moveTo>
                <a:cubicBezTo>
                  <a:pt x="98846" y="130520"/>
                  <a:pt x="97122" y="127230"/>
                  <a:pt x="94158" y="125437"/>
                </a:cubicBezTo>
                <a:cubicBezTo>
                  <a:pt x="91193" y="123644"/>
                  <a:pt x="87479" y="123644"/>
                  <a:pt x="84515" y="125437"/>
                </a:cubicBezTo>
                <a:cubicBezTo>
                  <a:pt x="81550" y="127230"/>
                  <a:pt x="79826" y="130520"/>
                  <a:pt x="80038" y="133978"/>
                </a:cubicBezTo>
                <a:cubicBezTo>
                  <a:pt x="79826" y="137436"/>
                  <a:pt x="81550" y="140726"/>
                  <a:pt x="84515" y="142519"/>
                </a:cubicBezTo>
                <a:cubicBezTo>
                  <a:pt x="87479" y="144312"/>
                  <a:pt x="91193" y="144312"/>
                  <a:pt x="94158" y="142519"/>
                </a:cubicBezTo>
                <a:cubicBezTo>
                  <a:pt x="97122" y="140726"/>
                  <a:pt x="98846" y="137436"/>
                  <a:pt x="98634" y="133978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558001" y="5909325"/>
            <a:ext cx="5243007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Merti Design Dependency</a:t>
            </a:r>
            <a:endParaRPr b="0" i="0" sz="1600" u="none" cap="none" strike="noStrike"/>
          </a:p>
        </p:txBody>
      </p:sp>
      <p:sp>
        <p:nvSpPr>
          <p:cNvPr id="166" name="Google Shape;166;p7"/>
          <p:cNvSpPr/>
          <p:nvPr/>
        </p:nvSpPr>
        <p:spPr>
          <a:xfrm>
            <a:off x="6558001" y="6159417"/>
            <a:ext cx="5243007" cy="589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Merti's design depends on collecting the same quality of data.</a:t>
            </a:r>
            <a:r>
              <a:rPr b="0" i="0" lang="en-US" sz="112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Without confirmed load inventory, accurate sizing is impossible. The community questionnaire is designed to fill these gaps.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330407" y="429528"/>
            <a:ext cx="49561" cy="330407"/>
          </a:xfrm>
          <a:custGeom>
            <a:rect b="b" l="l" r="r" t="t"/>
            <a:pathLst>
              <a:path extrusionOk="0" h="330407" w="49561">
                <a:moveTo>
                  <a:pt x="0" y="0"/>
                </a:moveTo>
                <a:lnTo>
                  <a:pt x="49561" y="0"/>
                </a:lnTo>
                <a:lnTo>
                  <a:pt x="49561" y="330407"/>
                </a:lnTo>
                <a:lnTo>
                  <a:pt x="0" y="330407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173" name="Google Shape;173;p8"/>
          <p:cNvSpPr/>
          <p:nvPr/>
        </p:nvSpPr>
        <p:spPr>
          <a:xfrm>
            <a:off x="479089" y="330407"/>
            <a:ext cx="3774894" cy="19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03</a:t>
            </a:r>
            <a:endParaRPr b="0" i="0" sz="16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479089" y="528650"/>
            <a:ext cx="3857496" cy="330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41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SHEPA System Architecture</a:t>
            </a:r>
            <a:endParaRPr b="0" i="0" sz="1600" u="none" cap="none" strike="noStrike"/>
          </a:p>
        </p:txBody>
      </p:sp>
      <p:sp>
        <p:nvSpPr>
          <p:cNvPr id="175" name="Google Shape;175;p8"/>
          <p:cNvSpPr/>
          <p:nvPr/>
        </p:nvSpPr>
        <p:spPr>
          <a:xfrm>
            <a:off x="495610" y="925138"/>
            <a:ext cx="11432065" cy="19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1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Integrated Solar-Battery-Hydrogen hybrid microgrid with multi-vector outputs</a:t>
            </a:r>
            <a:endParaRPr b="0" i="0" sz="160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432006" y="1394316"/>
            <a:ext cx="6186862" cy="231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1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System Flow Diagram</a:t>
            </a:r>
            <a:endParaRPr b="0" i="0" sz="160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436137" y="6006790"/>
            <a:ext cx="6178602" cy="19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1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Stella Energy Hybrid Solar-Hydrogen Microgrid Systems</a:t>
            </a:r>
            <a:endParaRPr b="0" i="0" sz="160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6871423" y="1255545"/>
            <a:ext cx="4989138" cy="792976"/>
          </a:xfrm>
          <a:custGeom>
            <a:rect b="b" l="l" r="r" t="t"/>
            <a:pathLst>
              <a:path extrusionOk="0" h="792976" w="4989138">
                <a:moveTo>
                  <a:pt x="33041" y="0"/>
                </a:moveTo>
                <a:lnTo>
                  <a:pt x="4923060" y="0"/>
                </a:lnTo>
                <a:cubicBezTo>
                  <a:pt x="4959554" y="0"/>
                  <a:pt x="4989138" y="29584"/>
                  <a:pt x="4989138" y="66079"/>
                </a:cubicBezTo>
                <a:lnTo>
                  <a:pt x="4989138" y="726897"/>
                </a:lnTo>
                <a:cubicBezTo>
                  <a:pt x="4989138" y="763391"/>
                  <a:pt x="4959554" y="792976"/>
                  <a:pt x="4923060" y="792976"/>
                </a:cubicBezTo>
                <a:lnTo>
                  <a:pt x="33041" y="792976"/>
                </a:lnTo>
                <a:cubicBezTo>
                  <a:pt x="14793" y="792976"/>
                  <a:pt x="0" y="778183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871423" y="1255545"/>
            <a:ext cx="33041" cy="792976"/>
          </a:xfrm>
          <a:custGeom>
            <a:rect b="b" l="l" r="r" t="t"/>
            <a:pathLst>
              <a:path extrusionOk="0" h="792976" w="33041">
                <a:moveTo>
                  <a:pt x="33041" y="0"/>
                </a:moveTo>
                <a:lnTo>
                  <a:pt x="33041" y="0"/>
                </a:lnTo>
                <a:lnTo>
                  <a:pt x="33041" y="792976"/>
                </a:lnTo>
                <a:lnTo>
                  <a:pt x="33041" y="792976"/>
                </a:lnTo>
                <a:cubicBezTo>
                  <a:pt x="14805" y="792976"/>
                  <a:pt x="0" y="778171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998423" y="1379447"/>
            <a:ext cx="167268" cy="148683"/>
          </a:xfrm>
          <a:custGeom>
            <a:rect b="b" l="l" r="r" t="t"/>
            <a:pathLst>
              <a:path extrusionOk="0" h="148683" w="167268">
                <a:moveTo>
                  <a:pt x="51749" y="-2933"/>
                </a:moveTo>
                <a:cubicBezTo>
                  <a:pt x="53898" y="-3833"/>
                  <a:pt x="56337" y="-3572"/>
                  <a:pt x="58283" y="-2294"/>
                </a:cubicBezTo>
                <a:lnTo>
                  <a:pt x="83779" y="14607"/>
                </a:lnTo>
                <a:lnTo>
                  <a:pt x="109276" y="-2294"/>
                </a:lnTo>
                <a:cubicBezTo>
                  <a:pt x="111222" y="-3572"/>
                  <a:pt x="113661" y="-3804"/>
                  <a:pt x="115810" y="-2933"/>
                </a:cubicBezTo>
                <a:cubicBezTo>
                  <a:pt x="117959" y="-2062"/>
                  <a:pt x="119469" y="-145"/>
                  <a:pt x="119934" y="2120"/>
                </a:cubicBezTo>
                <a:lnTo>
                  <a:pt x="126003" y="32089"/>
                </a:lnTo>
                <a:lnTo>
                  <a:pt x="155972" y="38158"/>
                </a:lnTo>
                <a:cubicBezTo>
                  <a:pt x="158237" y="38623"/>
                  <a:pt x="160154" y="40191"/>
                  <a:pt x="161025" y="42311"/>
                </a:cubicBezTo>
                <a:cubicBezTo>
                  <a:pt x="161896" y="44431"/>
                  <a:pt x="161664" y="46899"/>
                  <a:pt x="160386" y="48845"/>
                </a:cubicBezTo>
                <a:lnTo>
                  <a:pt x="143485" y="74341"/>
                </a:lnTo>
                <a:lnTo>
                  <a:pt x="160386" y="99838"/>
                </a:lnTo>
                <a:cubicBezTo>
                  <a:pt x="161664" y="101784"/>
                  <a:pt x="161896" y="104223"/>
                  <a:pt x="161025" y="106372"/>
                </a:cubicBezTo>
                <a:cubicBezTo>
                  <a:pt x="160154" y="108521"/>
                  <a:pt x="158237" y="110089"/>
                  <a:pt x="155972" y="110525"/>
                </a:cubicBezTo>
                <a:lnTo>
                  <a:pt x="125974" y="116565"/>
                </a:lnTo>
                <a:lnTo>
                  <a:pt x="119934" y="146563"/>
                </a:lnTo>
                <a:cubicBezTo>
                  <a:pt x="119469" y="148828"/>
                  <a:pt x="117901" y="150745"/>
                  <a:pt x="115781" y="151616"/>
                </a:cubicBezTo>
                <a:cubicBezTo>
                  <a:pt x="113661" y="152487"/>
                  <a:pt x="111193" y="152255"/>
                  <a:pt x="109247" y="150977"/>
                </a:cubicBezTo>
                <a:lnTo>
                  <a:pt x="83750" y="134076"/>
                </a:lnTo>
                <a:lnTo>
                  <a:pt x="58254" y="150977"/>
                </a:lnTo>
                <a:cubicBezTo>
                  <a:pt x="56308" y="152255"/>
                  <a:pt x="53869" y="152487"/>
                  <a:pt x="51720" y="151616"/>
                </a:cubicBezTo>
                <a:cubicBezTo>
                  <a:pt x="49571" y="150745"/>
                  <a:pt x="48003" y="148828"/>
                  <a:pt x="47567" y="146563"/>
                </a:cubicBezTo>
                <a:lnTo>
                  <a:pt x="41527" y="116565"/>
                </a:lnTo>
                <a:lnTo>
                  <a:pt x="11529" y="110496"/>
                </a:lnTo>
                <a:cubicBezTo>
                  <a:pt x="9264" y="110031"/>
                  <a:pt x="7347" y="108463"/>
                  <a:pt x="6476" y="106343"/>
                </a:cubicBezTo>
                <a:cubicBezTo>
                  <a:pt x="5605" y="104223"/>
                  <a:pt x="5837" y="101755"/>
                  <a:pt x="7115" y="99809"/>
                </a:cubicBezTo>
                <a:lnTo>
                  <a:pt x="24016" y="74341"/>
                </a:lnTo>
                <a:lnTo>
                  <a:pt x="7115" y="48845"/>
                </a:lnTo>
                <a:cubicBezTo>
                  <a:pt x="5837" y="46899"/>
                  <a:pt x="5605" y="44460"/>
                  <a:pt x="6476" y="42311"/>
                </a:cubicBezTo>
                <a:cubicBezTo>
                  <a:pt x="7347" y="40162"/>
                  <a:pt x="9264" y="38594"/>
                  <a:pt x="11529" y="38158"/>
                </a:cubicBezTo>
                <a:lnTo>
                  <a:pt x="41527" y="32118"/>
                </a:lnTo>
                <a:lnTo>
                  <a:pt x="47596" y="2120"/>
                </a:lnTo>
                <a:cubicBezTo>
                  <a:pt x="48061" y="-145"/>
                  <a:pt x="49629" y="-2062"/>
                  <a:pt x="51749" y="-2933"/>
                </a:cubicBezTo>
                <a:close/>
                <a:moveTo>
                  <a:pt x="60286" y="74341"/>
                </a:moveTo>
                <a:cubicBezTo>
                  <a:pt x="60286" y="66000"/>
                  <a:pt x="64736" y="58292"/>
                  <a:pt x="71960" y="54122"/>
                </a:cubicBezTo>
                <a:cubicBezTo>
                  <a:pt x="79184" y="49951"/>
                  <a:pt x="88084" y="49951"/>
                  <a:pt x="95308" y="54122"/>
                </a:cubicBezTo>
                <a:cubicBezTo>
                  <a:pt x="102532" y="58292"/>
                  <a:pt x="106982" y="66000"/>
                  <a:pt x="106982" y="74341"/>
                </a:cubicBezTo>
                <a:cubicBezTo>
                  <a:pt x="106982" y="87228"/>
                  <a:pt x="96520" y="97689"/>
                  <a:pt x="83634" y="97689"/>
                </a:cubicBezTo>
                <a:cubicBezTo>
                  <a:pt x="70748" y="97689"/>
                  <a:pt x="60286" y="87228"/>
                  <a:pt x="60286" y="74341"/>
                </a:cubicBezTo>
                <a:close/>
                <a:moveTo>
                  <a:pt x="120921" y="74341"/>
                </a:moveTo>
                <a:cubicBezTo>
                  <a:pt x="120921" y="53762"/>
                  <a:pt x="104213" y="37055"/>
                  <a:pt x="83634" y="37055"/>
                </a:cubicBezTo>
                <a:cubicBezTo>
                  <a:pt x="63055" y="37055"/>
                  <a:pt x="46347" y="53762"/>
                  <a:pt x="46347" y="74341"/>
                </a:cubicBezTo>
                <a:cubicBezTo>
                  <a:pt x="46347" y="87663"/>
                  <a:pt x="53454" y="99972"/>
                  <a:pt x="64991" y="106633"/>
                </a:cubicBezTo>
                <a:cubicBezTo>
                  <a:pt x="76527" y="113294"/>
                  <a:pt x="90741" y="113294"/>
                  <a:pt x="102278" y="106633"/>
                </a:cubicBezTo>
                <a:cubicBezTo>
                  <a:pt x="113814" y="99972"/>
                  <a:pt x="120921" y="87663"/>
                  <a:pt x="120921" y="7434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239000" y="1354667"/>
            <a:ext cx="900358" cy="19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Solar PV Array</a:t>
            </a:r>
            <a:endParaRPr b="0" i="0" sz="160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6987065" y="1585951"/>
            <a:ext cx="4840455" cy="363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Primary generation:</a:t>
            </a:r>
            <a:r>
              <a:rPr b="0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165-170kW (310×550W panels). Captures 6.16 kWh/m²/day in Merti.</a:t>
            </a:r>
            <a:endParaRPr b="0" i="0" sz="1600" u="none" cap="none" strike="noStrike"/>
          </a:p>
        </p:txBody>
      </p:sp>
      <p:sp>
        <p:nvSpPr>
          <p:cNvPr id="183" name="Google Shape;183;p8"/>
          <p:cNvSpPr/>
          <p:nvPr/>
        </p:nvSpPr>
        <p:spPr>
          <a:xfrm>
            <a:off x="6871423" y="2114602"/>
            <a:ext cx="4989138" cy="792976"/>
          </a:xfrm>
          <a:custGeom>
            <a:rect b="b" l="l" r="r" t="t"/>
            <a:pathLst>
              <a:path extrusionOk="0" h="792976" w="4989138">
                <a:moveTo>
                  <a:pt x="33041" y="0"/>
                </a:moveTo>
                <a:lnTo>
                  <a:pt x="4923060" y="0"/>
                </a:lnTo>
                <a:cubicBezTo>
                  <a:pt x="4959554" y="0"/>
                  <a:pt x="4989138" y="29584"/>
                  <a:pt x="4989138" y="66079"/>
                </a:cubicBezTo>
                <a:lnTo>
                  <a:pt x="4989138" y="726897"/>
                </a:lnTo>
                <a:cubicBezTo>
                  <a:pt x="4989138" y="763391"/>
                  <a:pt x="4959554" y="792976"/>
                  <a:pt x="4923060" y="792976"/>
                </a:cubicBezTo>
                <a:lnTo>
                  <a:pt x="33041" y="792976"/>
                </a:lnTo>
                <a:cubicBezTo>
                  <a:pt x="14793" y="792976"/>
                  <a:pt x="0" y="778183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871423" y="2114602"/>
            <a:ext cx="33041" cy="792976"/>
          </a:xfrm>
          <a:custGeom>
            <a:rect b="b" l="l" r="r" t="t"/>
            <a:pathLst>
              <a:path extrusionOk="0" h="792976" w="33041">
                <a:moveTo>
                  <a:pt x="33041" y="0"/>
                </a:moveTo>
                <a:lnTo>
                  <a:pt x="33041" y="0"/>
                </a:lnTo>
                <a:lnTo>
                  <a:pt x="33041" y="792976"/>
                </a:lnTo>
                <a:lnTo>
                  <a:pt x="33041" y="792976"/>
                </a:lnTo>
                <a:cubicBezTo>
                  <a:pt x="14805" y="792976"/>
                  <a:pt x="0" y="778171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989130" y="2238504"/>
            <a:ext cx="185854" cy="148683"/>
          </a:xfrm>
          <a:custGeom>
            <a:rect b="b" l="l" r="r" t="t"/>
            <a:pathLst>
              <a:path extrusionOk="0" h="148683" w="185854">
                <a:moveTo>
                  <a:pt x="153329" y="37171"/>
                </a:moveTo>
                <a:cubicBezTo>
                  <a:pt x="155885" y="37171"/>
                  <a:pt x="157976" y="39262"/>
                  <a:pt x="157976" y="41817"/>
                </a:cubicBezTo>
                <a:lnTo>
                  <a:pt x="157976" y="106866"/>
                </a:lnTo>
                <a:cubicBezTo>
                  <a:pt x="157976" y="109421"/>
                  <a:pt x="155885" y="111512"/>
                  <a:pt x="153329" y="111512"/>
                </a:cubicBezTo>
                <a:lnTo>
                  <a:pt x="32524" y="111512"/>
                </a:lnTo>
                <a:cubicBezTo>
                  <a:pt x="29969" y="111512"/>
                  <a:pt x="27878" y="109421"/>
                  <a:pt x="27878" y="106866"/>
                </a:cubicBezTo>
                <a:lnTo>
                  <a:pt x="27878" y="41817"/>
                </a:lnTo>
                <a:cubicBezTo>
                  <a:pt x="27878" y="39262"/>
                  <a:pt x="29969" y="37171"/>
                  <a:pt x="32524" y="37171"/>
                </a:cubicBezTo>
                <a:lnTo>
                  <a:pt x="153329" y="37171"/>
                </a:lnTo>
                <a:close/>
                <a:moveTo>
                  <a:pt x="32524" y="18585"/>
                </a:moveTo>
                <a:cubicBezTo>
                  <a:pt x="19689" y="18585"/>
                  <a:pt x="9293" y="28982"/>
                  <a:pt x="9293" y="41817"/>
                </a:cubicBezTo>
                <a:lnTo>
                  <a:pt x="9293" y="106866"/>
                </a:lnTo>
                <a:cubicBezTo>
                  <a:pt x="9293" y="119701"/>
                  <a:pt x="19689" y="130098"/>
                  <a:pt x="32524" y="130098"/>
                </a:cubicBezTo>
                <a:lnTo>
                  <a:pt x="153329" y="130098"/>
                </a:lnTo>
                <a:cubicBezTo>
                  <a:pt x="166165" y="130098"/>
                  <a:pt x="176561" y="119701"/>
                  <a:pt x="176561" y="106866"/>
                </a:cubicBezTo>
                <a:lnTo>
                  <a:pt x="176561" y="92927"/>
                </a:lnTo>
                <a:cubicBezTo>
                  <a:pt x="181701" y="92927"/>
                  <a:pt x="185854" y="88774"/>
                  <a:pt x="185854" y="83634"/>
                </a:cubicBezTo>
                <a:lnTo>
                  <a:pt x="185854" y="65049"/>
                </a:lnTo>
                <a:cubicBezTo>
                  <a:pt x="185854" y="59909"/>
                  <a:pt x="181701" y="55756"/>
                  <a:pt x="176561" y="55756"/>
                </a:cubicBezTo>
                <a:lnTo>
                  <a:pt x="176561" y="41817"/>
                </a:lnTo>
                <a:cubicBezTo>
                  <a:pt x="176561" y="28982"/>
                  <a:pt x="166165" y="18585"/>
                  <a:pt x="153329" y="18585"/>
                </a:cubicBezTo>
                <a:lnTo>
                  <a:pt x="32524" y="18585"/>
                </a:lnTo>
                <a:close/>
                <a:moveTo>
                  <a:pt x="48787" y="51110"/>
                </a:moveTo>
                <a:cubicBezTo>
                  <a:pt x="44924" y="51110"/>
                  <a:pt x="41817" y="54217"/>
                  <a:pt x="41817" y="58079"/>
                </a:cubicBezTo>
                <a:lnTo>
                  <a:pt x="41817" y="90604"/>
                </a:lnTo>
                <a:cubicBezTo>
                  <a:pt x="41817" y="94466"/>
                  <a:pt x="44924" y="97573"/>
                  <a:pt x="48787" y="97573"/>
                </a:cubicBezTo>
                <a:lnTo>
                  <a:pt x="113835" y="97573"/>
                </a:lnTo>
                <a:cubicBezTo>
                  <a:pt x="117698" y="97573"/>
                  <a:pt x="120805" y="94466"/>
                  <a:pt x="120805" y="90604"/>
                </a:cubicBezTo>
                <a:lnTo>
                  <a:pt x="120805" y="58079"/>
                </a:lnTo>
                <a:cubicBezTo>
                  <a:pt x="120805" y="54217"/>
                  <a:pt x="117698" y="51110"/>
                  <a:pt x="113835" y="51110"/>
                </a:cubicBezTo>
                <a:lnTo>
                  <a:pt x="48787" y="51110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7239000" y="2213724"/>
            <a:ext cx="974699" cy="19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Battery Storage</a:t>
            </a:r>
            <a:endParaRPr b="0" i="0" sz="160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6987065" y="2445008"/>
            <a:ext cx="4840455" cy="363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Short-term buffer:</a:t>
            </a:r>
            <a:r>
              <a:rPr b="0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~2.2 MWh third-life Li-ion. Daily cycling, 70% DoD, ~90% round-trip efficiency.</a:t>
            </a:r>
            <a:endParaRPr b="0" i="0" sz="160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6871423" y="2973659"/>
            <a:ext cx="4989138" cy="792976"/>
          </a:xfrm>
          <a:custGeom>
            <a:rect b="b" l="l" r="r" t="t"/>
            <a:pathLst>
              <a:path extrusionOk="0" h="792976" w="4989138">
                <a:moveTo>
                  <a:pt x="33041" y="0"/>
                </a:moveTo>
                <a:lnTo>
                  <a:pt x="4923060" y="0"/>
                </a:lnTo>
                <a:cubicBezTo>
                  <a:pt x="4959554" y="0"/>
                  <a:pt x="4989138" y="29584"/>
                  <a:pt x="4989138" y="66079"/>
                </a:cubicBezTo>
                <a:lnTo>
                  <a:pt x="4989138" y="726897"/>
                </a:lnTo>
                <a:cubicBezTo>
                  <a:pt x="4989138" y="763391"/>
                  <a:pt x="4959554" y="792976"/>
                  <a:pt x="4923060" y="792976"/>
                </a:cubicBezTo>
                <a:lnTo>
                  <a:pt x="33041" y="792976"/>
                </a:lnTo>
                <a:cubicBezTo>
                  <a:pt x="14793" y="792976"/>
                  <a:pt x="0" y="778183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6871423" y="2973659"/>
            <a:ext cx="33041" cy="792976"/>
          </a:xfrm>
          <a:custGeom>
            <a:rect b="b" l="l" r="r" t="t"/>
            <a:pathLst>
              <a:path extrusionOk="0" h="792976" w="33041">
                <a:moveTo>
                  <a:pt x="33041" y="0"/>
                </a:moveTo>
                <a:lnTo>
                  <a:pt x="33041" y="0"/>
                </a:lnTo>
                <a:lnTo>
                  <a:pt x="33041" y="792976"/>
                </a:lnTo>
                <a:lnTo>
                  <a:pt x="33041" y="792976"/>
                </a:lnTo>
                <a:cubicBezTo>
                  <a:pt x="14805" y="792976"/>
                  <a:pt x="0" y="778171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017008" y="3097561"/>
            <a:ext cx="130098" cy="148683"/>
          </a:xfrm>
          <a:custGeom>
            <a:rect b="b" l="l" r="r" t="t"/>
            <a:pathLst>
              <a:path extrusionOk="0" h="148683" w="130098">
                <a:moveTo>
                  <a:pt x="83634" y="0"/>
                </a:moveTo>
                <a:lnTo>
                  <a:pt x="37171" y="0"/>
                </a:lnTo>
                <a:cubicBezTo>
                  <a:pt x="32031" y="0"/>
                  <a:pt x="27878" y="4153"/>
                  <a:pt x="27878" y="9293"/>
                </a:cubicBezTo>
                <a:cubicBezTo>
                  <a:pt x="27878" y="14433"/>
                  <a:pt x="32031" y="18585"/>
                  <a:pt x="37171" y="18585"/>
                </a:cubicBezTo>
                <a:lnTo>
                  <a:pt x="37171" y="62580"/>
                </a:lnTo>
                <a:lnTo>
                  <a:pt x="2178" y="123796"/>
                </a:lnTo>
                <a:cubicBezTo>
                  <a:pt x="755" y="126322"/>
                  <a:pt x="0" y="129139"/>
                  <a:pt x="0" y="132043"/>
                </a:cubicBezTo>
                <a:cubicBezTo>
                  <a:pt x="0" y="141249"/>
                  <a:pt x="7434" y="148683"/>
                  <a:pt x="16640" y="148683"/>
                </a:cubicBezTo>
                <a:lnTo>
                  <a:pt x="113458" y="148683"/>
                </a:lnTo>
                <a:cubicBezTo>
                  <a:pt x="122634" y="148683"/>
                  <a:pt x="130098" y="141249"/>
                  <a:pt x="130098" y="132043"/>
                </a:cubicBezTo>
                <a:cubicBezTo>
                  <a:pt x="130098" y="129139"/>
                  <a:pt x="129343" y="126293"/>
                  <a:pt x="127920" y="123796"/>
                </a:cubicBezTo>
                <a:lnTo>
                  <a:pt x="92927" y="62580"/>
                </a:lnTo>
                <a:lnTo>
                  <a:pt x="92927" y="18585"/>
                </a:lnTo>
                <a:cubicBezTo>
                  <a:pt x="98067" y="18585"/>
                  <a:pt x="102220" y="14433"/>
                  <a:pt x="102220" y="9293"/>
                </a:cubicBezTo>
                <a:cubicBezTo>
                  <a:pt x="102220" y="4153"/>
                  <a:pt x="98067" y="0"/>
                  <a:pt x="92927" y="0"/>
                </a:cubicBezTo>
                <a:lnTo>
                  <a:pt x="83634" y="0"/>
                </a:lnTo>
                <a:close/>
                <a:moveTo>
                  <a:pt x="55756" y="62580"/>
                </a:moveTo>
                <a:lnTo>
                  <a:pt x="55756" y="18585"/>
                </a:lnTo>
                <a:lnTo>
                  <a:pt x="74341" y="18585"/>
                </a:lnTo>
                <a:lnTo>
                  <a:pt x="74341" y="62580"/>
                </a:lnTo>
                <a:cubicBezTo>
                  <a:pt x="74341" y="65804"/>
                  <a:pt x="75184" y="68998"/>
                  <a:pt x="76781" y="71815"/>
                </a:cubicBezTo>
                <a:lnTo>
                  <a:pt x="88861" y="92927"/>
                </a:lnTo>
                <a:lnTo>
                  <a:pt x="41236" y="92927"/>
                </a:lnTo>
                <a:lnTo>
                  <a:pt x="53317" y="71815"/>
                </a:lnTo>
                <a:cubicBezTo>
                  <a:pt x="54914" y="68998"/>
                  <a:pt x="55756" y="65833"/>
                  <a:pt x="55756" y="6258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239000" y="3072780"/>
            <a:ext cx="1057301" cy="19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PEM Electrolyzer</a:t>
            </a:r>
            <a:endParaRPr b="0" i="0" sz="160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6987065" y="3304065"/>
            <a:ext cx="4840455" cy="363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Hydrogen production:</a:t>
            </a:r>
            <a:r>
              <a:rPr b="0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300-350kW PEM. Converts excess solar to H₂ during peak generation periods.</a:t>
            </a:r>
            <a:endParaRPr b="0" i="0" sz="1600" u="none" cap="none" strike="noStrike"/>
          </a:p>
        </p:txBody>
      </p:sp>
      <p:sp>
        <p:nvSpPr>
          <p:cNvPr id="193" name="Google Shape;193;p8"/>
          <p:cNvSpPr/>
          <p:nvPr/>
        </p:nvSpPr>
        <p:spPr>
          <a:xfrm>
            <a:off x="6871423" y="3832715"/>
            <a:ext cx="4989138" cy="792976"/>
          </a:xfrm>
          <a:custGeom>
            <a:rect b="b" l="l" r="r" t="t"/>
            <a:pathLst>
              <a:path extrusionOk="0" h="792976" w="4989138">
                <a:moveTo>
                  <a:pt x="33041" y="0"/>
                </a:moveTo>
                <a:lnTo>
                  <a:pt x="4923060" y="0"/>
                </a:lnTo>
                <a:cubicBezTo>
                  <a:pt x="4959554" y="0"/>
                  <a:pt x="4989138" y="29584"/>
                  <a:pt x="4989138" y="66079"/>
                </a:cubicBezTo>
                <a:lnTo>
                  <a:pt x="4989138" y="726897"/>
                </a:lnTo>
                <a:cubicBezTo>
                  <a:pt x="4989138" y="763391"/>
                  <a:pt x="4959554" y="792976"/>
                  <a:pt x="4923060" y="792976"/>
                </a:cubicBezTo>
                <a:lnTo>
                  <a:pt x="33041" y="792976"/>
                </a:lnTo>
                <a:cubicBezTo>
                  <a:pt x="14793" y="792976"/>
                  <a:pt x="0" y="778183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871423" y="3832715"/>
            <a:ext cx="33041" cy="792976"/>
          </a:xfrm>
          <a:custGeom>
            <a:rect b="b" l="l" r="r" t="t"/>
            <a:pathLst>
              <a:path extrusionOk="0" h="792976" w="33041">
                <a:moveTo>
                  <a:pt x="33041" y="0"/>
                </a:moveTo>
                <a:lnTo>
                  <a:pt x="33041" y="0"/>
                </a:lnTo>
                <a:lnTo>
                  <a:pt x="33041" y="792976"/>
                </a:lnTo>
                <a:lnTo>
                  <a:pt x="33041" y="792976"/>
                </a:lnTo>
                <a:cubicBezTo>
                  <a:pt x="14805" y="792976"/>
                  <a:pt x="0" y="778171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017008" y="3956618"/>
            <a:ext cx="130098" cy="148683"/>
          </a:xfrm>
          <a:custGeom>
            <a:rect b="b" l="l" r="r" t="t"/>
            <a:pathLst>
              <a:path extrusionOk="0" h="148683" w="130098">
                <a:moveTo>
                  <a:pt x="130098" y="59764"/>
                </a:moveTo>
                <a:cubicBezTo>
                  <a:pt x="125800" y="62609"/>
                  <a:pt x="120863" y="64904"/>
                  <a:pt x="115723" y="66733"/>
                </a:cubicBezTo>
                <a:cubicBezTo>
                  <a:pt x="102074" y="71612"/>
                  <a:pt x="84157" y="74341"/>
                  <a:pt x="65049" y="74341"/>
                </a:cubicBezTo>
                <a:cubicBezTo>
                  <a:pt x="45941" y="74341"/>
                  <a:pt x="27994" y="71583"/>
                  <a:pt x="14375" y="66733"/>
                </a:cubicBezTo>
                <a:cubicBezTo>
                  <a:pt x="9264" y="64904"/>
                  <a:pt x="4298" y="62609"/>
                  <a:pt x="0" y="59764"/>
                </a:cubicBezTo>
                <a:lnTo>
                  <a:pt x="0" y="83634"/>
                </a:lnTo>
                <a:cubicBezTo>
                  <a:pt x="0" y="96470"/>
                  <a:pt x="29127" y="106866"/>
                  <a:pt x="65049" y="106866"/>
                </a:cubicBezTo>
                <a:cubicBezTo>
                  <a:pt x="100971" y="106866"/>
                  <a:pt x="130098" y="96470"/>
                  <a:pt x="130098" y="83634"/>
                </a:cubicBezTo>
                <a:lnTo>
                  <a:pt x="130098" y="59764"/>
                </a:lnTo>
                <a:close/>
                <a:moveTo>
                  <a:pt x="130098" y="37171"/>
                </a:moveTo>
                <a:lnTo>
                  <a:pt x="130098" y="23232"/>
                </a:lnTo>
                <a:cubicBezTo>
                  <a:pt x="130098" y="10396"/>
                  <a:pt x="100971" y="0"/>
                  <a:pt x="65049" y="0"/>
                </a:cubicBezTo>
                <a:cubicBezTo>
                  <a:pt x="29127" y="0"/>
                  <a:pt x="0" y="10396"/>
                  <a:pt x="0" y="23232"/>
                </a:cubicBezTo>
                <a:lnTo>
                  <a:pt x="0" y="37171"/>
                </a:lnTo>
                <a:cubicBezTo>
                  <a:pt x="0" y="50006"/>
                  <a:pt x="29127" y="60402"/>
                  <a:pt x="65049" y="60402"/>
                </a:cubicBezTo>
                <a:cubicBezTo>
                  <a:pt x="100971" y="60402"/>
                  <a:pt x="130098" y="50006"/>
                  <a:pt x="130098" y="37171"/>
                </a:cubicBezTo>
                <a:close/>
                <a:moveTo>
                  <a:pt x="115723" y="113196"/>
                </a:moveTo>
                <a:cubicBezTo>
                  <a:pt x="102103" y="118046"/>
                  <a:pt x="84186" y="120805"/>
                  <a:pt x="65049" y="120805"/>
                </a:cubicBezTo>
                <a:cubicBezTo>
                  <a:pt x="45912" y="120805"/>
                  <a:pt x="27994" y="118046"/>
                  <a:pt x="14375" y="113196"/>
                </a:cubicBezTo>
                <a:cubicBezTo>
                  <a:pt x="9264" y="111367"/>
                  <a:pt x="4298" y="109073"/>
                  <a:pt x="0" y="106227"/>
                </a:cubicBezTo>
                <a:lnTo>
                  <a:pt x="0" y="125451"/>
                </a:lnTo>
                <a:cubicBezTo>
                  <a:pt x="0" y="138287"/>
                  <a:pt x="29127" y="148683"/>
                  <a:pt x="65049" y="148683"/>
                </a:cubicBezTo>
                <a:cubicBezTo>
                  <a:pt x="100971" y="148683"/>
                  <a:pt x="130098" y="138287"/>
                  <a:pt x="130098" y="125451"/>
                </a:cubicBezTo>
                <a:lnTo>
                  <a:pt x="130098" y="106227"/>
                </a:lnTo>
                <a:cubicBezTo>
                  <a:pt x="125800" y="109073"/>
                  <a:pt x="120863" y="111367"/>
                  <a:pt x="115723" y="113196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239000" y="3931837"/>
            <a:ext cx="685593" cy="19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H₂ Storage</a:t>
            </a:r>
            <a:endParaRPr b="0" i="0" sz="1600" u="none" cap="none" strike="noStrike"/>
          </a:p>
        </p:txBody>
      </p:sp>
      <p:sp>
        <p:nvSpPr>
          <p:cNvPr id="197" name="Google Shape;197;p8"/>
          <p:cNvSpPr/>
          <p:nvPr/>
        </p:nvSpPr>
        <p:spPr>
          <a:xfrm>
            <a:off x="6987065" y="4163122"/>
            <a:ext cx="4840455" cy="363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Long-term storage:</a:t>
            </a:r>
            <a:r>
              <a:rPr b="0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300kg H₂ (6×50kg tanks at 350 bar). Seasonal backup for dust season deficits.</a:t>
            </a:r>
            <a:endParaRPr b="0" i="0" sz="1600" u="none" cap="none" strike="noStrike"/>
          </a:p>
        </p:txBody>
      </p:sp>
      <p:sp>
        <p:nvSpPr>
          <p:cNvPr id="198" name="Google Shape;198;p8"/>
          <p:cNvSpPr/>
          <p:nvPr/>
        </p:nvSpPr>
        <p:spPr>
          <a:xfrm>
            <a:off x="6871423" y="4691772"/>
            <a:ext cx="4989138" cy="792976"/>
          </a:xfrm>
          <a:custGeom>
            <a:rect b="b" l="l" r="r" t="t"/>
            <a:pathLst>
              <a:path extrusionOk="0" h="792976" w="4989138">
                <a:moveTo>
                  <a:pt x="33041" y="0"/>
                </a:moveTo>
                <a:lnTo>
                  <a:pt x="4923060" y="0"/>
                </a:lnTo>
                <a:cubicBezTo>
                  <a:pt x="4959554" y="0"/>
                  <a:pt x="4989138" y="29584"/>
                  <a:pt x="4989138" y="66079"/>
                </a:cubicBezTo>
                <a:lnTo>
                  <a:pt x="4989138" y="726897"/>
                </a:lnTo>
                <a:cubicBezTo>
                  <a:pt x="4989138" y="763391"/>
                  <a:pt x="4959554" y="792976"/>
                  <a:pt x="4923060" y="792976"/>
                </a:cubicBezTo>
                <a:lnTo>
                  <a:pt x="33041" y="792976"/>
                </a:lnTo>
                <a:cubicBezTo>
                  <a:pt x="14793" y="792976"/>
                  <a:pt x="0" y="778183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871423" y="4691772"/>
            <a:ext cx="33041" cy="792976"/>
          </a:xfrm>
          <a:custGeom>
            <a:rect b="b" l="l" r="r" t="t"/>
            <a:pathLst>
              <a:path extrusionOk="0" h="792976" w="33041">
                <a:moveTo>
                  <a:pt x="33041" y="0"/>
                </a:moveTo>
                <a:lnTo>
                  <a:pt x="33041" y="0"/>
                </a:lnTo>
                <a:lnTo>
                  <a:pt x="33041" y="792976"/>
                </a:lnTo>
                <a:lnTo>
                  <a:pt x="33041" y="792976"/>
                </a:lnTo>
                <a:cubicBezTo>
                  <a:pt x="14805" y="792976"/>
                  <a:pt x="0" y="778171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7017008" y="4815675"/>
            <a:ext cx="130098" cy="148683"/>
          </a:xfrm>
          <a:custGeom>
            <a:rect b="b" l="l" r="r" t="t"/>
            <a:pathLst>
              <a:path extrusionOk="0" h="148683" w="130098">
                <a:moveTo>
                  <a:pt x="46609" y="-7666"/>
                </a:moveTo>
                <a:cubicBezTo>
                  <a:pt x="49309" y="-9932"/>
                  <a:pt x="53288" y="-9844"/>
                  <a:pt x="55872" y="-7405"/>
                </a:cubicBezTo>
                <a:cubicBezTo>
                  <a:pt x="59444" y="-4037"/>
                  <a:pt x="62638" y="-319"/>
                  <a:pt x="65717" y="3456"/>
                </a:cubicBezTo>
                <a:cubicBezTo>
                  <a:pt x="69637" y="8247"/>
                  <a:pt x="74341" y="14578"/>
                  <a:pt x="78872" y="22099"/>
                </a:cubicBezTo>
                <a:cubicBezTo>
                  <a:pt x="80382" y="20124"/>
                  <a:pt x="81776" y="18382"/>
                  <a:pt x="82995" y="16901"/>
                </a:cubicBezTo>
                <a:cubicBezTo>
                  <a:pt x="83315" y="16524"/>
                  <a:pt x="83634" y="16117"/>
                  <a:pt x="83954" y="15710"/>
                </a:cubicBezTo>
                <a:cubicBezTo>
                  <a:pt x="86248" y="12865"/>
                  <a:pt x="89094" y="9293"/>
                  <a:pt x="92898" y="9293"/>
                </a:cubicBezTo>
                <a:cubicBezTo>
                  <a:pt x="96789" y="9293"/>
                  <a:pt x="99519" y="12748"/>
                  <a:pt x="101842" y="15710"/>
                </a:cubicBezTo>
                <a:cubicBezTo>
                  <a:pt x="102220" y="16204"/>
                  <a:pt x="102597" y="16669"/>
                  <a:pt x="102975" y="17104"/>
                </a:cubicBezTo>
                <a:cubicBezTo>
                  <a:pt x="105966" y="20705"/>
                  <a:pt x="109944" y="25903"/>
                  <a:pt x="113922" y="32321"/>
                </a:cubicBezTo>
                <a:cubicBezTo>
                  <a:pt x="121821" y="45070"/>
                  <a:pt x="130069" y="63219"/>
                  <a:pt x="130069" y="83605"/>
                </a:cubicBezTo>
                <a:cubicBezTo>
                  <a:pt x="130069" y="119527"/>
                  <a:pt x="100942" y="148654"/>
                  <a:pt x="65020" y="148654"/>
                </a:cubicBezTo>
                <a:cubicBezTo>
                  <a:pt x="29098" y="148654"/>
                  <a:pt x="0" y="119556"/>
                  <a:pt x="0" y="83634"/>
                </a:cubicBezTo>
                <a:cubicBezTo>
                  <a:pt x="0" y="57179"/>
                  <a:pt x="11935" y="34267"/>
                  <a:pt x="23377" y="18295"/>
                </a:cubicBezTo>
                <a:cubicBezTo>
                  <a:pt x="29156" y="10251"/>
                  <a:pt x="34906" y="3804"/>
                  <a:pt x="39233" y="-610"/>
                </a:cubicBezTo>
                <a:cubicBezTo>
                  <a:pt x="41614" y="-3049"/>
                  <a:pt x="44024" y="-5459"/>
                  <a:pt x="46638" y="-7637"/>
                </a:cubicBezTo>
                <a:close/>
                <a:moveTo>
                  <a:pt x="65542" y="120805"/>
                </a:moveTo>
                <a:cubicBezTo>
                  <a:pt x="72889" y="120805"/>
                  <a:pt x="79394" y="118772"/>
                  <a:pt x="85522" y="114707"/>
                </a:cubicBezTo>
                <a:cubicBezTo>
                  <a:pt x="97747" y="106169"/>
                  <a:pt x="101029" y="89094"/>
                  <a:pt x="93682" y="75677"/>
                </a:cubicBezTo>
                <a:cubicBezTo>
                  <a:pt x="92375" y="73064"/>
                  <a:pt x="89036" y="72889"/>
                  <a:pt x="87148" y="75096"/>
                </a:cubicBezTo>
                <a:lnTo>
                  <a:pt x="79830" y="83605"/>
                </a:lnTo>
                <a:cubicBezTo>
                  <a:pt x="77913" y="85812"/>
                  <a:pt x="74458" y="85754"/>
                  <a:pt x="72657" y="83460"/>
                </a:cubicBezTo>
                <a:cubicBezTo>
                  <a:pt x="67633" y="77042"/>
                  <a:pt x="58399" y="65339"/>
                  <a:pt x="53694" y="59357"/>
                </a:cubicBezTo>
                <a:cubicBezTo>
                  <a:pt x="52126" y="57353"/>
                  <a:pt x="49280" y="57034"/>
                  <a:pt x="47451" y="58805"/>
                </a:cubicBezTo>
                <a:cubicBezTo>
                  <a:pt x="42137" y="63974"/>
                  <a:pt x="32495" y="75300"/>
                  <a:pt x="32495" y="89094"/>
                </a:cubicBezTo>
                <a:cubicBezTo>
                  <a:pt x="32495" y="109015"/>
                  <a:pt x="47189" y="120805"/>
                  <a:pt x="65513" y="120805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7239000" y="4790894"/>
            <a:ext cx="867317" cy="19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PEM Fuel Cell</a:t>
            </a:r>
            <a:endParaRPr b="0" i="0" sz="1600" u="none" cap="none" strike="noStrike"/>
          </a:p>
        </p:txBody>
      </p:sp>
      <p:sp>
        <p:nvSpPr>
          <p:cNvPr id="202" name="Google Shape;202;p8"/>
          <p:cNvSpPr/>
          <p:nvPr/>
        </p:nvSpPr>
        <p:spPr>
          <a:xfrm>
            <a:off x="6987065" y="5022179"/>
            <a:ext cx="4840455" cy="363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regeneration:</a:t>
            </a:r>
            <a:r>
              <a:rPr b="0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60-70kW PEM. Converts stored H₂ back to electricity during extended cloudy periods.</a:t>
            </a:r>
            <a:endParaRPr b="0" i="0" sz="1600" u="none" cap="none" strike="noStrike"/>
          </a:p>
        </p:txBody>
      </p:sp>
      <p:sp>
        <p:nvSpPr>
          <p:cNvPr id="203" name="Google Shape;203;p8"/>
          <p:cNvSpPr/>
          <p:nvPr/>
        </p:nvSpPr>
        <p:spPr>
          <a:xfrm>
            <a:off x="6871423" y="5550829"/>
            <a:ext cx="4989138" cy="792976"/>
          </a:xfrm>
          <a:custGeom>
            <a:rect b="b" l="l" r="r" t="t"/>
            <a:pathLst>
              <a:path extrusionOk="0" h="792976" w="4989138">
                <a:moveTo>
                  <a:pt x="33041" y="0"/>
                </a:moveTo>
                <a:lnTo>
                  <a:pt x="4923060" y="0"/>
                </a:lnTo>
                <a:cubicBezTo>
                  <a:pt x="4959554" y="0"/>
                  <a:pt x="4989138" y="29584"/>
                  <a:pt x="4989138" y="66079"/>
                </a:cubicBezTo>
                <a:lnTo>
                  <a:pt x="4989138" y="726897"/>
                </a:lnTo>
                <a:cubicBezTo>
                  <a:pt x="4989138" y="763391"/>
                  <a:pt x="4959554" y="792976"/>
                  <a:pt x="4923060" y="792976"/>
                </a:cubicBezTo>
                <a:lnTo>
                  <a:pt x="33041" y="792976"/>
                </a:lnTo>
                <a:cubicBezTo>
                  <a:pt x="14793" y="792976"/>
                  <a:pt x="0" y="778183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871423" y="5550829"/>
            <a:ext cx="33041" cy="792976"/>
          </a:xfrm>
          <a:custGeom>
            <a:rect b="b" l="l" r="r" t="t"/>
            <a:pathLst>
              <a:path extrusionOk="0" h="792976" w="33041">
                <a:moveTo>
                  <a:pt x="33041" y="0"/>
                </a:moveTo>
                <a:lnTo>
                  <a:pt x="33041" y="0"/>
                </a:lnTo>
                <a:lnTo>
                  <a:pt x="33041" y="792976"/>
                </a:lnTo>
                <a:lnTo>
                  <a:pt x="33041" y="792976"/>
                </a:lnTo>
                <a:cubicBezTo>
                  <a:pt x="14805" y="792976"/>
                  <a:pt x="0" y="778171"/>
                  <a:pt x="0" y="759935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7026301" y="5674732"/>
            <a:ext cx="111512" cy="148683"/>
          </a:xfrm>
          <a:custGeom>
            <a:rect b="b" l="l" r="r" t="t"/>
            <a:pathLst>
              <a:path extrusionOk="0" h="148683" w="111512">
                <a:moveTo>
                  <a:pt x="55756" y="148683"/>
                </a:moveTo>
                <a:cubicBezTo>
                  <a:pt x="24974" y="148683"/>
                  <a:pt x="0" y="123709"/>
                  <a:pt x="0" y="92927"/>
                </a:cubicBezTo>
                <a:cubicBezTo>
                  <a:pt x="0" y="66443"/>
                  <a:pt x="37810" y="13329"/>
                  <a:pt x="48380" y="-1016"/>
                </a:cubicBezTo>
                <a:cubicBezTo>
                  <a:pt x="50093" y="-3340"/>
                  <a:pt x="52794" y="-4646"/>
                  <a:pt x="55698" y="-4646"/>
                </a:cubicBezTo>
                <a:lnTo>
                  <a:pt x="55814" y="-4646"/>
                </a:lnTo>
                <a:cubicBezTo>
                  <a:pt x="58718" y="-4646"/>
                  <a:pt x="61419" y="-3340"/>
                  <a:pt x="63132" y="-1016"/>
                </a:cubicBezTo>
                <a:cubicBezTo>
                  <a:pt x="73703" y="13329"/>
                  <a:pt x="111512" y="66443"/>
                  <a:pt x="111512" y="92927"/>
                </a:cubicBezTo>
                <a:cubicBezTo>
                  <a:pt x="111512" y="123709"/>
                  <a:pt x="86538" y="148683"/>
                  <a:pt x="55756" y="148683"/>
                </a:cubicBezTo>
                <a:close/>
                <a:moveTo>
                  <a:pt x="32524" y="90604"/>
                </a:moveTo>
                <a:cubicBezTo>
                  <a:pt x="32524" y="86741"/>
                  <a:pt x="29417" y="83634"/>
                  <a:pt x="25555" y="83634"/>
                </a:cubicBezTo>
                <a:cubicBezTo>
                  <a:pt x="21693" y="83634"/>
                  <a:pt x="18585" y="86741"/>
                  <a:pt x="18585" y="90604"/>
                </a:cubicBezTo>
                <a:cubicBezTo>
                  <a:pt x="18585" y="112412"/>
                  <a:pt x="36271" y="130098"/>
                  <a:pt x="58079" y="130098"/>
                </a:cubicBezTo>
                <a:cubicBezTo>
                  <a:pt x="61942" y="130098"/>
                  <a:pt x="65049" y="126990"/>
                  <a:pt x="65049" y="123128"/>
                </a:cubicBezTo>
                <a:cubicBezTo>
                  <a:pt x="65049" y="119266"/>
                  <a:pt x="61942" y="116159"/>
                  <a:pt x="58079" y="116159"/>
                </a:cubicBezTo>
                <a:cubicBezTo>
                  <a:pt x="43966" y="116159"/>
                  <a:pt x="32524" y="104717"/>
                  <a:pt x="32524" y="90604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239000" y="5649951"/>
            <a:ext cx="842537" cy="19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AWG System</a:t>
            </a:r>
            <a:endParaRPr b="0" i="0" sz="1600" u="none" cap="none" strike="noStrike"/>
          </a:p>
        </p:txBody>
      </p:sp>
      <p:sp>
        <p:nvSpPr>
          <p:cNvPr id="207" name="Google Shape;207;p8"/>
          <p:cNvSpPr/>
          <p:nvPr/>
        </p:nvSpPr>
        <p:spPr>
          <a:xfrm>
            <a:off x="6987065" y="5881236"/>
            <a:ext cx="4840455" cy="363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Water generation:</a:t>
            </a:r>
            <a:r>
              <a:rPr b="0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2,500-3,000 L/day. Atmospheric water generation from ambient humidity.</a:t>
            </a:r>
            <a:endParaRPr b="0" i="0" sz="1600" u="none" cap="none" strike="noStrike"/>
          </a:p>
        </p:txBody>
      </p:sp>
      <p:sp>
        <p:nvSpPr>
          <p:cNvPr id="208" name="Google Shape;208;p8"/>
          <p:cNvSpPr/>
          <p:nvPr/>
        </p:nvSpPr>
        <p:spPr>
          <a:xfrm>
            <a:off x="333711" y="6446231"/>
            <a:ext cx="11521275" cy="403096"/>
          </a:xfrm>
          <a:custGeom>
            <a:rect b="b" l="l" r="r" t="t"/>
            <a:pathLst>
              <a:path extrusionOk="0" h="403096" w="11521275">
                <a:moveTo>
                  <a:pt x="66080" y="0"/>
                </a:moveTo>
                <a:lnTo>
                  <a:pt x="11455195" y="0"/>
                </a:lnTo>
                <a:cubicBezTo>
                  <a:pt x="11491690" y="0"/>
                  <a:pt x="11521275" y="29585"/>
                  <a:pt x="11521275" y="66080"/>
                </a:cubicBezTo>
                <a:lnTo>
                  <a:pt x="11521275" y="337016"/>
                </a:lnTo>
                <a:cubicBezTo>
                  <a:pt x="11521275" y="373511"/>
                  <a:pt x="11491690" y="403096"/>
                  <a:pt x="11455195" y="403096"/>
                </a:cubicBezTo>
                <a:lnTo>
                  <a:pt x="66080" y="403096"/>
                </a:lnTo>
                <a:cubicBezTo>
                  <a:pt x="29585" y="403096"/>
                  <a:pt x="0" y="373511"/>
                  <a:pt x="0" y="337016"/>
                </a:cubicBezTo>
                <a:lnTo>
                  <a:pt x="0" y="66080"/>
                </a:lnTo>
                <a:cubicBezTo>
                  <a:pt x="0" y="29609"/>
                  <a:pt x="29609" y="0"/>
                  <a:pt x="66080" y="0"/>
                </a:cubicBezTo>
                <a:close/>
              </a:path>
            </a:pathLst>
          </a:custGeom>
          <a:gradFill>
            <a:gsLst>
              <a:gs pos="0">
                <a:srgbClr val="38A169">
                  <a:alpha val="20000"/>
                </a:srgbClr>
              </a:gs>
              <a:gs pos="100000">
                <a:srgbClr val="D69E2E">
                  <a:alpha val="20000"/>
                </a:srgbClr>
              </a:gs>
            </a:gsLst>
            <a:lin ang="0" scaled="0"/>
          </a:gradFill>
          <a:ln cap="flat" cmpd="sng" w="10150">
            <a:solidFill>
              <a:srgbClr val="38A1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60917" y="6548657"/>
            <a:ext cx="198244" cy="198244"/>
          </a:xfrm>
          <a:custGeom>
            <a:rect b="b" l="l" r="r" t="t"/>
            <a:pathLst>
              <a:path extrusionOk="0" h="198244" w="198244">
                <a:moveTo>
                  <a:pt x="99122" y="198244"/>
                </a:moveTo>
                <a:cubicBezTo>
                  <a:pt x="153829" y="198244"/>
                  <a:pt x="198244" y="153829"/>
                  <a:pt x="198244" y="99122"/>
                </a:cubicBezTo>
                <a:cubicBezTo>
                  <a:pt x="198244" y="44415"/>
                  <a:pt x="153829" y="0"/>
                  <a:pt x="99122" y="0"/>
                </a:cubicBezTo>
                <a:cubicBezTo>
                  <a:pt x="44415" y="0"/>
                  <a:pt x="0" y="44415"/>
                  <a:pt x="0" y="99122"/>
                </a:cubicBezTo>
                <a:cubicBezTo>
                  <a:pt x="0" y="153829"/>
                  <a:pt x="44415" y="198244"/>
                  <a:pt x="99122" y="198244"/>
                </a:cubicBezTo>
                <a:close/>
                <a:moveTo>
                  <a:pt x="131801" y="82356"/>
                </a:moveTo>
                <a:lnTo>
                  <a:pt x="100826" y="131917"/>
                </a:lnTo>
                <a:cubicBezTo>
                  <a:pt x="99199" y="134512"/>
                  <a:pt x="96412" y="136138"/>
                  <a:pt x="93353" y="136293"/>
                </a:cubicBezTo>
                <a:cubicBezTo>
                  <a:pt x="90294" y="136448"/>
                  <a:pt x="87351" y="135054"/>
                  <a:pt x="85531" y="132576"/>
                </a:cubicBezTo>
                <a:lnTo>
                  <a:pt x="66946" y="107795"/>
                </a:lnTo>
                <a:cubicBezTo>
                  <a:pt x="63848" y="103691"/>
                  <a:pt x="64700" y="97883"/>
                  <a:pt x="68805" y="94785"/>
                </a:cubicBezTo>
                <a:cubicBezTo>
                  <a:pt x="72909" y="91688"/>
                  <a:pt x="78717" y="92540"/>
                  <a:pt x="81814" y="96644"/>
                </a:cubicBezTo>
                <a:lnTo>
                  <a:pt x="92269" y="110583"/>
                </a:lnTo>
                <a:lnTo>
                  <a:pt x="116042" y="72522"/>
                </a:lnTo>
                <a:cubicBezTo>
                  <a:pt x="118753" y="68185"/>
                  <a:pt x="124483" y="66830"/>
                  <a:pt x="128859" y="69579"/>
                </a:cubicBezTo>
                <a:cubicBezTo>
                  <a:pt x="133234" y="72328"/>
                  <a:pt x="134550" y="78020"/>
                  <a:pt x="131801" y="82395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816104" y="6556917"/>
            <a:ext cx="11002537" cy="181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1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Zero-carbon resilience:</a:t>
            </a:r>
            <a:r>
              <a:rPr b="0" i="0" lang="en-US" sz="1041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SHEPA enables 24/7 power, water, and supports food production through cold chain &amp; irrigation — all without fossil fuel backup.</a:t>
            </a:r>
            <a:endParaRPr b="0" i="0" sz="1600" u="none" cap="none" strike="noStrike"/>
          </a:p>
        </p:txBody>
      </p:sp>
      <p:pic>
        <p:nvPicPr>
          <p:cNvPr id="211" name="Google Shape;211;p8" title="System Diagr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9400"/>
            <a:ext cx="6871425" cy="37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331755" y="431282"/>
            <a:ext cx="49763" cy="331755"/>
          </a:xfrm>
          <a:custGeom>
            <a:rect b="b" l="l" r="r" t="t"/>
            <a:pathLst>
              <a:path extrusionOk="0" h="331755" w="49763">
                <a:moveTo>
                  <a:pt x="0" y="0"/>
                </a:moveTo>
                <a:lnTo>
                  <a:pt x="49763" y="0"/>
                </a:lnTo>
                <a:lnTo>
                  <a:pt x="49763" y="331755"/>
                </a:lnTo>
                <a:lnTo>
                  <a:pt x="0" y="331755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218" name="Google Shape;218;p9"/>
          <p:cNvSpPr/>
          <p:nvPr/>
        </p:nvSpPr>
        <p:spPr>
          <a:xfrm>
            <a:off x="481045" y="331755"/>
            <a:ext cx="5772539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03 — INNOVATION FOCUS</a:t>
            </a:r>
            <a:endParaRPr b="0" i="0" sz="1600" u="none" cap="none" strike="noStrike"/>
          </a:p>
        </p:txBody>
      </p:sp>
      <p:sp>
        <p:nvSpPr>
          <p:cNvPr id="219" name="Google Shape;219;p9"/>
          <p:cNvSpPr/>
          <p:nvPr/>
        </p:nvSpPr>
        <p:spPr>
          <a:xfrm>
            <a:off x="481045" y="530808"/>
            <a:ext cx="5855478" cy="331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1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Third-Life Batteries: The Circular Innovation</a:t>
            </a:r>
            <a:endParaRPr b="0" i="0" sz="160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497633" y="928914"/>
            <a:ext cx="11428963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5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EV mobility to community energy — extending battery value through three lifecycles</a:t>
            </a:r>
            <a:endParaRPr b="0" i="0" sz="1600" u="none" cap="none" strike="noStrike"/>
          </a:p>
        </p:txBody>
      </p:sp>
      <p:sp>
        <p:nvSpPr>
          <p:cNvPr id="221" name="Google Shape;221;p9"/>
          <p:cNvSpPr/>
          <p:nvPr/>
        </p:nvSpPr>
        <p:spPr>
          <a:xfrm>
            <a:off x="335073" y="1263987"/>
            <a:ext cx="5696235" cy="4327745"/>
          </a:xfrm>
          <a:custGeom>
            <a:rect b="b" l="l" r="r" t="t"/>
            <a:pathLst>
              <a:path extrusionOk="0" h="4327745" w="5696235">
                <a:moveTo>
                  <a:pt x="66344" y="0"/>
                </a:moveTo>
                <a:lnTo>
                  <a:pt x="5629891" y="0"/>
                </a:lnTo>
                <a:cubicBezTo>
                  <a:pt x="5666532" y="0"/>
                  <a:pt x="5696235" y="29703"/>
                  <a:pt x="5696235" y="66344"/>
                </a:cubicBezTo>
                <a:lnTo>
                  <a:pt x="5696235" y="4261401"/>
                </a:lnTo>
                <a:cubicBezTo>
                  <a:pt x="5696235" y="4298042"/>
                  <a:pt x="5666532" y="4327745"/>
                  <a:pt x="5629891" y="4327745"/>
                </a:cubicBezTo>
                <a:lnTo>
                  <a:pt x="66344" y="4327745"/>
                </a:lnTo>
                <a:cubicBezTo>
                  <a:pt x="29703" y="4327745"/>
                  <a:pt x="0" y="4298042"/>
                  <a:pt x="0" y="4261401"/>
                </a:cubicBezTo>
                <a:lnTo>
                  <a:pt x="0" y="66344"/>
                </a:lnTo>
                <a:cubicBezTo>
                  <a:pt x="0" y="29728"/>
                  <a:pt x="29728" y="0"/>
                  <a:pt x="6634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71092" y="1400007"/>
            <a:ext cx="5507135" cy="232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6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The Three-Life Journey</a:t>
            </a:r>
            <a:endParaRPr b="0" i="0" sz="1600" u="none" cap="none" strike="noStrike"/>
          </a:p>
        </p:txBody>
      </p:sp>
      <p:sp>
        <p:nvSpPr>
          <p:cNvPr id="223" name="Google Shape;223;p9"/>
          <p:cNvSpPr/>
          <p:nvPr/>
        </p:nvSpPr>
        <p:spPr>
          <a:xfrm>
            <a:off x="471092" y="1731762"/>
            <a:ext cx="331755" cy="331755"/>
          </a:xfrm>
          <a:custGeom>
            <a:rect b="b" l="l" r="r" t="t"/>
            <a:pathLst>
              <a:path extrusionOk="0" h="331755" w="331755">
                <a:moveTo>
                  <a:pt x="165878" y="0"/>
                </a:moveTo>
                <a:lnTo>
                  <a:pt x="165878" y="0"/>
                </a:lnTo>
                <a:cubicBezTo>
                  <a:pt x="257428" y="0"/>
                  <a:pt x="331755" y="74327"/>
                  <a:pt x="331755" y="165878"/>
                </a:cubicBezTo>
                <a:lnTo>
                  <a:pt x="331755" y="165878"/>
                </a:lnTo>
                <a:cubicBezTo>
                  <a:pt x="331755" y="257428"/>
                  <a:pt x="257428" y="331755"/>
                  <a:pt x="165878" y="331755"/>
                </a:cubicBezTo>
                <a:lnTo>
                  <a:pt x="165878" y="331755"/>
                </a:lnTo>
                <a:cubicBezTo>
                  <a:pt x="74327" y="331755"/>
                  <a:pt x="0" y="257428"/>
                  <a:pt x="0" y="165878"/>
                </a:cubicBezTo>
                <a:lnTo>
                  <a:pt x="0" y="165878"/>
                </a:lnTo>
                <a:cubicBezTo>
                  <a:pt x="0" y="74327"/>
                  <a:pt x="74327" y="0"/>
                  <a:pt x="165878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07112" y="1781525"/>
            <a:ext cx="132702" cy="232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6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b="0" i="0" sz="1600" u="none" cap="none" strike="noStrike"/>
          </a:p>
        </p:txBody>
      </p:sp>
      <p:sp>
        <p:nvSpPr>
          <p:cNvPr id="225" name="Google Shape;225;p9"/>
          <p:cNvSpPr/>
          <p:nvPr/>
        </p:nvSpPr>
        <p:spPr>
          <a:xfrm>
            <a:off x="902374" y="1731762"/>
            <a:ext cx="4992914" cy="796212"/>
          </a:xfrm>
          <a:custGeom>
            <a:rect b="b" l="l" r="r" t="t"/>
            <a:pathLst>
              <a:path extrusionOk="0" h="796212" w="4992914">
                <a:moveTo>
                  <a:pt x="66348" y="0"/>
                </a:moveTo>
                <a:lnTo>
                  <a:pt x="4926566" y="0"/>
                </a:lnTo>
                <a:cubicBezTo>
                  <a:pt x="4963209" y="0"/>
                  <a:pt x="4992914" y="29705"/>
                  <a:pt x="4992914" y="66348"/>
                </a:cubicBezTo>
                <a:lnTo>
                  <a:pt x="4992914" y="729864"/>
                </a:lnTo>
                <a:cubicBezTo>
                  <a:pt x="4992914" y="766507"/>
                  <a:pt x="4963209" y="796212"/>
                  <a:pt x="4926566" y="796212"/>
                </a:cubicBezTo>
                <a:lnTo>
                  <a:pt x="66348" y="796212"/>
                </a:lnTo>
                <a:cubicBezTo>
                  <a:pt x="29705" y="796212"/>
                  <a:pt x="0" y="766507"/>
                  <a:pt x="0" y="729864"/>
                </a:cubicBezTo>
                <a:lnTo>
                  <a:pt x="0" y="66348"/>
                </a:lnTo>
                <a:cubicBezTo>
                  <a:pt x="0" y="29730"/>
                  <a:pt x="29730" y="0"/>
                  <a:pt x="6634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001900" y="1831289"/>
            <a:ext cx="4860212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First Life: EV Mobility</a:t>
            </a:r>
            <a:endParaRPr b="0" i="0" sz="1600" u="none" cap="none" strike="noStrike"/>
          </a:p>
        </p:txBody>
      </p:sp>
      <p:sp>
        <p:nvSpPr>
          <p:cNvPr id="227" name="Google Shape;227;p9"/>
          <p:cNvSpPr/>
          <p:nvPr/>
        </p:nvSpPr>
        <p:spPr>
          <a:xfrm>
            <a:off x="1001900" y="2063517"/>
            <a:ext cx="4860212" cy="36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Battery serves in electric vehicle until capacity drops to </a:t>
            </a: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~80%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of original — retired from vehicle use due to range requirements.</a:t>
            </a:r>
            <a:endParaRPr b="0" i="0" sz="1600" u="none" cap="none" strike="noStrike"/>
          </a:p>
        </p:txBody>
      </p:sp>
      <p:sp>
        <p:nvSpPr>
          <p:cNvPr id="228" name="Google Shape;228;p9"/>
          <p:cNvSpPr/>
          <p:nvPr/>
        </p:nvSpPr>
        <p:spPr>
          <a:xfrm>
            <a:off x="3118913" y="2594325"/>
            <a:ext cx="124408" cy="165878"/>
          </a:xfrm>
          <a:custGeom>
            <a:rect b="b" l="l" r="r" t="t"/>
            <a:pathLst>
              <a:path extrusionOk="0" h="165878" w="124408">
                <a:moveTo>
                  <a:pt x="54882" y="162832"/>
                </a:moveTo>
                <a:cubicBezTo>
                  <a:pt x="58932" y="166882"/>
                  <a:pt x="65509" y="166882"/>
                  <a:pt x="69558" y="162832"/>
                </a:cubicBezTo>
                <a:lnTo>
                  <a:pt x="121395" y="110995"/>
                </a:lnTo>
                <a:cubicBezTo>
                  <a:pt x="125445" y="106946"/>
                  <a:pt x="125445" y="100369"/>
                  <a:pt x="121395" y="96319"/>
                </a:cubicBezTo>
                <a:cubicBezTo>
                  <a:pt x="117345" y="92269"/>
                  <a:pt x="110769" y="92269"/>
                  <a:pt x="106719" y="96319"/>
                </a:cubicBezTo>
                <a:lnTo>
                  <a:pt x="72571" y="130467"/>
                </a:lnTo>
                <a:lnTo>
                  <a:pt x="72571" y="10367"/>
                </a:lnTo>
                <a:cubicBezTo>
                  <a:pt x="72571" y="4633"/>
                  <a:pt x="67939" y="0"/>
                  <a:pt x="62204" y="0"/>
                </a:cubicBezTo>
                <a:cubicBezTo>
                  <a:pt x="56470" y="0"/>
                  <a:pt x="51837" y="4633"/>
                  <a:pt x="51837" y="10367"/>
                </a:cubicBezTo>
                <a:lnTo>
                  <a:pt x="51837" y="130467"/>
                </a:lnTo>
                <a:lnTo>
                  <a:pt x="17689" y="96319"/>
                </a:lnTo>
                <a:cubicBezTo>
                  <a:pt x="13640" y="92269"/>
                  <a:pt x="7063" y="92269"/>
                  <a:pt x="3013" y="96319"/>
                </a:cubicBezTo>
                <a:cubicBezTo>
                  <a:pt x="-1037" y="100369"/>
                  <a:pt x="-1037" y="106946"/>
                  <a:pt x="3013" y="110995"/>
                </a:cubicBezTo>
                <a:lnTo>
                  <a:pt x="54850" y="162832"/>
                </a:ln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71092" y="2826554"/>
            <a:ext cx="331755" cy="331755"/>
          </a:xfrm>
          <a:custGeom>
            <a:rect b="b" l="l" r="r" t="t"/>
            <a:pathLst>
              <a:path extrusionOk="0" h="331755" w="331755">
                <a:moveTo>
                  <a:pt x="165878" y="0"/>
                </a:moveTo>
                <a:lnTo>
                  <a:pt x="165878" y="0"/>
                </a:lnTo>
                <a:cubicBezTo>
                  <a:pt x="257428" y="0"/>
                  <a:pt x="331755" y="74327"/>
                  <a:pt x="331755" y="165878"/>
                </a:cubicBezTo>
                <a:lnTo>
                  <a:pt x="331755" y="165878"/>
                </a:lnTo>
                <a:cubicBezTo>
                  <a:pt x="331755" y="257428"/>
                  <a:pt x="257428" y="331755"/>
                  <a:pt x="165878" y="331755"/>
                </a:cubicBezTo>
                <a:lnTo>
                  <a:pt x="165878" y="331755"/>
                </a:lnTo>
                <a:cubicBezTo>
                  <a:pt x="74327" y="331755"/>
                  <a:pt x="0" y="257428"/>
                  <a:pt x="0" y="165878"/>
                </a:cubicBezTo>
                <a:lnTo>
                  <a:pt x="0" y="165878"/>
                </a:lnTo>
                <a:cubicBezTo>
                  <a:pt x="0" y="74327"/>
                  <a:pt x="74327" y="0"/>
                  <a:pt x="165878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93531" y="2876317"/>
            <a:ext cx="157584" cy="232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6" u="none" cap="none" strike="noStrike">
                <a:solidFill>
                  <a:srgbClr val="1A202C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b="0" i="0" sz="1600" u="none" cap="none" strike="noStrike"/>
          </a:p>
        </p:txBody>
      </p:sp>
      <p:sp>
        <p:nvSpPr>
          <p:cNvPr id="231" name="Google Shape;231;p9"/>
          <p:cNvSpPr/>
          <p:nvPr/>
        </p:nvSpPr>
        <p:spPr>
          <a:xfrm>
            <a:off x="902374" y="2826554"/>
            <a:ext cx="4992914" cy="796212"/>
          </a:xfrm>
          <a:custGeom>
            <a:rect b="b" l="l" r="r" t="t"/>
            <a:pathLst>
              <a:path extrusionOk="0" h="796212" w="4992914">
                <a:moveTo>
                  <a:pt x="66348" y="0"/>
                </a:moveTo>
                <a:lnTo>
                  <a:pt x="4926566" y="0"/>
                </a:lnTo>
                <a:cubicBezTo>
                  <a:pt x="4963209" y="0"/>
                  <a:pt x="4992914" y="29705"/>
                  <a:pt x="4992914" y="66348"/>
                </a:cubicBezTo>
                <a:lnTo>
                  <a:pt x="4992914" y="729864"/>
                </a:lnTo>
                <a:cubicBezTo>
                  <a:pt x="4992914" y="766507"/>
                  <a:pt x="4963209" y="796212"/>
                  <a:pt x="4926566" y="796212"/>
                </a:cubicBezTo>
                <a:lnTo>
                  <a:pt x="66348" y="796212"/>
                </a:lnTo>
                <a:cubicBezTo>
                  <a:pt x="29705" y="796212"/>
                  <a:pt x="0" y="766507"/>
                  <a:pt x="0" y="729864"/>
                </a:cubicBezTo>
                <a:lnTo>
                  <a:pt x="0" y="66348"/>
                </a:lnTo>
                <a:cubicBezTo>
                  <a:pt x="0" y="29730"/>
                  <a:pt x="29730" y="0"/>
                  <a:pt x="6634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1001900" y="2926080"/>
            <a:ext cx="4860212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Second Life: Stationary Storage</a:t>
            </a:r>
            <a:endParaRPr b="0" i="0" sz="1600" u="none" cap="none" strike="noStrike"/>
          </a:p>
        </p:txBody>
      </p:sp>
      <p:sp>
        <p:nvSpPr>
          <p:cNvPr id="233" name="Google Shape;233;p9"/>
          <p:cNvSpPr/>
          <p:nvPr/>
        </p:nvSpPr>
        <p:spPr>
          <a:xfrm>
            <a:off x="1001900" y="3158309"/>
            <a:ext cx="4860212" cy="36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Repurposed for grid/storage applications until capacity drops to </a:t>
            </a: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~60-70%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retired from grid storage due to performance requirements.</a:t>
            </a:r>
            <a:endParaRPr b="0" i="0" sz="1600" u="none" cap="none" strike="noStrike"/>
          </a:p>
        </p:txBody>
      </p:sp>
      <p:sp>
        <p:nvSpPr>
          <p:cNvPr id="234" name="Google Shape;234;p9"/>
          <p:cNvSpPr/>
          <p:nvPr/>
        </p:nvSpPr>
        <p:spPr>
          <a:xfrm>
            <a:off x="3118913" y="3689117"/>
            <a:ext cx="124408" cy="165878"/>
          </a:xfrm>
          <a:custGeom>
            <a:rect b="b" l="l" r="r" t="t"/>
            <a:pathLst>
              <a:path extrusionOk="0" h="165878" w="124408">
                <a:moveTo>
                  <a:pt x="54882" y="162832"/>
                </a:moveTo>
                <a:cubicBezTo>
                  <a:pt x="58932" y="166882"/>
                  <a:pt x="65509" y="166882"/>
                  <a:pt x="69558" y="162832"/>
                </a:cubicBezTo>
                <a:lnTo>
                  <a:pt x="121395" y="110995"/>
                </a:lnTo>
                <a:cubicBezTo>
                  <a:pt x="125445" y="106946"/>
                  <a:pt x="125445" y="100369"/>
                  <a:pt x="121395" y="96319"/>
                </a:cubicBezTo>
                <a:cubicBezTo>
                  <a:pt x="117345" y="92269"/>
                  <a:pt x="110769" y="92269"/>
                  <a:pt x="106719" y="96319"/>
                </a:cubicBezTo>
                <a:lnTo>
                  <a:pt x="72571" y="130467"/>
                </a:lnTo>
                <a:lnTo>
                  <a:pt x="72571" y="10367"/>
                </a:lnTo>
                <a:cubicBezTo>
                  <a:pt x="72571" y="4633"/>
                  <a:pt x="67939" y="0"/>
                  <a:pt x="62204" y="0"/>
                </a:cubicBezTo>
                <a:cubicBezTo>
                  <a:pt x="56470" y="0"/>
                  <a:pt x="51837" y="4633"/>
                  <a:pt x="51837" y="10367"/>
                </a:cubicBezTo>
                <a:lnTo>
                  <a:pt x="51837" y="130467"/>
                </a:lnTo>
                <a:lnTo>
                  <a:pt x="17689" y="96319"/>
                </a:lnTo>
                <a:cubicBezTo>
                  <a:pt x="13640" y="92269"/>
                  <a:pt x="7063" y="92269"/>
                  <a:pt x="3013" y="96319"/>
                </a:cubicBezTo>
                <a:cubicBezTo>
                  <a:pt x="-1037" y="100369"/>
                  <a:pt x="-1037" y="106946"/>
                  <a:pt x="3013" y="110995"/>
                </a:cubicBezTo>
                <a:lnTo>
                  <a:pt x="54850" y="162832"/>
                </a:ln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77727" y="3927981"/>
            <a:ext cx="320144" cy="320144"/>
          </a:xfrm>
          <a:custGeom>
            <a:rect b="b" l="l" r="r" t="t"/>
            <a:pathLst>
              <a:path extrusionOk="0" h="320144" w="320144">
                <a:moveTo>
                  <a:pt x="160072" y="0"/>
                </a:moveTo>
                <a:lnTo>
                  <a:pt x="160072" y="0"/>
                </a:lnTo>
                <a:cubicBezTo>
                  <a:pt x="248418" y="0"/>
                  <a:pt x="320144" y="71726"/>
                  <a:pt x="320144" y="160072"/>
                </a:cubicBezTo>
                <a:lnTo>
                  <a:pt x="320144" y="160072"/>
                </a:lnTo>
                <a:cubicBezTo>
                  <a:pt x="320144" y="248418"/>
                  <a:pt x="248418" y="320144"/>
                  <a:pt x="160072" y="320144"/>
                </a:cubicBezTo>
                <a:lnTo>
                  <a:pt x="160072" y="320144"/>
                </a:lnTo>
                <a:cubicBezTo>
                  <a:pt x="71726" y="320144"/>
                  <a:pt x="0" y="248418"/>
                  <a:pt x="0" y="160072"/>
                </a:cubicBezTo>
                <a:lnTo>
                  <a:pt x="0" y="160072"/>
                </a:lnTo>
                <a:cubicBezTo>
                  <a:pt x="0" y="71726"/>
                  <a:pt x="71726" y="0"/>
                  <a:pt x="160072" y="0"/>
                </a:cubicBezTo>
                <a:close/>
              </a:path>
            </a:pathLst>
          </a:custGeom>
          <a:solidFill>
            <a:srgbClr val="38A169"/>
          </a:solidFill>
          <a:ln cap="flat" cmpd="sng" w="20300">
            <a:solidFill>
              <a:srgbClr val="D69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92909" y="3971109"/>
            <a:ext cx="165878" cy="232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6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b="0" i="0" sz="1600" u="none" cap="none" strike="noStrike"/>
          </a:p>
        </p:txBody>
      </p:sp>
      <p:sp>
        <p:nvSpPr>
          <p:cNvPr id="237" name="Google Shape;237;p9"/>
          <p:cNvSpPr/>
          <p:nvPr/>
        </p:nvSpPr>
        <p:spPr>
          <a:xfrm>
            <a:off x="905691" y="3924663"/>
            <a:ext cx="4982962" cy="802847"/>
          </a:xfrm>
          <a:custGeom>
            <a:rect b="b" l="l" r="r" t="t"/>
            <a:pathLst>
              <a:path extrusionOk="0" h="802847" w="4982962">
                <a:moveTo>
                  <a:pt x="66347" y="0"/>
                </a:moveTo>
                <a:lnTo>
                  <a:pt x="4916614" y="0"/>
                </a:lnTo>
                <a:cubicBezTo>
                  <a:pt x="4953257" y="0"/>
                  <a:pt x="4982962" y="29705"/>
                  <a:pt x="4982962" y="66347"/>
                </a:cubicBezTo>
                <a:lnTo>
                  <a:pt x="4982962" y="736500"/>
                </a:lnTo>
                <a:cubicBezTo>
                  <a:pt x="4982962" y="773143"/>
                  <a:pt x="4953257" y="802847"/>
                  <a:pt x="4916614" y="802847"/>
                </a:cubicBezTo>
                <a:lnTo>
                  <a:pt x="66347" y="802847"/>
                </a:lnTo>
                <a:cubicBezTo>
                  <a:pt x="29705" y="802847"/>
                  <a:pt x="0" y="773143"/>
                  <a:pt x="0" y="736500"/>
                </a:cubicBezTo>
                <a:lnTo>
                  <a:pt x="0" y="66347"/>
                </a:lnTo>
                <a:cubicBezTo>
                  <a:pt x="0" y="29729"/>
                  <a:pt x="29729" y="0"/>
                  <a:pt x="66347" y="0"/>
                </a:cubicBezTo>
                <a:close/>
              </a:path>
            </a:pathLst>
          </a:custGeom>
          <a:gradFill>
            <a:gsLst>
              <a:gs pos="0">
                <a:srgbClr val="38A169">
                  <a:alpha val="20000"/>
                </a:srgbClr>
              </a:gs>
              <a:gs pos="100000">
                <a:srgbClr val="38A169">
                  <a:alpha val="10196"/>
                </a:srgbClr>
              </a:gs>
            </a:gsLst>
            <a:lin ang="0" scaled="0"/>
          </a:gradFill>
          <a:ln cap="flat" cmpd="sng" w="10150">
            <a:solidFill>
              <a:srgbClr val="38A16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008535" y="4027508"/>
            <a:ext cx="4843624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Third Life: Community Microgrid</a:t>
            </a:r>
            <a:endParaRPr b="0" i="0" sz="1600" u="none" cap="none" strike="noStrike"/>
          </a:p>
        </p:txBody>
      </p:sp>
      <p:sp>
        <p:nvSpPr>
          <p:cNvPr id="239" name="Google Shape;239;p9"/>
          <p:cNvSpPr/>
          <p:nvPr/>
        </p:nvSpPr>
        <p:spPr>
          <a:xfrm>
            <a:off x="1008535" y="4259736"/>
            <a:ext cx="4843624" cy="36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Reconditioned and repurposed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microgrid application at </a:t>
            </a:r>
            <a:r>
              <a:rPr b="0" i="0" lang="en-US" sz="1045" u="none" cap="none" strike="noStrike">
                <a:solidFill>
                  <a:srgbClr val="F7FAFC"/>
                </a:solidFill>
                <a:highlight>
                  <a:srgbClr val="D69E2E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~50-60% original capacity 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Lower energy density acceptable at community scale.</a:t>
            </a:r>
            <a:endParaRPr b="0" i="0" sz="1600" u="none" cap="none" strike="noStrike"/>
          </a:p>
        </p:txBody>
      </p:sp>
      <p:sp>
        <p:nvSpPr>
          <p:cNvPr id="240" name="Google Shape;240;p9"/>
          <p:cNvSpPr/>
          <p:nvPr/>
        </p:nvSpPr>
        <p:spPr>
          <a:xfrm>
            <a:off x="348343" y="5731069"/>
            <a:ext cx="5681306" cy="796212"/>
          </a:xfrm>
          <a:custGeom>
            <a:rect b="b" l="l" r="r" t="t"/>
            <a:pathLst>
              <a:path extrusionOk="0" h="796212" w="5681306">
                <a:moveTo>
                  <a:pt x="33176" y="0"/>
                </a:moveTo>
                <a:lnTo>
                  <a:pt x="5614958" y="0"/>
                </a:lnTo>
                <a:cubicBezTo>
                  <a:pt x="5651601" y="0"/>
                  <a:pt x="5681306" y="29705"/>
                  <a:pt x="5681306" y="66348"/>
                </a:cubicBezTo>
                <a:lnTo>
                  <a:pt x="5681306" y="729864"/>
                </a:lnTo>
                <a:cubicBezTo>
                  <a:pt x="5681306" y="766507"/>
                  <a:pt x="5651601" y="796212"/>
                  <a:pt x="5614958" y="796212"/>
                </a:cubicBezTo>
                <a:lnTo>
                  <a:pt x="33176" y="796212"/>
                </a:lnTo>
                <a:cubicBezTo>
                  <a:pt x="14853" y="796212"/>
                  <a:pt x="0" y="781359"/>
                  <a:pt x="0" y="763037"/>
                </a:cubicBezTo>
                <a:lnTo>
                  <a:pt x="0" y="33176"/>
                </a:lnTo>
                <a:cubicBezTo>
                  <a:pt x="0" y="14865"/>
                  <a:pt x="14865" y="0"/>
                  <a:pt x="33176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348343" y="5731069"/>
            <a:ext cx="33176" cy="796212"/>
          </a:xfrm>
          <a:custGeom>
            <a:rect b="b" l="l" r="r" t="t"/>
            <a:pathLst>
              <a:path extrusionOk="0" h="796212" w="33176">
                <a:moveTo>
                  <a:pt x="33176" y="0"/>
                </a:moveTo>
                <a:lnTo>
                  <a:pt x="33176" y="0"/>
                </a:lnTo>
                <a:lnTo>
                  <a:pt x="33176" y="796212"/>
                </a:lnTo>
                <a:lnTo>
                  <a:pt x="33176" y="796212"/>
                </a:lnTo>
                <a:cubicBezTo>
                  <a:pt x="14853" y="796212"/>
                  <a:pt x="0" y="781359"/>
                  <a:pt x="0" y="763037"/>
                </a:cubicBezTo>
                <a:lnTo>
                  <a:pt x="0" y="33176"/>
                </a:ln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37502" y="5863771"/>
            <a:ext cx="186612" cy="165878"/>
          </a:xfrm>
          <a:custGeom>
            <a:rect b="b" l="l" r="r" t="t"/>
            <a:pathLst>
              <a:path extrusionOk="0" h="165878" w="186612">
                <a:moveTo>
                  <a:pt x="72604" y="31458"/>
                </a:moveTo>
                <a:lnTo>
                  <a:pt x="72604" y="47528"/>
                </a:lnTo>
                <a:lnTo>
                  <a:pt x="72766" y="47690"/>
                </a:lnTo>
                <a:cubicBezTo>
                  <a:pt x="74872" y="20994"/>
                  <a:pt x="97194" y="0"/>
                  <a:pt x="124441" y="0"/>
                </a:cubicBezTo>
                <a:cubicBezTo>
                  <a:pt x="130953" y="0"/>
                  <a:pt x="137205" y="1199"/>
                  <a:pt x="142940" y="3402"/>
                </a:cubicBezTo>
                <a:cubicBezTo>
                  <a:pt x="146180" y="4633"/>
                  <a:pt x="146763" y="8747"/>
                  <a:pt x="144333" y="11210"/>
                </a:cubicBezTo>
                <a:lnTo>
                  <a:pt x="115596" y="39947"/>
                </a:lnTo>
                <a:cubicBezTo>
                  <a:pt x="114624" y="40919"/>
                  <a:pt x="114073" y="42247"/>
                  <a:pt x="114073" y="43608"/>
                </a:cubicBezTo>
                <a:lnTo>
                  <a:pt x="114073" y="57020"/>
                </a:lnTo>
                <a:cubicBezTo>
                  <a:pt x="114073" y="59871"/>
                  <a:pt x="116406" y="62204"/>
                  <a:pt x="119257" y="62204"/>
                </a:cubicBezTo>
                <a:lnTo>
                  <a:pt x="132670" y="62204"/>
                </a:lnTo>
                <a:cubicBezTo>
                  <a:pt x="134030" y="62204"/>
                  <a:pt x="135359" y="61653"/>
                  <a:pt x="136331" y="60681"/>
                </a:cubicBezTo>
                <a:lnTo>
                  <a:pt x="165068" y="31944"/>
                </a:lnTo>
                <a:cubicBezTo>
                  <a:pt x="167530" y="29482"/>
                  <a:pt x="171644" y="30098"/>
                  <a:pt x="172876" y="33338"/>
                </a:cubicBezTo>
                <a:cubicBezTo>
                  <a:pt x="175079" y="39072"/>
                  <a:pt x="176277" y="45325"/>
                  <a:pt x="176277" y="51837"/>
                </a:cubicBezTo>
                <a:cubicBezTo>
                  <a:pt x="176277" y="71470"/>
                  <a:pt x="165359" y="88576"/>
                  <a:pt x="149225" y="97356"/>
                </a:cubicBezTo>
                <a:lnTo>
                  <a:pt x="175629" y="123760"/>
                </a:lnTo>
                <a:cubicBezTo>
                  <a:pt x="181688" y="129819"/>
                  <a:pt x="181688" y="139668"/>
                  <a:pt x="175629" y="145758"/>
                </a:cubicBezTo>
                <a:lnTo>
                  <a:pt x="156158" y="165230"/>
                </a:lnTo>
                <a:cubicBezTo>
                  <a:pt x="150100" y="171288"/>
                  <a:pt x="140251" y="171288"/>
                  <a:pt x="134160" y="165230"/>
                </a:cubicBezTo>
                <a:lnTo>
                  <a:pt x="93339" y="124408"/>
                </a:lnTo>
                <a:cubicBezTo>
                  <a:pt x="84461" y="115531"/>
                  <a:pt x="82453" y="102410"/>
                  <a:pt x="87345" y="91589"/>
                </a:cubicBezTo>
                <a:lnTo>
                  <a:pt x="57960" y="62204"/>
                </a:lnTo>
                <a:lnTo>
                  <a:pt x="41891" y="62204"/>
                </a:lnTo>
                <a:cubicBezTo>
                  <a:pt x="38424" y="62204"/>
                  <a:pt x="35184" y="60487"/>
                  <a:pt x="33273" y="57604"/>
                </a:cubicBezTo>
                <a:lnTo>
                  <a:pt x="7581" y="19082"/>
                </a:lnTo>
                <a:cubicBezTo>
                  <a:pt x="6220" y="17041"/>
                  <a:pt x="6480" y="14287"/>
                  <a:pt x="8229" y="12538"/>
                </a:cubicBezTo>
                <a:lnTo>
                  <a:pt x="22938" y="-2171"/>
                </a:lnTo>
                <a:cubicBezTo>
                  <a:pt x="24687" y="-3920"/>
                  <a:pt x="27409" y="-4179"/>
                  <a:pt x="29482" y="-2819"/>
                </a:cubicBezTo>
                <a:lnTo>
                  <a:pt x="68003" y="22841"/>
                </a:lnTo>
                <a:cubicBezTo>
                  <a:pt x="70887" y="24752"/>
                  <a:pt x="72604" y="27992"/>
                  <a:pt x="72604" y="31458"/>
                </a:cubicBezTo>
                <a:close/>
                <a:moveTo>
                  <a:pt x="69850" y="96092"/>
                </a:moveTo>
                <a:cubicBezTo>
                  <a:pt x="67809" y="108080"/>
                  <a:pt x="70628" y="120747"/>
                  <a:pt x="78403" y="130888"/>
                </a:cubicBezTo>
                <a:lnTo>
                  <a:pt x="47625" y="161633"/>
                </a:lnTo>
                <a:cubicBezTo>
                  <a:pt x="38521" y="170737"/>
                  <a:pt x="23748" y="170737"/>
                  <a:pt x="14644" y="161633"/>
                </a:cubicBezTo>
                <a:cubicBezTo>
                  <a:pt x="5540" y="152530"/>
                  <a:pt x="5540" y="137756"/>
                  <a:pt x="14644" y="128652"/>
                </a:cubicBezTo>
                <a:lnTo>
                  <a:pt x="58511" y="84785"/>
                </a:lnTo>
                <a:lnTo>
                  <a:pt x="69850" y="96125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697411" y="5830596"/>
            <a:ext cx="5299788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Design Implications</a:t>
            </a:r>
            <a:endParaRPr b="0" i="0" sz="1600" u="none" cap="none" strike="noStrike"/>
          </a:p>
        </p:txBody>
      </p:sp>
      <p:sp>
        <p:nvSpPr>
          <p:cNvPr id="244" name="Google Shape;244;p9"/>
          <p:cNvSpPr/>
          <p:nvPr/>
        </p:nvSpPr>
        <p:spPr>
          <a:xfrm>
            <a:off x="697411" y="6062824"/>
            <a:ext cx="5299788" cy="36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Depth of Discharge (DoD):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Conservative </a:t>
            </a:r>
            <a:r>
              <a:rPr b="1" i="0" lang="en-US" sz="1045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70%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(vs 80-90% for new batteries) to account for variable cell capacity. </a:t>
            </a: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Round-trip efficiency: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~90%.</a:t>
            </a:r>
            <a:endParaRPr b="0" i="0" sz="1600" u="none" cap="none" strike="noStrike"/>
          </a:p>
        </p:txBody>
      </p:sp>
      <p:sp>
        <p:nvSpPr>
          <p:cNvPr id="245" name="Google Shape;245;p9"/>
          <p:cNvSpPr/>
          <p:nvPr/>
        </p:nvSpPr>
        <p:spPr>
          <a:xfrm>
            <a:off x="6166498" y="1263987"/>
            <a:ext cx="5696235" cy="2395272"/>
          </a:xfrm>
          <a:custGeom>
            <a:rect b="b" l="l" r="r" t="t"/>
            <a:pathLst>
              <a:path extrusionOk="0" h="2395272" w="5696235">
                <a:moveTo>
                  <a:pt x="66349" y="0"/>
                </a:moveTo>
                <a:lnTo>
                  <a:pt x="5629886" y="0"/>
                </a:lnTo>
                <a:cubicBezTo>
                  <a:pt x="5666530" y="0"/>
                  <a:pt x="5696235" y="29705"/>
                  <a:pt x="5696235" y="66349"/>
                </a:cubicBezTo>
                <a:lnTo>
                  <a:pt x="5696235" y="2328923"/>
                </a:lnTo>
                <a:cubicBezTo>
                  <a:pt x="5696235" y="2365566"/>
                  <a:pt x="5666530" y="2395272"/>
                  <a:pt x="5629886" y="2395272"/>
                </a:cubicBezTo>
                <a:lnTo>
                  <a:pt x="66349" y="2395272"/>
                </a:lnTo>
                <a:cubicBezTo>
                  <a:pt x="29705" y="2395272"/>
                  <a:pt x="0" y="2365566"/>
                  <a:pt x="0" y="2328923"/>
                </a:cubicBezTo>
                <a:lnTo>
                  <a:pt x="0" y="66349"/>
                </a:lnTo>
                <a:cubicBezTo>
                  <a:pt x="0" y="29730"/>
                  <a:pt x="29730" y="0"/>
                  <a:pt x="6634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302518" y="1400007"/>
            <a:ext cx="5507135" cy="232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6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Why Third-Life for SHEPA/Merti?</a:t>
            </a:r>
            <a:endParaRPr b="0" i="0" sz="1600" u="none" cap="none" strike="noStrike"/>
          </a:p>
        </p:txBody>
      </p:sp>
      <p:sp>
        <p:nvSpPr>
          <p:cNvPr id="247" name="Google Shape;247;p9"/>
          <p:cNvSpPr/>
          <p:nvPr/>
        </p:nvSpPr>
        <p:spPr>
          <a:xfrm>
            <a:off x="6351244" y="1764938"/>
            <a:ext cx="93306" cy="149290"/>
          </a:xfrm>
          <a:custGeom>
            <a:rect b="b" l="l" r="r" t="t"/>
            <a:pathLst>
              <a:path extrusionOk="0" h="149290" w="93306">
                <a:moveTo>
                  <a:pt x="39655" y="6998"/>
                </a:moveTo>
                <a:cubicBezTo>
                  <a:pt x="39655" y="3120"/>
                  <a:pt x="42775" y="0"/>
                  <a:pt x="46653" y="0"/>
                </a:cubicBezTo>
                <a:cubicBezTo>
                  <a:pt x="50531" y="0"/>
                  <a:pt x="53651" y="3120"/>
                  <a:pt x="53651" y="6998"/>
                </a:cubicBezTo>
                <a:lnTo>
                  <a:pt x="53651" y="18661"/>
                </a:lnTo>
                <a:lnTo>
                  <a:pt x="69980" y="18661"/>
                </a:lnTo>
                <a:cubicBezTo>
                  <a:pt x="75141" y="18661"/>
                  <a:pt x="79310" y="22831"/>
                  <a:pt x="79310" y="27992"/>
                </a:cubicBezTo>
                <a:cubicBezTo>
                  <a:pt x="79310" y="33153"/>
                  <a:pt x="75141" y="37322"/>
                  <a:pt x="69980" y="37322"/>
                </a:cubicBezTo>
                <a:lnTo>
                  <a:pt x="36477" y="37322"/>
                </a:lnTo>
                <a:cubicBezTo>
                  <a:pt x="29216" y="37322"/>
                  <a:pt x="23327" y="43212"/>
                  <a:pt x="23327" y="50473"/>
                </a:cubicBezTo>
                <a:cubicBezTo>
                  <a:pt x="23327" y="57033"/>
                  <a:pt x="28138" y="62573"/>
                  <a:pt x="34611" y="63506"/>
                </a:cubicBezTo>
                <a:lnTo>
                  <a:pt x="61320" y="67326"/>
                </a:lnTo>
                <a:cubicBezTo>
                  <a:pt x="77007" y="69571"/>
                  <a:pt x="88641" y="82984"/>
                  <a:pt x="88641" y="98817"/>
                </a:cubicBezTo>
                <a:cubicBezTo>
                  <a:pt x="88641" y="116399"/>
                  <a:pt x="74382" y="130629"/>
                  <a:pt x="56829" y="130629"/>
                </a:cubicBezTo>
                <a:lnTo>
                  <a:pt x="53651" y="130629"/>
                </a:lnTo>
                <a:lnTo>
                  <a:pt x="53651" y="142292"/>
                </a:lnTo>
                <a:cubicBezTo>
                  <a:pt x="53651" y="146170"/>
                  <a:pt x="50531" y="149290"/>
                  <a:pt x="46653" y="149290"/>
                </a:cubicBezTo>
                <a:cubicBezTo>
                  <a:pt x="42775" y="149290"/>
                  <a:pt x="39655" y="146170"/>
                  <a:pt x="39655" y="142292"/>
                </a:cubicBezTo>
                <a:lnTo>
                  <a:pt x="39655" y="130629"/>
                </a:lnTo>
                <a:lnTo>
                  <a:pt x="18661" y="130629"/>
                </a:lnTo>
                <a:cubicBezTo>
                  <a:pt x="13500" y="130629"/>
                  <a:pt x="9331" y="126459"/>
                  <a:pt x="9331" y="121298"/>
                </a:cubicBezTo>
                <a:cubicBezTo>
                  <a:pt x="9331" y="116137"/>
                  <a:pt x="13500" y="111967"/>
                  <a:pt x="18661" y="111967"/>
                </a:cubicBezTo>
                <a:lnTo>
                  <a:pt x="56829" y="111967"/>
                </a:lnTo>
                <a:cubicBezTo>
                  <a:pt x="64090" y="111967"/>
                  <a:pt x="69980" y="106077"/>
                  <a:pt x="69980" y="98817"/>
                </a:cubicBezTo>
                <a:cubicBezTo>
                  <a:pt x="69980" y="92256"/>
                  <a:pt x="65168" y="86716"/>
                  <a:pt x="58695" y="85783"/>
                </a:cubicBezTo>
                <a:lnTo>
                  <a:pt x="31987" y="81964"/>
                </a:lnTo>
                <a:cubicBezTo>
                  <a:pt x="16299" y="79748"/>
                  <a:pt x="4665" y="66306"/>
                  <a:pt x="4665" y="50473"/>
                </a:cubicBezTo>
                <a:cubicBezTo>
                  <a:pt x="4665" y="32920"/>
                  <a:pt x="18924" y="18661"/>
                  <a:pt x="36477" y="18661"/>
                </a:cubicBezTo>
                <a:lnTo>
                  <a:pt x="39655" y="18661"/>
                </a:lnTo>
                <a:lnTo>
                  <a:pt x="39655" y="6998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6588657" y="1731762"/>
            <a:ext cx="4520163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Dramatically Lower Upfront Cost</a:t>
            </a:r>
            <a:endParaRPr b="0" i="0" sz="1600" u="none" cap="none" strike="noStrike"/>
          </a:p>
        </p:txBody>
      </p:sp>
      <p:sp>
        <p:nvSpPr>
          <p:cNvPr id="249" name="Google Shape;249;p9"/>
          <p:cNvSpPr/>
          <p:nvPr/>
        </p:nvSpPr>
        <p:spPr>
          <a:xfrm>
            <a:off x="6588657" y="1930815"/>
            <a:ext cx="4520163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 to 28% cost savings vs new batteries (CrossBoundary Innovation Lab data)</a:t>
            </a:r>
            <a:endParaRPr b="0" i="0" sz="1600" u="none" cap="none" strike="noStrike"/>
          </a:p>
        </p:txBody>
      </p:sp>
      <p:sp>
        <p:nvSpPr>
          <p:cNvPr id="250" name="Google Shape;250;p9"/>
          <p:cNvSpPr/>
          <p:nvPr/>
        </p:nvSpPr>
        <p:spPr>
          <a:xfrm>
            <a:off x="6323252" y="2229395"/>
            <a:ext cx="149290" cy="149290"/>
          </a:xfrm>
          <a:custGeom>
            <a:rect b="b" l="l" r="r" t="t"/>
            <a:pathLst>
              <a:path extrusionOk="0" h="149290" w="149290">
                <a:moveTo>
                  <a:pt x="44408" y="17495"/>
                </a:moveTo>
                <a:cubicBezTo>
                  <a:pt x="57879" y="-5832"/>
                  <a:pt x="91557" y="-5832"/>
                  <a:pt x="105028" y="17495"/>
                </a:cubicBezTo>
                <a:lnTo>
                  <a:pt x="115904" y="36331"/>
                </a:lnTo>
                <a:lnTo>
                  <a:pt x="123981" y="31666"/>
                </a:lnTo>
                <a:cubicBezTo>
                  <a:pt x="126430" y="30237"/>
                  <a:pt x="129491" y="30441"/>
                  <a:pt x="131737" y="32161"/>
                </a:cubicBezTo>
                <a:cubicBezTo>
                  <a:pt x="133982" y="33882"/>
                  <a:pt x="134973" y="36798"/>
                  <a:pt x="134244" y="39538"/>
                </a:cubicBezTo>
                <a:lnTo>
                  <a:pt x="127392" y="65023"/>
                </a:lnTo>
                <a:cubicBezTo>
                  <a:pt x="126401" y="68755"/>
                  <a:pt x="122552" y="70971"/>
                  <a:pt x="118820" y="69980"/>
                </a:cubicBezTo>
                <a:lnTo>
                  <a:pt x="93335" y="63157"/>
                </a:lnTo>
                <a:cubicBezTo>
                  <a:pt x="90594" y="62428"/>
                  <a:pt x="88583" y="60124"/>
                  <a:pt x="88203" y="57325"/>
                </a:cubicBezTo>
                <a:cubicBezTo>
                  <a:pt x="87824" y="54526"/>
                  <a:pt x="89195" y="51756"/>
                  <a:pt x="91644" y="50356"/>
                </a:cubicBezTo>
                <a:lnTo>
                  <a:pt x="99721" y="45691"/>
                </a:lnTo>
                <a:lnTo>
                  <a:pt x="88845" y="26855"/>
                </a:lnTo>
                <a:cubicBezTo>
                  <a:pt x="82547" y="15979"/>
                  <a:pt x="66860" y="15979"/>
                  <a:pt x="60562" y="26855"/>
                </a:cubicBezTo>
                <a:lnTo>
                  <a:pt x="59016" y="29508"/>
                </a:lnTo>
                <a:cubicBezTo>
                  <a:pt x="56450" y="33969"/>
                  <a:pt x="50735" y="35485"/>
                  <a:pt x="46274" y="32920"/>
                </a:cubicBezTo>
                <a:cubicBezTo>
                  <a:pt x="41813" y="30354"/>
                  <a:pt x="40297" y="24639"/>
                  <a:pt x="42863" y="20148"/>
                </a:cubicBezTo>
                <a:lnTo>
                  <a:pt x="44408" y="17495"/>
                </a:lnTo>
                <a:close/>
                <a:moveTo>
                  <a:pt x="131124" y="81380"/>
                </a:moveTo>
                <a:cubicBezTo>
                  <a:pt x="135585" y="78815"/>
                  <a:pt x="141300" y="80331"/>
                  <a:pt x="143866" y="84792"/>
                </a:cubicBezTo>
                <a:lnTo>
                  <a:pt x="145412" y="87445"/>
                </a:lnTo>
                <a:cubicBezTo>
                  <a:pt x="158883" y="110772"/>
                  <a:pt x="142059" y="139930"/>
                  <a:pt x="115116" y="139930"/>
                </a:cubicBezTo>
                <a:lnTo>
                  <a:pt x="93364" y="139930"/>
                </a:lnTo>
                <a:lnTo>
                  <a:pt x="93364" y="149261"/>
                </a:lnTo>
                <a:cubicBezTo>
                  <a:pt x="93364" y="152089"/>
                  <a:pt x="91673" y="154655"/>
                  <a:pt x="89049" y="155734"/>
                </a:cubicBezTo>
                <a:cubicBezTo>
                  <a:pt x="86425" y="156813"/>
                  <a:pt x="83422" y="156229"/>
                  <a:pt x="81410" y="154218"/>
                </a:cubicBezTo>
                <a:lnTo>
                  <a:pt x="62748" y="135556"/>
                </a:lnTo>
                <a:cubicBezTo>
                  <a:pt x="60007" y="132815"/>
                  <a:pt x="60007" y="128383"/>
                  <a:pt x="62748" y="125672"/>
                </a:cubicBezTo>
                <a:lnTo>
                  <a:pt x="81410" y="107010"/>
                </a:lnTo>
                <a:cubicBezTo>
                  <a:pt x="83422" y="104999"/>
                  <a:pt x="86425" y="104415"/>
                  <a:pt x="89049" y="105494"/>
                </a:cubicBezTo>
                <a:cubicBezTo>
                  <a:pt x="91673" y="106573"/>
                  <a:pt x="93364" y="109139"/>
                  <a:pt x="93364" y="111967"/>
                </a:cubicBezTo>
                <a:lnTo>
                  <a:pt x="93364" y="121298"/>
                </a:lnTo>
                <a:lnTo>
                  <a:pt x="115116" y="121298"/>
                </a:lnTo>
                <a:cubicBezTo>
                  <a:pt x="127684" y="121298"/>
                  <a:pt x="135556" y="107681"/>
                  <a:pt x="129258" y="96805"/>
                </a:cubicBezTo>
                <a:lnTo>
                  <a:pt x="127713" y="94152"/>
                </a:lnTo>
                <a:cubicBezTo>
                  <a:pt x="125147" y="89691"/>
                  <a:pt x="126663" y="83976"/>
                  <a:pt x="131124" y="81410"/>
                </a:cubicBezTo>
                <a:close/>
                <a:moveTo>
                  <a:pt x="14871" y="68638"/>
                </a:moveTo>
                <a:lnTo>
                  <a:pt x="6794" y="63973"/>
                </a:lnTo>
                <a:cubicBezTo>
                  <a:pt x="4345" y="62544"/>
                  <a:pt x="2974" y="59803"/>
                  <a:pt x="3353" y="57004"/>
                </a:cubicBezTo>
                <a:cubicBezTo>
                  <a:pt x="3732" y="54205"/>
                  <a:pt x="5744" y="51902"/>
                  <a:pt x="8485" y="51173"/>
                </a:cubicBezTo>
                <a:lnTo>
                  <a:pt x="33969" y="44320"/>
                </a:lnTo>
                <a:cubicBezTo>
                  <a:pt x="37702" y="43329"/>
                  <a:pt x="41550" y="45545"/>
                  <a:pt x="42542" y="49277"/>
                </a:cubicBezTo>
                <a:lnTo>
                  <a:pt x="49365" y="74762"/>
                </a:lnTo>
                <a:cubicBezTo>
                  <a:pt x="50094" y="77502"/>
                  <a:pt x="49102" y="80389"/>
                  <a:pt x="46857" y="82139"/>
                </a:cubicBezTo>
                <a:cubicBezTo>
                  <a:pt x="44612" y="83888"/>
                  <a:pt x="41550" y="84063"/>
                  <a:pt x="39101" y="82634"/>
                </a:cubicBezTo>
                <a:lnTo>
                  <a:pt x="31024" y="77969"/>
                </a:lnTo>
                <a:lnTo>
                  <a:pt x="20148" y="96805"/>
                </a:lnTo>
                <a:cubicBezTo>
                  <a:pt x="13850" y="107681"/>
                  <a:pt x="21723" y="121298"/>
                  <a:pt x="34290" y="121298"/>
                </a:cubicBezTo>
                <a:lnTo>
                  <a:pt x="37381" y="121298"/>
                </a:lnTo>
                <a:cubicBezTo>
                  <a:pt x="42542" y="121298"/>
                  <a:pt x="46711" y="125468"/>
                  <a:pt x="46711" y="130629"/>
                </a:cubicBezTo>
                <a:cubicBezTo>
                  <a:pt x="46711" y="135790"/>
                  <a:pt x="42542" y="139959"/>
                  <a:pt x="37381" y="139959"/>
                </a:cubicBezTo>
                <a:lnTo>
                  <a:pt x="34290" y="139959"/>
                </a:lnTo>
                <a:cubicBezTo>
                  <a:pt x="7377" y="139959"/>
                  <a:pt x="-9447" y="110801"/>
                  <a:pt x="4024" y="87474"/>
                </a:cubicBezTo>
                <a:lnTo>
                  <a:pt x="14871" y="68638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6588657" y="2196219"/>
            <a:ext cx="3251200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Circular Economy Alignment</a:t>
            </a:r>
            <a:endParaRPr b="0" i="0" sz="1600" u="none" cap="none" strike="noStrike"/>
          </a:p>
        </p:txBody>
      </p:sp>
      <p:sp>
        <p:nvSpPr>
          <p:cNvPr id="252" name="Google Shape;252;p9"/>
          <p:cNvSpPr/>
          <p:nvPr/>
        </p:nvSpPr>
        <p:spPr>
          <a:xfrm>
            <a:off x="6588657" y="2395272"/>
            <a:ext cx="3251200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Extends battery lifecycle, reduces raw material demand</a:t>
            </a:r>
            <a:endParaRPr b="0" i="0" sz="1600" u="none" cap="none" strike="noStrike"/>
          </a:p>
        </p:txBody>
      </p:sp>
      <p:sp>
        <p:nvSpPr>
          <p:cNvPr id="253" name="Google Shape;253;p9"/>
          <p:cNvSpPr/>
          <p:nvPr/>
        </p:nvSpPr>
        <p:spPr>
          <a:xfrm>
            <a:off x="6323252" y="2693852"/>
            <a:ext cx="149290" cy="149290"/>
          </a:xfrm>
          <a:custGeom>
            <a:rect b="b" l="l" r="r" t="t"/>
            <a:pathLst>
              <a:path extrusionOk="0" h="149290" w="149290">
                <a:moveTo>
                  <a:pt x="137422" y="1954"/>
                </a:moveTo>
                <a:cubicBezTo>
                  <a:pt x="139289" y="175"/>
                  <a:pt x="142000" y="-467"/>
                  <a:pt x="144508" y="350"/>
                </a:cubicBezTo>
                <a:cubicBezTo>
                  <a:pt x="147365" y="1312"/>
                  <a:pt x="149290" y="3995"/>
                  <a:pt x="149290" y="6998"/>
                </a:cubicBezTo>
                <a:lnTo>
                  <a:pt x="149290" y="61495"/>
                </a:lnTo>
                <a:cubicBezTo>
                  <a:pt x="149290" y="99750"/>
                  <a:pt x="117770" y="130629"/>
                  <a:pt x="79660" y="130629"/>
                </a:cubicBezTo>
                <a:cubicBezTo>
                  <a:pt x="57208" y="130629"/>
                  <a:pt x="37847" y="116195"/>
                  <a:pt x="30820" y="96018"/>
                </a:cubicBezTo>
                <a:cubicBezTo>
                  <a:pt x="20498" y="104999"/>
                  <a:pt x="13996" y="118207"/>
                  <a:pt x="13996" y="132961"/>
                </a:cubicBezTo>
                <a:cubicBezTo>
                  <a:pt x="13996" y="136839"/>
                  <a:pt x="10876" y="139959"/>
                  <a:pt x="6998" y="139959"/>
                </a:cubicBezTo>
                <a:cubicBezTo>
                  <a:pt x="3120" y="139959"/>
                  <a:pt x="0" y="136839"/>
                  <a:pt x="0" y="132961"/>
                </a:cubicBezTo>
                <a:cubicBezTo>
                  <a:pt x="0" y="111122"/>
                  <a:pt x="11138" y="91877"/>
                  <a:pt x="28021" y="80564"/>
                </a:cubicBezTo>
                <a:cubicBezTo>
                  <a:pt x="38314" y="73683"/>
                  <a:pt x="50589" y="69980"/>
                  <a:pt x="62982" y="69980"/>
                </a:cubicBezTo>
                <a:lnTo>
                  <a:pt x="86308" y="69980"/>
                </a:lnTo>
                <a:cubicBezTo>
                  <a:pt x="90186" y="69980"/>
                  <a:pt x="93306" y="66860"/>
                  <a:pt x="93306" y="62982"/>
                </a:cubicBezTo>
                <a:cubicBezTo>
                  <a:pt x="93306" y="59104"/>
                  <a:pt x="90186" y="55984"/>
                  <a:pt x="86308" y="55984"/>
                </a:cubicBezTo>
                <a:lnTo>
                  <a:pt x="62982" y="55984"/>
                </a:lnTo>
                <a:cubicBezTo>
                  <a:pt x="51406" y="55984"/>
                  <a:pt x="40442" y="58550"/>
                  <a:pt x="30616" y="63127"/>
                </a:cubicBezTo>
                <a:cubicBezTo>
                  <a:pt x="37410" y="42717"/>
                  <a:pt x="56625" y="27992"/>
                  <a:pt x="79310" y="27992"/>
                </a:cubicBezTo>
                <a:cubicBezTo>
                  <a:pt x="98671" y="27992"/>
                  <a:pt x="113075" y="21548"/>
                  <a:pt x="122668" y="15162"/>
                </a:cubicBezTo>
                <a:cubicBezTo>
                  <a:pt x="128267" y="11430"/>
                  <a:pt x="133020" y="6969"/>
                  <a:pt x="137452" y="1954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588657" y="2660676"/>
            <a:ext cx="3599543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Reduces E-Waste in Kenya</a:t>
            </a:r>
            <a:endParaRPr b="0" i="0" sz="1600" u="none" cap="none" strike="noStrike"/>
          </a:p>
        </p:txBody>
      </p:sp>
      <p:sp>
        <p:nvSpPr>
          <p:cNvPr id="255" name="Google Shape;255;p9"/>
          <p:cNvSpPr/>
          <p:nvPr/>
        </p:nvSpPr>
        <p:spPr>
          <a:xfrm>
            <a:off x="6588657" y="2859729"/>
            <a:ext cx="3599543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Addresses growing battery waste challenge from EV adoption</a:t>
            </a:r>
            <a:endParaRPr b="0" i="0" sz="1600" u="none" cap="none" strike="noStrike"/>
          </a:p>
        </p:txBody>
      </p:sp>
      <p:sp>
        <p:nvSpPr>
          <p:cNvPr id="256" name="Google Shape;256;p9"/>
          <p:cNvSpPr/>
          <p:nvPr/>
        </p:nvSpPr>
        <p:spPr>
          <a:xfrm>
            <a:off x="6323252" y="3158309"/>
            <a:ext cx="149290" cy="149290"/>
          </a:xfrm>
          <a:custGeom>
            <a:rect b="b" l="l" r="r" t="t"/>
            <a:pathLst>
              <a:path extrusionOk="0" h="149290" w="149290">
                <a:moveTo>
                  <a:pt x="74645" y="149290"/>
                </a:moveTo>
                <a:cubicBezTo>
                  <a:pt x="115843" y="149290"/>
                  <a:pt x="149290" y="115843"/>
                  <a:pt x="149290" y="74645"/>
                </a:cubicBezTo>
                <a:cubicBezTo>
                  <a:pt x="149290" y="33447"/>
                  <a:pt x="115843" y="0"/>
                  <a:pt x="74645" y="0"/>
                </a:cubicBezTo>
                <a:cubicBezTo>
                  <a:pt x="33447" y="0"/>
                  <a:pt x="0" y="33447"/>
                  <a:pt x="0" y="74645"/>
                </a:cubicBezTo>
                <a:cubicBezTo>
                  <a:pt x="0" y="115843"/>
                  <a:pt x="33447" y="149290"/>
                  <a:pt x="74645" y="149290"/>
                </a:cubicBezTo>
                <a:close/>
                <a:moveTo>
                  <a:pt x="99254" y="62019"/>
                </a:moveTo>
                <a:lnTo>
                  <a:pt x="75928" y="99342"/>
                </a:lnTo>
                <a:cubicBezTo>
                  <a:pt x="74703" y="101295"/>
                  <a:pt x="72604" y="102520"/>
                  <a:pt x="70300" y="102637"/>
                </a:cubicBezTo>
                <a:cubicBezTo>
                  <a:pt x="67997" y="102753"/>
                  <a:pt x="65781" y="101704"/>
                  <a:pt x="64410" y="99838"/>
                </a:cubicBezTo>
                <a:lnTo>
                  <a:pt x="50414" y="81176"/>
                </a:lnTo>
                <a:cubicBezTo>
                  <a:pt x="48082" y="78086"/>
                  <a:pt x="48723" y="73712"/>
                  <a:pt x="51814" y="71379"/>
                </a:cubicBezTo>
                <a:cubicBezTo>
                  <a:pt x="54905" y="69047"/>
                  <a:pt x="59279" y="69688"/>
                  <a:pt x="61611" y="72779"/>
                </a:cubicBezTo>
                <a:lnTo>
                  <a:pt x="69484" y="83276"/>
                </a:lnTo>
                <a:lnTo>
                  <a:pt x="87387" y="54613"/>
                </a:lnTo>
                <a:cubicBezTo>
                  <a:pt x="89428" y="51348"/>
                  <a:pt x="93743" y="50327"/>
                  <a:pt x="97038" y="52397"/>
                </a:cubicBezTo>
                <a:cubicBezTo>
                  <a:pt x="100333" y="54467"/>
                  <a:pt x="101325" y="58754"/>
                  <a:pt x="99254" y="62049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6588657" y="3125133"/>
            <a:ext cx="4155233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Scale-Appropriate Performance</a:t>
            </a:r>
            <a:endParaRPr b="0" i="0" sz="1600" u="none" cap="none" strike="noStrike"/>
          </a:p>
        </p:txBody>
      </p:sp>
      <p:sp>
        <p:nvSpPr>
          <p:cNvPr id="258" name="Google Shape;258;p9"/>
          <p:cNvSpPr/>
          <p:nvPr/>
        </p:nvSpPr>
        <p:spPr>
          <a:xfrm>
            <a:off x="6588657" y="3324187"/>
            <a:ext cx="4155233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Lower energy density acceptable for community microgrid applications</a:t>
            </a:r>
            <a:endParaRPr b="0" i="0" sz="1600" u="none" cap="none" strike="noStrike"/>
          </a:p>
        </p:txBody>
      </p:sp>
      <p:sp>
        <p:nvSpPr>
          <p:cNvPr id="259" name="Google Shape;259;p9"/>
          <p:cNvSpPr/>
          <p:nvPr/>
        </p:nvSpPr>
        <p:spPr>
          <a:xfrm>
            <a:off x="6166498" y="3798597"/>
            <a:ext cx="5696235" cy="2727027"/>
          </a:xfrm>
          <a:custGeom>
            <a:rect b="b" l="l" r="r" t="t"/>
            <a:pathLst>
              <a:path extrusionOk="0" h="2727027" w="5696235">
                <a:moveTo>
                  <a:pt x="66349" y="0"/>
                </a:moveTo>
                <a:lnTo>
                  <a:pt x="5629887" y="0"/>
                </a:lnTo>
                <a:cubicBezTo>
                  <a:pt x="5666530" y="0"/>
                  <a:pt x="5696235" y="29705"/>
                  <a:pt x="5696235" y="66349"/>
                </a:cubicBezTo>
                <a:lnTo>
                  <a:pt x="5696235" y="2660678"/>
                </a:lnTo>
                <a:cubicBezTo>
                  <a:pt x="5696235" y="2697322"/>
                  <a:pt x="5666530" y="2727027"/>
                  <a:pt x="5629887" y="2727027"/>
                </a:cubicBezTo>
                <a:lnTo>
                  <a:pt x="66349" y="2727027"/>
                </a:lnTo>
                <a:cubicBezTo>
                  <a:pt x="29705" y="2727027"/>
                  <a:pt x="0" y="2697322"/>
                  <a:pt x="0" y="2660678"/>
                </a:cubicBezTo>
                <a:lnTo>
                  <a:pt x="0" y="66349"/>
                </a:lnTo>
                <a:cubicBezTo>
                  <a:pt x="0" y="29730"/>
                  <a:pt x="29730" y="0"/>
                  <a:pt x="66349" y="0"/>
                </a:cubicBezTo>
                <a:close/>
              </a:path>
            </a:pathLst>
          </a:custGeom>
          <a:gradFill>
            <a:gsLst>
              <a:gs pos="0">
                <a:srgbClr val="38A169">
                  <a:alpha val="20000"/>
                </a:srgbClr>
              </a:gs>
              <a:gs pos="100000">
                <a:srgbClr val="38A169">
                  <a:alpha val="5098"/>
                </a:srgbClr>
              </a:gs>
            </a:gsLst>
            <a:lin ang="2700000" scaled="0"/>
          </a:gradFill>
          <a:ln cap="flat" cmpd="sng" w="10150">
            <a:solidFill>
              <a:srgbClr val="38A1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6302518" y="3934617"/>
            <a:ext cx="5507135" cy="232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6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Local Partnership Ecosystem</a:t>
            </a:r>
            <a:endParaRPr b="0" i="0" sz="1600" u="none" cap="none" strike="noStrike"/>
          </a:p>
        </p:txBody>
      </p:sp>
      <p:sp>
        <p:nvSpPr>
          <p:cNvPr id="261" name="Google Shape;261;p9"/>
          <p:cNvSpPr/>
          <p:nvPr/>
        </p:nvSpPr>
        <p:spPr>
          <a:xfrm>
            <a:off x="6302518" y="4266372"/>
            <a:ext cx="5424196" cy="1078204"/>
          </a:xfrm>
          <a:custGeom>
            <a:rect b="b" l="l" r="r" t="t"/>
            <a:pathLst>
              <a:path extrusionOk="0" h="1078204" w="5424196">
                <a:moveTo>
                  <a:pt x="66353" y="0"/>
                </a:moveTo>
                <a:lnTo>
                  <a:pt x="5357843" y="0"/>
                </a:lnTo>
                <a:cubicBezTo>
                  <a:pt x="5394489" y="0"/>
                  <a:pt x="5424196" y="29707"/>
                  <a:pt x="5424196" y="66353"/>
                </a:cubicBezTo>
                <a:lnTo>
                  <a:pt x="5424196" y="1011851"/>
                </a:lnTo>
                <a:cubicBezTo>
                  <a:pt x="5424196" y="1048497"/>
                  <a:pt x="5394489" y="1078204"/>
                  <a:pt x="5357843" y="1078204"/>
                </a:cubicBezTo>
                <a:lnTo>
                  <a:pt x="66353" y="1078204"/>
                </a:lnTo>
                <a:cubicBezTo>
                  <a:pt x="29707" y="1078204"/>
                  <a:pt x="0" y="1048497"/>
                  <a:pt x="0" y="1011851"/>
                </a:cubicBezTo>
                <a:lnTo>
                  <a:pt x="0" y="66353"/>
                </a:lnTo>
                <a:cubicBezTo>
                  <a:pt x="0" y="29707"/>
                  <a:pt x="29707" y="0"/>
                  <a:pt x="6635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402044" y="4365898"/>
            <a:ext cx="265404" cy="265404"/>
          </a:xfrm>
          <a:custGeom>
            <a:rect b="b" l="l" r="r" t="t"/>
            <a:pathLst>
              <a:path extrusionOk="0" h="265404" w="265404">
                <a:moveTo>
                  <a:pt x="132702" y="0"/>
                </a:moveTo>
                <a:lnTo>
                  <a:pt x="132702" y="0"/>
                </a:lnTo>
                <a:cubicBezTo>
                  <a:pt x="205991" y="0"/>
                  <a:pt x="265404" y="59413"/>
                  <a:pt x="265404" y="132702"/>
                </a:cubicBezTo>
                <a:lnTo>
                  <a:pt x="265404" y="132702"/>
                </a:lnTo>
                <a:cubicBezTo>
                  <a:pt x="265404" y="205991"/>
                  <a:pt x="205991" y="265404"/>
                  <a:pt x="132702" y="265404"/>
                </a:cubicBezTo>
                <a:lnTo>
                  <a:pt x="132702" y="265404"/>
                </a:lnTo>
                <a:cubicBezTo>
                  <a:pt x="59413" y="265404"/>
                  <a:pt x="0" y="205991"/>
                  <a:pt x="0" y="132702"/>
                </a:cubicBezTo>
                <a:lnTo>
                  <a:pt x="0" y="132702"/>
                </a:lnTo>
                <a:cubicBezTo>
                  <a:pt x="0" y="59413"/>
                  <a:pt x="59413" y="0"/>
                  <a:pt x="132702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6464248" y="4440543"/>
            <a:ext cx="145143" cy="116114"/>
          </a:xfrm>
          <a:custGeom>
            <a:rect b="b" l="l" r="r" t="t"/>
            <a:pathLst>
              <a:path extrusionOk="0" h="116114" w="145143">
                <a:moveTo>
                  <a:pt x="63500" y="3629"/>
                </a:moveTo>
                <a:cubicBezTo>
                  <a:pt x="60484" y="3629"/>
                  <a:pt x="58057" y="6055"/>
                  <a:pt x="58057" y="9071"/>
                </a:cubicBezTo>
                <a:cubicBezTo>
                  <a:pt x="58057" y="12088"/>
                  <a:pt x="60484" y="14514"/>
                  <a:pt x="63500" y="14514"/>
                </a:cubicBezTo>
                <a:lnTo>
                  <a:pt x="76336" y="14514"/>
                </a:lnTo>
                <a:lnTo>
                  <a:pt x="81439" y="25559"/>
                </a:lnTo>
                <a:lnTo>
                  <a:pt x="59871" y="41729"/>
                </a:lnTo>
                <a:cubicBezTo>
                  <a:pt x="52297" y="36036"/>
                  <a:pt x="42863" y="32657"/>
                  <a:pt x="32657" y="32657"/>
                </a:cubicBezTo>
                <a:lnTo>
                  <a:pt x="19957" y="32657"/>
                </a:lnTo>
                <a:cubicBezTo>
                  <a:pt x="16941" y="32657"/>
                  <a:pt x="14514" y="35084"/>
                  <a:pt x="14514" y="38100"/>
                </a:cubicBezTo>
                <a:cubicBezTo>
                  <a:pt x="14514" y="41116"/>
                  <a:pt x="16941" y="43543"/>
                  <a:pt x="19957" y="43543"/>
                </a:cubicBezTo>
                <a:lnTo>
                  <a:pt x="32657" y="43543"/>
                </a:lnTo>
                <a:cubicBezTo>
                  <a:pt x="50460" y="43543"/>
                  <a:pt x="65133" y="57059"/>
                  <a:pt x="66947" y="74386"/>
                </a:cubicBezTo>
                <a:lnTo>
                  <a:pt x="61187" y="74386"/>
                </a:lnTo>
                <a:cubicBezTo>
                  <a:pt x="58647" y="60960"/>
                  <a:pt x="46831" y="50800"/>
                  <a:pt x="32657" y="50800"/>
                </a:cubicBezTo>
                <a:cubicBezTo>
                  <a:pt x="16623" y="50800"/>
                  <a:pt x="3629" y="63795"/>
                  <a:pt x="3629" y="79829"/>
                </a:cubicBezTo>
                <a:cubicBezTo>
                  <a:pt x="3629" y="95862"/>
                  <a:pt x="16623" y="108857"/>
                  <a:pt x="32657" y="108857"/>
                </a:cubicBezTo>
                <a:cubicBezTo>
                  <a:pt x="46831" y="108857"/>
                  <a:pt x="58624" y="98697"/>
                  <a:pt x="61187" y="85271"/>
                </a:cubicBezTo>
                <a:lnTo>
                  <a:pt x="72571" y="85271"/>
                </a:lnTo>
                <a:cubicBezTo>
                  <a:pt x="75588" y="85271"/>
                  <a:pt x="78014" y="82845"/>
                  <a:pt x="78014" y="79829"/>
                </a:cubicBezTo>
                <a:lnTo>
                  <a:pt x="78014" y="74726"/>
                </a:lnTo>
                <a:cubicBezTo>
                  <a:pt x="78014" y="64498"/>
                  <a:pt x="83843" y="55358"/>
                  <a:pt x="92869" y="50301"/>
                </a:cubicBezTo>
                <a:lnTo>
                  <a:pt x="95613" y="56220"/>
                </a:lnTo>
                <a:cubicBezTo>
                  <a:pt x="88265" y="61482"/>
                  <a:pt x="83480" y="70099"/>
                  <a:pt x="83480" y="79829"/>
                </a:cubicBezTo>
                <a:cubicBezTo>
                  <a:pt x="83480" y="95862"/>
                  <a:pt x="96475" y="108857"/>
                  <a:pt x="112508" y="108857"/>
                </a:cubicBezTo>
                <a:cubicBezTo>
                  <a:pt x="128542" y="108857"/>
                  <a:pt x="141537" y="95862"/>
                  <a:pt x="141537" y="79829"/>
                </a:cubicBezTo>
                <a:cubicBezTo>
                  <a:pt x="141537" y="63795"/>
                  <a:pt x="128542" y="50800"/>
                  <a:pt x="112508" y="50800"/>
                </a:cubicBezTo>
                <a:cubicBezTo>
                  <a:pt x="110082" y="50800"/>
                  <a:pt x="107746" y="51095"/>
                  <a:pt x="105501" y="51662"/>
                </a:cubicBezTo>
                <a:lnTo>
                  <a:pt x="98380" y="36286"/>
                </a:lnTo>
                <a:lnTo>
                  <a:pt x="110671" y="36286"/>
                </a:lnTo>
                <a:cubicBezTo>
                  <a:pt x="113688" y="36286"/>
                  <a:pt x="116114" y="33859"/>
                  <a:pt x="116114" y="30843"/>
                </a:cubicBezTo>
                <a:lnTo>
                  <a:pt x="116114" y="19957"/>
                </a:lnTo>
                <a:cubicBezTo>
                  <a:pt x="116114" y="16941"/>
                  <a:pt x="113688" y="14514"/>
                  <a:pt x="110671" y="14514"/>
                </a:cubicBezTo>
                <a:lnTo>
                  <a:pt x="98584" y="14514"/>
                </a:lnTo>
                <a:cubicBezTo>
                  <a:pt x="97019" y="14514"/>
                  <a:pt x="95477" y="15013"/>
                  <a:pt x="94229" y="15966"/>
                </a:cubicBezTo>
                <a:lnTo>
                  <a:pt x="90351" y="18869"/>
                </a:lnTo>
                <a:lnTo>
                  <a:pt x="84772" y="6781"/>
                </a:lnTo>
                <a:cubicBezTo>
                  <a:pt x="83888" y="4853"/>
                  <a:pt x="81960" y="3629"/>
                  <a:pt x="79829" y="3629"/>
                </a:cubicBezTo>
                <a:lnTo>
                  <a:pt x="63500" y="3629"/>
                </a:lnTo>
                <a:close/>
                <a:moveTo>
                  <a:pt x="101101" y="68126"/>
                </a:moveTo>
                <a:lnTo>
                  <a:pt x="107542" y="82096"/>
                </a:lnTo>
                <a:cubicBezTo>
                  <a:pt x="108812" y="84818"/>
                  <a:pt x="112032" y="86020"/>
                  <a:pt x="114754" y="84750"/>
                </a:cubicBezTo>
                <a:cubicBezTo>
                  <a:pt x="117475" y="83480"/>
                  <a:pt x="118677" y="80259"/>
                  <a:pt x="117407" y="77538"/>
                </a:cubicBezTo>
                <a:lnTo>
                  <a:pt x="110944" y="63568"/>
                </a:lnTo>
                <a:cubicBezTo>
                  <a:pt x="111443" y="63523"/>
                  <a:pt x="111941" y="63500"/>
                  <a:pt x="112463" y="63500"/>
                </a:cubicBezTo>
                <a:cubicBezTo>
                  <a:pt x="121489" y="63500"/>
                  <a:pt x="128792" y="70802"/>
                  <a:pt x="128792" y="79829"/>
                </a:cubicBezTo>
                <a:cubicBezTo>
                  <a:pt x="128792" y="88855"/>
                  <a:pt x="121489" y="96157"/>
                  <a:pt x="112463" y="96157"/>
                </a:cubicBezTo>
                <a:cubicBezTo>
                  <a:pt x="103437" y="96157"/>
                  <a:pt x="96134" y="88855"/>
                  <a:pt x="96134" y="79829"/>
                </a:cubicBezTo>
                <a:cubicBezTo>
                  <a:pt x="96134" y="75247"/>
                  <a:pt x="98017" y="71097"/>
                  <a:pt x="101078" y="68126"/>
                </a:cubicBezTo>
                <a:close/>
                <a:moveTo>
                  <a:pt x="32657" y="96157"/>
                </a:moveTo>
                <a:cubicBezTo>
                  <a:pt x="23631" y="96157"/>
                  <a:pt x="16329" y="88855"/>
                  <a:pt x="16329" y="79829"/>
                </a:cubicBezTo>
                <a:cubicBezTo>
                  <a:pt x="16329" y="70803"/>
                  <a:pt x="23631" y="63500"/>
                  <a:pt x="32657" y="63500"/>
                </a:cubicBezTo>
                <a:cubicBezTo>
                  <a:pt x="39756" y="63500"/>
                  <a:pt x="45811" y="68036"/>
                  <a:pt x="48056" y="74386"/>
                </a:cubicBezTo>
                <a:lnTo>
                  <a:pt x="32657" y="74386"/>
                </a:lnTo>
                <a:cubicBezTo>
                  <a:pt x="29641" y="74386"/>
                  <a:pt x="27214" y="76812"/>
                  <a:pt x="27214" y="79829"/>
                </a:cubicBezTo>
                <a:cubicBezTo>
                  <a:pt x="27214" y="82845"/>
                  <a:pt x="29641" y="85271"/>
                  <a:pt x="32657" y="85271"/>
                </a:cubicBezTo>
                <a:lnTo>
                  <a:pt x="48056" y="85271"/>
                </a:lnTo>
                <a:cubicBezTo>
                  <a:pt x="45811" y="91621"/>
                  <a:pt x="39756" y="96157"/>
                  <a:pt x="32657" y="96157"/>
                </a:cubicBezTo>
                <a:close/>
              </a:path>
            </a:pathLst>
          </a:cu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6733799" y="4399074"/>
            <a:ext cx="364931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Spiro</a:t>
            </a:r>
            <a:endParaRPr b="0" i="0" sz="1600" u="none" cap="none" strike="noStrike"/>
          </a:p>
        </p:txBody>
      </p:sp>
      <p:sp>
        <p:nvSpPr>
          <p:cNvPr id="265" name="Google Shape;265;p9"/>
          <p:cNvSpPr/>
          <p:nvPr/>
        </p:nvSpPr>
        <p:spPr>
          <a:xfrm>
            <a:off x="6402044" y="4697653"/>
            <a:ext cx="5291494" cy="547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East Africa's largest EV motorcycle fleet operator. </a:t>
            </a: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80,000+ e-motorcycles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deployed, </a:t>
            </a: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300,000+ batteries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circulation, </a:t>
            </a: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2,500+ swap stations</a:t>
            </a: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across 6 countries. Generates large stream of retired battery packs in Kenya.</a:t>
            </a:r>
            <a:endParaRPr b="0" i="0" sz="1600" u="none" cap="none" strike="noStrike"/>
          </a:p>
        </p:txBody>
      </p:sp>
      <p:sp>
        <p:nvSpPr>
          <p:cNvPr id="266" name="Google Shape;266;p9"/>
          <p:cNvSpPr/>
          <p:nvPr/>
        </p:nvSpPr>
        <p:spPr>
          <a:xfrm>
            <a:off x="6302518" y="5444102"/>
            <a:ext cx="5424196" cy="895739"/>
          </a:xfrm>
          <a:custGeom>
            <a:rect b="b" l="l" r="r" t="t"/>
            <a:pathLst>
              <a:path extrusionOk="0" h="895739" w="5424196">
                <a:moveTo>
                  <a:pt x="66347" y="0"/>
                </a:moveTo>
                <a:lnTo>
                  <a:pt x="5357849" y="0"/>
                </a:lnTo>
                <a:cubicBezTo>
                  <a:pt x="5394491" y="0"/>
                  <a:pt x="5424196" y="29705"/>
                  <a:pt x="5424196" y="66347"/>
                </a:cubicBezTo>
                <a:lnTo>
                  <a:pt x="5424196" y="829391"/>
                </a:lnTo>
                <a:cubicBezTo>
                  <a:pt x="5424196" y="866034"/>
                  <a:pt x="5394491" y="895739"/>
                  <a:pt x="5357849" y="895739"/>
                </a:cubicBezTo>
                <a:lnTo>
                  <a:pt x="66347" y="895739"/>
                </a:lnTo>
                <a:cubicBezTo>
                  <a:pt x="29705" y="895739"/>
                  <a:pt x="0" y="866034"/>
                  <a:pt x="0" y="829391"/>
                </a:cubicBezTo>
                <a:lnTo>
                  <a:pt x="0" y="66347"/>
                </a:lnTo>
                <a:cubicBezTo>
                  <a:pt x="0" y="29729"/>
                  <a:pt x="29729" y="0"/>
                  <a:pt x="6634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402044" y="5543629"/>
            <a:ext cx="265404" cy="265404"/>
          </a:xfrm>
          <a:custGeom>
            <a:rect b="b" l="l" r="r" t="t"/>
            <a:pathLst>
              <a:path extrusionOk="0" h="265404" w="265404">
                <a:moveTo>
                  <a:pt x="132702" y="0"/>
                </a:moveTo>
                <a:lnTo>
                  <a:pt x="132702" y="0"/>
                </a:lnTo>
                <a:cubicBezTo>
                  <a:pt x="205991" y="0"/>
                  <a:pt x="265404" y="59413"/>
                  <a:pt x="265404" y="132702"/>
                </a:cubicBezTo>
                <a:lnTo>
                  <a:pt x="265404" y="132702"/>
                </a:lnTo>
                <a:cubicBezTo>
                  <a:pt x="265404" y="205991"/>
                  <a:pt x="205991" y="265404"/>
                  <a:pt x="132702" y="265404"/>
                </a:cubicBezTo>
                <a:lnTo>
                  <a:pt x="132702" y="265404"/>
                </a:lnTo>
                <a:cubicBezTo>
                  <a:pt x="59413" y="265404"/>
                  <a:pt x="0" y="205991"/>
                  <a:pt x="0" y="132702"/>
                </a:cubicBezTo>
                <a:lnTo>
                  <a:pt x="0" y="132702"/>
                </a:lnTo>
                <a:cubicBezTo>
                  <a:pt x="0" y="59413"/>
                  <a:pt x="59413" y="0"/>
                  <a:pt x="132702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486020" y="5618274"/>
            <a:ext cx="101600" cy="116114"/>
          </a:xfrm>
          <a:custGeom>
            <a:rect b="b" l="l" r="r" t="t"/>
            <a:pathLst>
              <a:path extrusionOk="0" h="116114" w="101600">
                <a:moveTo>
                  <a:pt x="21771" y="0"/>
                </a:moveTo>
                <a:cubicBezTo>
                  <a:pt x="9752" y="0"/>
                  <a:pt x="0" y="9752"/>
                  <a:pt x="0" y="21771"/>
                </a:cubicBezTo>
                <a:lnTo>
                  <a:pt x="0" y="87086"/>
                </a:lnTo>
                <a:cubicBezTo>
                  <a:pt x="0" y="93844"/>
                  <a:pt x="4626" y="99536"/>
                  <a:pt x="10886" y="101146"/>
                </a:cubicBezTo>
                <a:lnTo>
                  <a:pt x="10886" y="108857"/>
                </a:lnTo>
                <a:cubicBezTo>
                  <a:pt x="10886" y="112871"/>
                  <a:pt x="14129" y="116114"/>
                  <a:pt x="18143" y="116114"/>
                </a:cubicBezTo>
                <a:lnTo>
                  <a:pt x="21771" y="116114"/>
                </a:lnTo>
                <a:cubicBezTo>
                  <a:pt x="25786" y="116114"/>
                  <a:pt x="29029" y="112871"/>
                  <a:pt x="29029" y="108857"/>
                </a:cubicBezTo>
                <a:lnTo>
                  <a:pt x="29029" y="101600"/>
                </a:lnTo>
                <a:lnTo>
                  <a:pt x="72571" y="101600"/>
                </a:lnTo>
                <a:lnTo>
                  <a:pt x="72571" y="108857"/>
                </a:lnTo>
                <a:cubicBezTo>
                  <a:pt x="72571" y="112871"/>
                  <a:pt x="75814" y="116114"/>
                  <a:pt x="79829" y="116114"/>
                </a:cubicBezTo>
                <a:lnTo>
                  <a:pt x="83457" y="116114"/>
                </a:lnTo>
                <a:cubicBezTo>
                  <a:pt x="87471" y="116114"/>
                  <a:pt x="90714" y="112871"/>
                  <a:pt x="90714" y="108857"/>
                </a:cubicBezTo>
                <a:lnTo>
                  <a:pt x="90714" y="101146"/>
                </a:lnTo>
                <a:cubicBezTo>
                  <a:pt x="96974" y="99536"/>
                  <a:pt x="101600" y="93844"/>
                  <a:pt x="101600" y="87086"/>
                </a:cubicBezTo>
                <a:lnTo>
                  <a:pt x="101600" y="21771"/>
                </a:lnTo>
                <a:cubicBezTo>
                  <a:pt x="101600" y="9752"/>
                  <a:pt x="91848" y="0"/>
                  <a:pt x="79829" y="0"/>
                </a:cubicBezTo>
                <a:lnTo>
                  <a:pt x="21771" y="0"/>
                </a:lnTo>
                <a:close/>
                <a:moveTo>
                  <a:pt x="14514" y="39914"/>
                </a:moveTo>
                <a:cubicBezTo>
                  <a:pt x="14514" y="35900"/>
                  <a:pt x="17757" y="32657"/>
                  <a:pt x="21771" y="32657"/>
                </a:cubicBezTo>
                <a:lnTo>
                  <a:pt x="45357" y="32657"/>
                </a:lnTo>
                <a:lnTo>
                  <a:pt x="45357" y="58057"/>
                </a:lnTo>
                <a:lnTo>
                  <a:pt x="21771" y="58057"/>
                </a:lnTo>
                <a:cubicBezTo>
                  <a:pt x="17757" y="58057"/>
                  <a:pt x="14514" y="54814"/>
                  <a:pt x="14514" y="50800"/>
                </a:cubicBezTo>
                <a:lnTo>
                  <a:pt x="14514" y="39914"/>
                </a:lnTo>
                <a:close/>
                <a:moveTo>
                  <a:pt x="56243" y="58057"/>
                </a:moveTo>
                <a:lnTo>
                  <a:pt x="56243" y="32657"/>
                </a:lnTo>
                <a:lnTo>
                  <a:pt x="79829" y="32657"/>
                </a:lnTo>
                <a:cubicBezTo>
                  <a:pt x="83843" y="32657"/>
                  <a:pt x="87086" y="35900"/>
                  <a:pt x="87086" y="39914"/>
                </a:cubicBezTo>
                <a:lnTo>
                  <a:pt x="87086" y="50800"/>
                </a:lnTo>
                <a:cubicBezTo>
                  <a:pt x="87086" y="54814"/>
                  <a:pt x="83843" y="58057"/>
                  <a:pt x="79829" y="58057"/>
                </a:cubicBezTo>
                <a:lnTo>
                  <a:pt x="56243" y="58057"/>
                </a:lnTo>
                <a:close/>
                <a:moveTo>
                  <a:pt x="21771" y="72571"/>
                </a:moveTo>
                <a:cubicBezTo>
                  <a:pt x="25777" y="72571"/>
                  <a:pt x="29029" y="75823"/>
                  <a:pt x="29029" y="79829"/>
                </a:cubicBezTo>
                <a:cubicBezTo>
                  <a:pt x="29029" y="83834"/>
                  <a:pt x="25777" y="87086"/>
                  <a:pt x="21771" y="87086"/>
                </a:cubicBezTo>
                <a:cubicBezTo>
                  <a:pt x="17766" y="87086"/>
                  <a:pt x="14514" y="83834"/>
                  <a:pt x="14514" y="79829"/>
                </a:cubicBezTo>
                <a:cubicBezTo>
                  <a:pt x="14514" y="75823"/>
                  <a:pt x="17766" y="72571"/>
                  <a:pt x="21771" y="72571"/>
                </a:cubicBezTo>
                <a:close/>
                <a:moveTo>
                  <a:pt x="79829" y="72571"/>
                </a:moveTo>
                <a:cubicBezTo>
                  <a:pt x="83834" y="72571"/>
                  <a:pt x="87086" y="75823"/>
                  <a:pt x="87086" y="79829"/>
                </a:cubicBezTo>
                <a:cubicBezTo>
                  <a:pt x="87086" y="83834"/>
                  <a:pt x="83834" y="87086"/>
                  <a:pt x="79829" y="87086"/>
                </a:cubicBezTo>
                <a:cubicBezTo>
                  <a:pt x="75823" y="87086"/>
                  <a:pt x="72571" y="83834"/>
                  <a:pt x="72571" y="79829"/>
                </a:cubicBezTo>
                <a:cubicBezTo>
                  <a:pt x="72571" y="75823"/>
                  <a:pt x="75823" y="72571"/>
                  <a:pt x="79829" y="72571"/>
                </a:cubicBezTo>
                <a:close/>
                <a:moveTo>
                  <a:pt x="34471" y="16329"/>
                </a:moveTo>
                <a:cubicBezTo>
                  <a:pt x="34471" y="13312"/>
                  <a:pt x="36898" y="10886"/>
                  <a:pt x="39914" y="10886"/>
                </a:cubicBezTo>
                <a:lnTo>
                  <a:pt x="61686" y="10886"/>
                </a:lnTo>
                <a:cubicBezTo>
                  <a:pt x="64702" y="10886"/>
                  <a:pt x="67129" y="13312"/>
                  <a:pt x="67129" y="16329"/>
                </a:cubicBezTo>
                <a:cubicBezTo>
                  <a:pt x="67129" y="19345"/>
                  <a:pt x="64702" y="21771"/>
                  <a:pt x="61686" y="21771"/>
                </a:cubicBezTo>
                <a:lnTo>
                  <a:pt x="39914" y="21771"/>
                </a:lnTo>
                <a:cubicBezTo>
                  <a:pt x="36898" y="21771"/>
                  <a:pt x="34471" y="19345"/>
                  <a:pt x="34471" y="16329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6733799" y="5576804"/>
            <a:ext cx="854269" cy="199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Roam Electric</a:t>
            </a:r>
            <a:endParaRPr b="0" i="0" sz="1600" u="none" cap="none" strike="noStrike"/>
          </a:p>
        </p:txBody>
      </p:sp>
      <p:sp>
        <p:nvSpPr>
          <p:cNvPr id="270" name="Google Shape;270;p9"/>
          <p:cNvSpPr/>
          <p:nvPr/>
        </p:nvSpPr>
        <p:spPr>
          <a:xfrm>
            <a:off x="6402044" y="5875384"/>
            <a:ext cx="5291494" cy="36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Nairobi-based EV manufacturer (motorcycles &amp; buses). Actively working on second/third-life battery repurposing. New Roam Park facility with automated assembly lines.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/>
          <p:nvPr/>
        </p:nvSpPr>
        <p:spPr>
          <a:xfrm>
            <a:off x="325772" y="423503"/>
            <a:ext cx="48866" cy="325772"/>
          </a:xfrm>
          <a:custGeom>
            <a:rect b="b" l="l" r="r" t="t"/>
            <a:pathLst>
              <a:path extrusionOk="0" h="325772" w="48866">
                <a:moveTo>
                  <a:pt x="0" y="0"/>
                </a:moveTo>
                <a:lnTo>
                  <a:pt x="48866" y="0"/>
                </a:lnTo>
                <a:lnTo>
                  <a:pt x="48866" y="325772"/>
                </a:lnTo>
                <a:lnTo>
                  <a:pt x="0" y="325772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277" name="Google Shape;277;p10"/>
          <p:cNvSpPr/>
          <p:nvPr/>
        </p:nvSpPr>
        <p:spPr>
          <a:xfrm>
            <a:off x="472369" y="325772"/>
            <a:ext cx="5684713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03 — WEFE NEXUS</a:t>
            </a:r>
            <a:endParaRPr b="0" i="0" sz="1600" u="none" cap="none" strike="noStrike"/>
          </a:p>
        </p:txBody>
      </p:sp>
      <p:sp>
        <p:nvSpPr>
          <p:cNvPr id="278" name="Google Shape;278;p10"/>
          <p:cNvSpPr/>
          <p:nvPr/>
        </p:nvSpPr>
        <p:spPr>
          <a:xfrm>
            <a:off x="472369" y="521234"/>
            <a:ext cx="5766156" cy="325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9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Water-Energy-Food-Ecosystem Integration</a:t>
            </a:r>
            <a:endParaRPr b="0" i="0" sz="1600" u="none" cap="none" strike="noStrike"/>
          </a:p>
        </p:txBody>
      </p:sp>
      <p:sp>
        <p:nvSpPr>
          <p:cNvPr id="279" name="Google Shape;279;p10"/>
          <p:cNvSpPr/>
          <p:nvPr/>
        </p:nvSpPr>
        <p:spPr>
          <a:xfrm>
            <a:off x="488657" y="912160"/>
            <a:ext cx="11442725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Mapping SHEPA components to the EU-promoted WEFE framework for integrated resource management</a:t>
            </a:r>
            <a:endParaRPr b="0" i="0" sz="1600" u="none" cap="none" strike="noStrike"/>
          </a:p>
        </p:txBody>
      </p:sp>
      <p:sp>
        <p:nvSpPr>
          <p:cNvPr id="280" name="Google Shape;280;p10"/>
          <p:cNvSpPr/>
          <p:nvPr/>
        </p:nvSpPr>
        <p:spPr>
          <a:xfrm>
            <a:off x="332287" y="1244447"/>
            <a:ext cx="3344045" cy="2570337"/>
          </a:xfrm>
          <a:custGeom>
            <a:rect b="b" l="l" r="r" t="t"/>
            <a:pathLst>
              <a:path extrusionOk="0" h="2570337" w="3344045">
                <a:moveTo>
                  <a:pt x="65158" y="0"/>
                </a:moveTo>
                <a:lnTo>
                  <a:pt x="3278887" y="0"/>
                </a:lnTo>
                <a:cubicBezTo>
                  <a:pt x="3314873" y="0"/>
                  <a:pt x="3344045" y="29172"/>
                  <a:pt x="3344045" y="65158"/>
                </a:cubicBezTo>
                <a:lnTo>
                  <a:pt x="3344045" y="2505179"/>
                </a:lnTo>
                <a:cubicBezTo>
                  <a:pt x="3344045" y="2541165"/>
                  <a:pt x="3314873" y="2570337"/>
                  <a:pt x="3278887" y="2570337"/>
                </a:cubicBezTo>
                <a:lnTo>
                  <a:pt x="65158" y="2570337"/>
                </a:lnTo>
                <a:cubicBezTo>
                  <a:pt x="29172" y="2570337"/>
                  <a:pt x="0" y="2541165"/>
                  <a:pt x="0" y="2505179"/>
                </a:cubicBezTo>
                <a:lnTo>
                  <a:pt x="0" y="65158"/>
                </a:lnTo>
                <a:cubicBezTo>
                  <a:pt x="0" y="29172"/>
                  <a:pt x="29172" y="0"/>
                  <a:pt x="65158" y="0"/>
                </a:cubicBezTo>
                <a:close/>
              </a:path>
            </a:pathLst>
          </a:custGeom>
          <a:gradFill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98"/>
                </a:srgbClr>
              </a:gs>
            </a:gsLst>
            <a:lin ang="2700000" scaled="0"/>
          </a:gradFill>
          <a:ln cap="flat" cmpd="sng" w="20300">
            <a:solidFill>
              <a:srgbClr val="3B82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469111" y="1381272"/>
            <a:ext cx="456080" cy="456080"/>
          </a:xfrm>
          <a:custGeom>
            <a:rect b="b" l="l" r="r" t="t"/>
            <a:pathLst>
              <a:path extrusionOk="0" h="456080" w="456080">
                <a:moveTo>
                  <a:pt x="228040" y="0"/>
                </a:moveTo>
                <a:lnTo>
                  <a:pt x="228040" y="0"/>
                </a:lnTo>
                <a:cubicBezTo>
                  <a:pt x="353899" y="0"/>
                  <a:pt x="456080" y="102181"/>
                  <a:pt x="456080" y="228040"/>
                </a:cubicBezTo>
                <a:lnTo>
                  <a:pt x="456080" y="228040"/>
                </a:lnTo>
                <a:cubicBezTo>
                  <a:pt x="456080" y="353899"/>
                  <a:pt x="353899" y="456080"/>
                  <a:pt x="228040" y="456080"/>
                </a:cubicBezTo>
                <a:lnTo>
                  <a:pt x="228040" y="456080"/>
                </a:lnTo>
                <a:cubicBezTo>
                  <a:pt x="102181" y="456080"/>
                  <a:pt x="0" y="353899"/>
                  <a:pt x="0" y="228040"/>
                </a:cubicBezTo>
                <a:lnTo>
                  <a:pt x="0" y="228040"/>
                </a:lnTo>
                <a:cubicBezTo>
                  <a:pt x="0" y="102181"/>
                  <a:pt x="102181" y="0"/>
                  <a:pt x="22804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23852" y="1511581"/>
            <a:ext cx="146597" cy="195463"/>
          </a:xfrm>
          <a:custGeom>
            <a:rect b="b" l="l" r="r" t="t"/>
            <a:pathLst>
              <a:path extrusionOk="0" h="195463" w="146597">
                <a:moveTo>
                  <a:pt x="73299" y="195463"/>
                </a:moveTo>
                <a:cubicBezTo>
                  <a:pt x="32832" y="195463"/>
                  <a:pt x="0" y="162631"/>
                  <a:pt x="0" y="122164"/>
                </a:cubicBezTo>
                <a:cubicBezTo>
                  <a:pt x="0" y="87347"/>
                  <a:pt x="49706" y="17523"/>
                  <a:pt x="63602" y="-1336"/>
                </a:cubicBezTo>
                <a:cubicBezTo>
                  <a:pt x="65854" y="-4390"/>
                  <a:pt x="69405" y="-6108"/>
                  <a:pt x="73222" y="-6108"/>
                </a:cubicBezTo>
                <a:lnTo>
                  <a:pt x="73375" y="-6108"/>
                </a:lnTo>
                <a:cubicBezTo>
                  <a:pt x="77193" y="-6108"/>
                  <a:pt x="80743" y="-4390"/>
                  <a:pt x="82995" y="-1336"/>
                </a:cubicBezTo>
                <a:cubicBezTo>
                  <a:pt x="96892" y="17523"/>
                  <a:pt x="146597" y="87347"/>
                  <a:pt x="146597" y="122164"/>
                </a:cubicBezTo>
                <a:cubicBezTo>
                  <a:pt x="146597" y="162631"/>
                  <a:pt x="113766" y="195463"/>
                  <a:pt x="73299" y="195463"/>
                </a:cubicBezTo>
                <a:close/>
                <a:moveTo>
                  <a:pt x="42758" y="119110"/>
                </a:moveTo>
                <a:cubicBezTo>
                  <a:pt x="42758" y="114033"/>
                  <a:pt x="38673" y="109948"/>
                  <a:pt x="33595" y="109948"/>
                </a:cubicBezTo>
                <a:cubicBezTo>
                  <a:pt x="28518" y="109948"/>
                  <a:pt x="24433" y="114033"/>
                  <a:pt x="24433" y="119110"/>
                </a:cubicBezTo>
                <a:cubicBezTo>
                  <a:pt x="24433" y="147781"/>
                  <a:pt x="47682" y="171030"/>
                  <a:pt x="76353" y="171030"/>
                </a:cubicBezTo>
                <a:cubicBezTo>
                  <a:pt x="81430" y="171030"/>
                  <a:pt x="85515" y="166945"/>
                  <a:pt x="85515" y="161868"/>
                </a:cubicBezTo>
                <a:cubicBezTo>
                  <a:pt x="85515" y="156790"/>
                  <a:pt x="81430" y="152705"/>
                  <a:pt x="76353" y="152705"/>
                </a:cubicBezTo>
                <a:cubicBezTo>
                  <a:pt x="57799" y="152705"/>
                  <a:pt x="42758" y="137664"/>
                  <a:pt x="42758" y="119110"/>
                </a:cubicBezTo>
                <a:close/>
              </a:path>
            </a:pathLst>
          </a:cu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1022923" y="1479004"/>
            <a:ext cx="773707" cy="260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9" u="none" cap="none" strike="noStrike">
                <a:solidFill>
                  <a:srgbClr val="3B82F6"/>
                </a:solidFill>
                <a:latin typeface="Liter"/>
                <a:ea typeface="Liter"/>
                <a:cs typeface="Liter"/>
                <a:sym typeface="Liter"/>
              </a:rPr>
              <a:t>WATER</a:t>
            </a:r>
            <a:endParaRPr b="0" i="0" sz="1600" u="none" cap="none" strike="noStrike"/>
          </a:p>
        </p:txBody>
      </p:sp>
      <p:sp>
        <p:nvSpPr>
          <p:cNvPr id="284" name="Google Shape;284;p10"/>
          <p:cNvSpPr/>
          <p:nvPr/>
        </p:nvSpPr>
        <p:spPr>
          <a:xfrm>
            <a:off x="469111" y="2007567"/>
            <a:ext cx="3143695" cy="228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4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AWG System</a:t>
            </a:r>
            <a:endParaRPr b="0" i="0" sz="1600" u="none" cap="none" strike="noStrike"/>
          </a:p>
        </p:txBody>
      </p:sp>
      <p:sp>
        <p:nvSpPr>
          <p:cNvPr id="285" name="Google Shape;285;p10"/>
          <p:cNvSpPr/>
          <p:nvPr/>
        </p:nvSpPr>
        <p:spPr>
          <a:xfrm>
            <a:off x="469111" y="2300762"/>
            <a:ext cx="3135551" cy="423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Atmospheric Water Generation</a:t>
            </a: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produces 2,500-3,000 L/day of clean water from ambient humidity</a:t>
            </a:r>
            <a:endParaRPr b="0" i="0" sz="1600" u="none" cap="none" strike="noStrike"/>
          </a:p>
        </p:txBody>
      </p:sp>
      <p:sp>
        <p:nvSpPr>
          <p:cNvPr id="286" name="Google Shape;286;p10"/>
          <p:cNvSpPr/>
          <p:nvPr/>
        </p:nvSpPr>
        <p:spPr>
          <a:xfrm>
            <a:off x="469111" y="2821996"/>
            <a:ext cx="3070397" cy="781852"/>
          </a:xfrm>
          <a:custGeom>
            <a:rect b="b" l="l" r="r" t="t"/>
            <a:pathLst>
              <a:path extrusionOk="0" h="781852" w="3070397">
                <a:moveTo>
                  <a:pt x="65152" y="0"/>
                </a:moveTo>
                <a:lnTo>
                  <a:pt x="3005245" y="0"/>
                </a:lnTo>
                <a:cubicBezTo>
                  <a:pt x="3041227" y="0"/>
                  <a:pt x="3070397" y="29169"/>
                  <a:pt x="3070397" y="65152"/>
                </a:cubicBezTo>
                <a:lnTo>
                  <a:pt x="3070397" y="716700"/>
                </a:lnTo>
                <a:cubicBezTo>
                  <a:pt x="3070397" y="752682"/>
                  <a:pt x="3041227" y="781852"/>
                  <a:pt x="3005245" y="781852"/>
                </a:cubicBezTo>
                <a:lnTo>
                  <a:pt x="65152" y="781852"/>
                </a:lnTo>
                <a:cubicBezTo>
                  <a:pt x="29169" y="781852"/>
                  <a:pt x="0" y="752682"/>
                  <a:pt x="0" y="716700"/>
                </a:cubicBezTo>
                <a:lnTo>
                  <a:pt x="0" y="65152"/>
                </a:lnTo>
                <a:cubicBezTo>
                  <a:pt x="0" y="29193"/>
                  <a:pt x="29193" y="0"/>
                  <a:pt x="6515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591275" y="2945791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771511" y="2919727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Reduces borehole dependency</a:t>
            </a:r>
            <a:endParaRPr b="0" i="0" sz="1600" u="none" cap="none" strike="noStrike"/>
          </a:p>
        </p:txBody>
      </p:sp>
      <p:sp>
        <p:nvSpPr>
          <p:cNvPr id="289" name="Google Shape;289;p10"/>
          <p:cNvSpPr/>
          <p:nvPr/>
        </p:nvSpPr>
        <p:spPr>
          <a:xfrm>
            <a:off x="591275" y="3141254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771511" y="3115190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Provides potable water for community</a:t>
            </a:r>
            <a:endParaRPr b="0" i="0" sz="1600" u="none" cap="none" strike="noStrike"/>
          </a:p>
        </p:txBody>
      </p:sp>
      <p:sp>
        <p:nvSpPr>
          <p:cNvPr id="291" name="Google Shape;291;p10"/>
          <p:cNvSpPr/>
          <p:nvPr/>
        </p:nvSpPr>
        <p:spPr>
          <a:xfrm>
            <a:off x="591275" y="3336717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771511" y="3310653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Supports irrigation needs</a:t>
            </a:r>
            <a:endParaRPr b="0" i="0" sz="1600" u="none" cap="none" strike="noStrike"/>
          </a:p>
        </p:txBody>
      </p:sp>
      <p:sp>
        <p:nvSpPr>
          <p:cNvPr id="293" name="Google Shape;293;p10"/>
          <p:cNvSpPr/>
          <p:nvPr/>
        </p:nvSpPr>
        <p:spPr>
          <a:xfrm>
            <a:off x="3820180" y="1244447"/>
            <a:ext cx="3344045" cy="2570337"/>
          </a:xfrm>
          <a:custGeom>
            <a:rect b="b" l="l" r="r" t="t"/>
            <a:pathLst>
              <a:path extrusionOk="0" h="2570337" w="3344045">
                <a:moveTo>
                  <a:pt x="65158" y="0"/>
                </a:moveTo>
                <a:lnTo>
                  <a:pt x="3278887" y="0"/>
                </a:lnTo>
                <a:cubicBezTo>
                  <a:pt x="3314873" y="0"/>
                  <a:pt x="3344045" y="29172"/>
                  <a:pt x="3344045" y="65158"/>
                </a:cubicBezTo>
                <a:lnTo>
                  <a:pt x="3344045" y="2505179"/>
                </a:lnTo>
                <a:cubicBezTo>
                  <a:pt x="3344045" y="2541165"/>
                  <a:pt x="3314873" y="2570337"/>
                  <a:pt x="3278887" y="2570337"/>
                </a:cubicBezTo>
                <a:lnTo>
                  <a:pt x="65158" y="2570337"/>
                </a:lnTo>
                <a:cubicBezTo>
                  <a:pt x="29172" y="2570337"/>
                  <a:pt x="0" y="2541165"/>
                  <a:pt x="0" y="2505179"/>
                </a:cubicBezTo>
                <a:lnTo>
                  <a:pt x="0" y="65158"/>
                </a:lnTo>
                <a:cubicBezTo>
                  <a:pt x="0" y="29172"/>
                  <a:pt x="29172" y="0"/>
                  <a:pt x="65158" y="0"/>
                </a:cubicBezTo>
                <a:close/>
              </a:path>
            </a:pathLst>
          </a:custGeom>
          <a:gradFill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98"/>
                </a:srgbClr>
              </a:gs>
            </a:gsLst>
            <a:lin ang="2700000" scaled="0"/>
          </a:gradFill>
          <a:ln cap="flat" cmpd="sng" w="20300">
            <a:solidFill>
              <a:srgbClr val="F59E0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3957005" y="1381272"/>
            <a:ext cx="456080" cy="456080"/>
          </a:xfrm>
          <a:custGeom>
            <a:rect b="b" l="l" r="r" t="t"/>
            <a:pathLst>
              <a:path extrusionOk="0" h="456080" w="456080">
                <a:moveTo>
                  <a:pt x="228040" y="0"/>
                </a:moveTo>
                <a:lnTo>
                  <a:pt x="228040" y="0"/>
                </a:lnTo>
                <a:cubicBezTo>
                  <a:pt x="353899" y="0"/>
                  <a:pt x="456080" y="102181"/>
                  <a:pt x="456080" y="228040"/>
                </a:cubicBezTo>
                <a:lnTo>
                  <a:pt x="456080" y="228040"/>
                </a:lnTo>
                <a:cubicBezTo>
                  <a:pt x="456080" y="353899"/>
                  <a:pt x="353899" y="456080"/>
                  <a:pt x="228040" y="456080"/>
                </a:cubicBezTo>
                <a:lnTo>
                  <a:pt x="228040" y="456080"/>
                </a:lnTo>
                <a:cubicBezTo>
                  <a:pt x="102181" y="456080"/>
                  <a:pt x="0" y="353899"/>
                  <a:pt x="0" y="228040"/>
                </a:cubicBezTo>
                <a:lnTo>
                  <a:pt x="0" y="228040"/>
                </a:lnTo>
                <a:cubicBezTo>
                  <a:pt x="0" y="102181"/>
                  <a:pt x="102181" y="0"/>
                  <a:pt x="22804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4099530" y="1511581"/>
            <a:ext cx="171030" cy="195463"/>
          </a:xfrm>
          <a:custGeom>
            <a:rect b="b" l="l" r="r" t="t"/>
            <a:pathLst>
              <a:path extrusionOk="0" h="195463" w="171030">
                <a:moveTo>
                  <a:pt x="129341" y="-3779"/>
                </a:moveTo>
                <a:cubicBezTo>
                  <a:pt x="133884" y="-496"/>
                  <a:pt x="135564" y="5459"/>
                  <a:pt x="133503" y="10651"/>
                </a:cubicBezTo>
                <a:lnTo>
                  <a:pt x="103572" y="85515"/>
                </a:lnTo>
                <a:lnTo>
                  <a:pt x="158814" y="85515"/>
                </a:lnTo>
                <a:cubicBezTo>
                  <a:pt x="163967" y="85515"/>
                  <a:pt x="168549" y="88722"/>
                  <a:pt x="170305" y="93570"/>
                </a:cubicBezTo>
                <a:cubicBezTo>
                  <a:pt x="172061" y="98419"/>
                  <a:pt x="170572" y="103840"/>
                  <a:pt x="166640" y="107123"/>
                </a:cubicBezTo>
                <a:lnTo>
                  <a:pt x="56692" y="198746"/>
                </a:lnTo>
                <a:cubicBezTo>
                  <a:pt x="52378" y="202335"/>
                  <a:pt x="46232" y="202526"/>
                  <a:pt x="41689" y="199242"/>
                </a:cubicBezTo>
                <a:cubicBezTo>
                  <a:pt x="37146" y="195959"/>
                  <a:pt x="35466" y="190004"/>
                  <a:pt x="37527" y="184812"/>
                </a:cubicBezTo>
                <a:lnTo>
                  <a:pt x="67458" y="109948"/>
                </a:lnTo>
                <a:lnTo>
                  <a:pt x="12216" y="109948"/>
                </a:lnTo>
                <a:cubicBezTo>
                  <a:pt x="7063" y="109948"/>
                  <a:pt x="2481" y="106741"/>
                  <a:pt x="725" y="101893"/>
                </a:cubicBezTo>
                <a:cubicBezTo>
                  <a:pt x="-1031" y="97044"/>
                  <a:pt x="458" y="91623"/>
                  <a:pt x="4390" y="88340"/>
                </a:cubicBezTo>
                <a:lnTo>
                  <a:pt x="114338" y="-3283"/>
                </a:lnTo>
                <a:cubicBezTo>
                  <a:pt x="118652" y="-6872"/>
                  <a:pt x="124798" y="-7063"/>
                  <a:pt x="129341" y="-3779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510816" y="1479004"/>
            <a:ext cx="847006" cy="260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9" u="none" cap="none" strike="noStrike">
                <a:solidFill>
                  <a:srgbClr val="F59E0B"/>
                </a:solidFill>
                <a:latin typeface="Liter"/>
                <a:ea typeface="Liter"/>
                <a:cs typeface="Liter"/>
                <a:sym typeface="Liter"/>
              </a:rPr>
              <a:t>ENERGY</a:t>
            </a:r>
            <a:endParaRPr b="0" i="0" sz="1600" u="none" cap="none" strike="noStrike"/>
          </a:p>
        </p:txBody>
      </p:sp>
      <p:sp>
        <p:nvSpPr>
          <p:cNvPr id="297" name="Google Shape;297;p10"/>
          <p:cNvSpPr/>
          <p:nvPr/>
        </p:nvSpPr>
        <p:spPr>
          <a:xfrm>
            <a:off x="3957005" y="2007567"/>
            <a:ext cx="3143695" cy="228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4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 + H₂ System</a:t>
            </a:r>
            <a:endParaRPr b="0" i="0" sz="1600" u="none" cap="none" strike="noStrike"/>
          </a:p>
        </p:txBody>
      </p:sp>
      <p:sp>
        <p:nvSpPr>
          <p:cNvPr id="298" name="Google Shape;298;p10"/>
          <p:cNvSpPr/>
          <p:nvPr/>
        </p:nvSpPr>
        <p:spPr>
          <a:xfrm>
            <a:off x="3957005" y="2300762"/>
            <a:ext cx="3135551" cy="423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Renewable generation</a:t>
            </a: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 long-term hydrogen storage enables 24/7 zero-carbon power</a:t>
            </a:r>
            <a:endParaRPr b="0" i="0" sz="1600" u="none" cap="none" strike="noStrike"/>
          </a:p>
        </p:txBody>
      </p:sp>
      <p:sp>
        <p:nvSpPr>
          <p:cNvPr id="299" name="Google Shape;299;p10"/>
          <p:cNvSpPr/>
          <p:nvPr/>
        </p:nvSpPr>
        <p:spPr>
          <a:xfrm>
            <a:off x="3957005" y="2821996"/>
            <a:ext cx="3070397" cy="781852"/>
          </a:xfrm>
          <a:custGeom>
            <a:rect b="b" l="l" r="r" t="t"/>
            <a:pathLst>
              <a:path extrusionOk="0" h="781852" w="3070397">
                <a:moveTo>
                  <a:pt x="65152" y="0"/>
                </a:moveTo>
                <a:lnTo>
                  <a:pt x="3005245" y="0"/>
                </a:lnTo>
                <a:cubicBezTo>
                  <a:pt x="3041227" y="0"/>
                  <a:pt x="3070397" y="29169"/>
                  <a:pt x="3070397" y="65152"/>
                </a:cubicBezTo>
                <a:lnTo>
                  <a:pt x="3070397" y="716700"/>
                </a:lnTo>
                <a:cubicBezTo>
                  <a:pt x="3070397" y="752682"/>
                  <a:pt x="3041227" y="781852"/>
                  <a:pt x="3005245" y="781852"/>
                </a:cubicBezTo>
                <a:lnTo>
                  <a:pt x="65152" y="781852"/>
                </a:lnTo>
                <a:cubicBezTo>
                  <a:pt x="29169" y="781852"/>
                  <a:pt x="0" y="752682"/>
                  <a:pt x="0" y="716700"/>
                </a:cubicBezTo>
                <a:lnTo>
                  <a:pt x="0" y="65152"/>
                </a:lnTo>
                <a:cubicBezTo>
                  <a:pt x="0" y="29193"/>
                  <a:pt x="29193" y="0"/>
                  <a:pt x="6515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4079169" y="2945791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4259404" y="2919727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165-170kW solar PV array</a:t>
            </a:r>
            <a:endParaRPr b="0" i="0" sz="1600" u="none" cap="none" strike="noStrike"/>
          </a:p>
        </p:txBody>
      </p:sp>
      <p:sp>
        <p:nvSpPr>
          <p:cNvPr id="302" name="Google Shape;302;p10"/>
          <p:cNvSpPr/>
          <p:nvPr/>
        </p:nvSpPr>
        <p:spPr>
          <a:xfrm>
            <a:off x="4079169" y="3141254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4259404" y="3115190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300kg H₂ seasonal storage</a:t>
            </a:r>
            <a:endParaRPr b="0" i="0" sz="1600" u="none" cap="none" strike="noStrike"/>
          </a:p>
        </p:txBody>
      </p:sp>
      <p:sp>
        <p:nvSpPr>
          <p:cNvPr id="304" name="Google Shape;304;p10"/>
          <p:cNvSpPr/>
          <p:nvPr/>
        </p:nvSpPr>
        <p:spPr>
          <a:xfrm>
            <a:off x="4079169" y="3336717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259404" y="3310653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60-70kW fuel cell backup</a:t>
            </a:r>
            <a:endParaRPr b="0" i="0" sz="1600" u="none" cap="none" strike="noStrike"/>
          </a:p>
        </p:txBody>
      </p:sp>
      <p:sp>
        <p:nvSpPr>
          <p:cNvPr id="306" name="Google Shape;306;p10"/>
          <p:cNvSpPr/>
          <p:nvPr/>
        </p:nvSpPr>
        <p:spPr>
          <a:xfrm>
            <a:off x="332287" y="3956495"/>
            <a:ext cx="3344045" cy="2570337"/>
          </a:xfrm>
          <a:custGeom>
            <a:rect b="b" l="l" r="r" t="t"/>
            <a:pathLst>
              <a:path extrusionOk="0" h="2570337" w="3344045">
                <a:moveTo>
                  <a:pt x="65158" y="0"/>
                </a:moveTo>
                <a:lnTo>
                  <a:pt x="3278887" y="0"/>
                </a:lnTo>
                <a:cubicBezTo>
                  <a:pt x="3314873" y="0"/>
                  <a:pt x="3344045" y="29172"/>
                  <a:pt x="3344045" y="65158"/>
                </a:cubicBezTo>
                <a:lnTo>
                  <a:pt x="3344045" y="2505179"/>
                </a:lnTo>
                <a:cubicBezTo>
                  <a:pt x="3344045" y="2541165"/>
                  <a:pt x="3314873" y="2570337"/>
                  <a:pt x="3278887" y="2570337"/>
                </a:cubicBezTo>
                <a:lnTo>
                  <a:pt x="65158" y="2570337"/>
                </a:lnTo>
                <a:cubicBezTo>
                  <a:pt x="29172" y="2570337"/>
                  <a:pt x="0" y="2541165"/>
                  <a:pt x="0" y="2505179"/>
                </a:cubicBezTo>
                <a:lnTo>
                  <a:pt x="0" y="65158"/>
                </a:lnTo>
                <a:cubicBezTo>
                  <a:pt x="0" y="29172"/>
                  <a:pt x="29172" y="0"/>
                  <a:pt x="65158" y="0"/>
                </a:cubicBezTo>
                <a:close/>
              </a:path>
            </a:pathLst>
          </a:custGeom>
          <a:gradFill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98"/>
                </a:srgbClr>
              </a:gs>
            </a:gsLst>
            <a:lin ang="2700000" scaled="0"/>
          </a:gradFill>
          <a:ln cap="flat" cmpd="sng" w="203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469111" y="4093320"/>
            <a:ext cx="456080" cy="456080"/>
          </a:xfrm>
          <a:custGeom>
            <a:rect b="b" l="l" r="r" t="t"/>
            <a:pathLst>
              <a:path extrusionOk="0" h="456080" w="456080">
                <a:moveTo>
                  <a:pt x="228040" y="0"/>
                </a:moveTo>
                <a:lnTo>
                  <a:pt x="228040" y="0"/>
                </a:lnTo>
                <a:cubicBezTo>
                  <a:pt x="353899" y="0"/>
                  <a:pt x="456080" y="102181"/>
                  <a:pt x="456080" y="228040"/>
                </a:cubicBezTo>
                <a:lnTo>
                  <a:pt x="456080" y="228040"/>
                </a:lnTo>
                <a:cubicBezTo>
                  <a:pt x="456080" y="353899"/>
                  <a:pt x="353899" y="456080"/>
                  <a:pt x="228040" y="456080"/>
                </a:cubicBezTo>
                <a:lnTo>
                  <a:pt x="228040" y="456080"/>
                </a:lnTo>
                <a:cubicBezTo>
                  <a:pt x="102181" y="456080"/>
                  <a:pt x="0" y="353899"/>
                  <a:pt x="0" y="228040"/>
                </a:cubicBezTo>
                <a:lnTo>
                  <a:pt x="0" y="228040"/>
                </a:lnTo>
                <a:cubicBezTo>
                  <a:pt x="0" y="102181"/>
                  <a:pt x="102181" y="0"/>
                  <a:pt x="22804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599420" y="4223629"/>
            <a:ext cx="195463" cy="195463"/>
          </a:xfrm>
          <a:custGeom>
            <a:rect b="b" l="l" r="r" t="t"/>
            <a:pathLst>
              <a:path extrusionOk="0" h="195463" w="195463">
                <a:moveTo>
                  <a:pt x="195463" y="12216"/>
                </a:moveTo>
                <a:cubicBezTo>
                  <a:pt x="195463" y="53485"/>
                  <a:pt x="166220" y="87920"/>
                  <a:pt x="127356" y="95975"/>
                </a:cubicBezTo>
                <a:cubicBezTo>
                  <a:pt x="124340" y="73795"/>
                  <a:pt x="114376" y="53829"/>
                  <a:pt x="99678" y="38367"/>
                </a:cubicBezTo>
                <a:cubicBezTo>
                  <a:pt x="114987" y="15271"/>
                  <a:pt x="141214" y="0"/>
                  <a:pt x="171030" y="0"/>
                </a:cubicBezTo>
                <a:lnTo>
                  <a:pt x="183246" y="0"/>
                </a:lnTo>
                <a:cubicBezTo>
                  <a:pt x="190004" y="0"/>
                  <a:pt x="195463" y="5459"/>
                  <a:pt x="195463" y="12216"/>
                </a:cubicBezTo>
                <a:close/>
                <a:moveTo>
                  <a:pt x="0" y="36649"/>
                </a:moveTo>
                <a:cubicBezTo>
                  <a:pt x="0" y="29892"/>
                  <a:pt x="5459" y="24433"/>
                  <a:pt x="12216" y="24433"/>
                </a:cubicBezTo>
                <a:lnTo>
                  <a:pt x="24433" y="24433"/>
                </a:lnTo>
                <a:cubicBezTo>
                  <a:pt x="71657" y="24433"/>
                  <a:pt x="109948" y="62724"/>
                  <a:pt x="109948" y="109948"/>
                </a:cubicBezTo>
                <a:lnTo>
                  <a:pt x="109948" y="183246"/>
                </a:lnTo>
                <a:cubicBezTo>
                  <a:pt x="109948" y="190004"/>
                  <a:pt x="104489" y="195463"/>
                  <a:pt x="97731" y="195463"/>
                </a:cubicBezTo>
                <a:cubicBezTo>
                  <a:pt x="90974" y="195463"/>
                  <a:pt x="85515" y="190004"/>
                  <a:pt x="85515" y="183246"/>
                </a:cubicBezTo>
                <a:lnTo>
                  <a:pt x="85515" y="122164"/>
                </a:lnTo>
                <a:cubicBezTo>
                  <a:pt x="38291" y="122164"/>
                  <a:pt x="0" y="83873"/>
                  <a:pt x="0" y="36649"/>
                </a:cubicBezTo>
                <a:close/>
              </a:path>
            </a:pathLst>
          </a:cu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1022923" y="4191052"/>
            <a:ext cx="627110" cy="260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9" u="none" cap="none" strike="noStrike">
                <a:solidFill>
                  <a:srgbClr val="10B981"/>
                </a:solidFill>
                <a:latin typeface="Liter"/>
                <a:ea typeface="Liter"/>
                <a:cs typeface="Liter"/>
                <a:sym typeface="Liter"/>
              </a:rPr>
              <a:t>FOOD</a:t>
            </a:r>
            <a:endParaRPr b="0" i="0" sz="1600" u="none" cap="none" strike="noStrike"/>
          </a:p>
        </p:txBody>
      </p:sp>
      <p:sp>
        <p:nvSpPr>
          <p:cNvPr id="310" name="Google Shape;310;p10"/>
          <p:cNvSpPr/>
          <p:nvPr/>
        </p:nvSpPr>
        <p:spPr>
          <a:xfrm>
            <a:off x="469111" y="4719615"/>
            <a:ext cx="3143695" cy="228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4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Cold Chain + Irrigation</a:t>
            </a:r>
            <a:endParaRPr b="0" i="0" sz="1600" u="none" cap="none" strike="noStrike"/>
          </a:p>
        </p:txBody>
      </p:sp>
      <p:sp>
        <p:nvSpPr>
          <p:cNvPr id="311" name="Google Shape;311;p10"/>
          <p:cNvSpPr/>
          <p:nvPr/>
        </p:nvSpPr>
        <p:spPr>
          <a:xfrm>
            <a:off x="469111" y="5012810"/>
            <a:ext cx="3135551" cy="423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Reliable power</a:t>
            </a: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enables agricultural productivity through irrigation pumping and cold storage</a:t>
            </a:r>
            <a:endParaRPr b="0" i="0" sz="1600" u="none" cap="none" strike="noStrike"/>
          </a:p>
        </p:txBody>
      </p:sp>
      <p:sp>
        <p:nvSpPr>
          <p:cNvPr id="312" name="Google Shape;312;p10"/>
          <p:cNvSpPr/>
          <p:nvPr/>
        </p:nvSpPr>
        <p:spPr>
          <a:xfrm>
            <a:off x="469111" y="5534044"/>
            <a:ext cx="3070397" cy="781852"/>
          </a:xfrm>
          <a:custGeom>
            <a:rect b="b" l="l" r="r" t="t"/>
            <a:pathLst>
              <a:path extrusionOk="0" h="781852" w="3070397">
                <a:moveTo>
                  <a:pt x="65152" y="0"/>
                </a:moveTo>
                <a:lnTo>
                  <a:pt x="3005245" y="0"/>
                </a:lnTo>
                <a:cubicBezTo>
                  <a:pt x="3041227" y="0"/>
                  <a:pt x="3070397" y="29169"/>
                  <a:pt x="3070397" y="65152"/>
                </a:cubicBezTo>
                <a:lnTo>
                  <a:pt x="3070397" y="716700"/>
                </a:lnTo>
                <a:cubicBezTo>
                  <a:pt x="3070397" y="752682"/>
                  <a:pt x="3041227" y="781852"/>
                  <a:pt x="3005245" y="781852"/>
                </a:cubicBezTo>
                <a:lnTo>
                  <a:pt x="65152" y="781852"/>
                </a:lnTo>
                <a:cubicBezTo>
                  <a:pt x="29169" y="781852"/>
                  <a:pt x="0" y="752682"/>
                  <a:pt x="0" y="716700"/>
                </a:cubicBezTo>
                <a:lnTo>
                  <a:pt x="0" y="65152"/>
                </a:lnTo>
                <a:cubicBezTo>
                  <a:pt x="0" y="29193"/>
                  <a:pt x="29193" y="0"/>
                  <a:pt x="6515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591275" y="5657839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771511" y="5631776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Solar-powered irrigation</a:t>
            </a:r>
            <a:endParaRPr b="0" i="0" sz="1600" u="none" cap="none" strike="noStrike"/>
          </a:p>
        </p:txBody>
      </p:sp>
      <p:sp>
        <p:nvSpPr>
          <p:cNvPr id="315" name="Google Shape;315;p10"/>
          <p:cNvSpPr/>
          <p:nvPr/>
        </p:nvSpPr>
        <p:spPr>
          <a:xfrm>
            <a:off x="591275" y="5853302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771511" y="5827238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Cold chain for produce</a:t>
            </a:r>
            <a:endParaRPr b="0" i="0" sz="1600" u="none" cap="none" strike="noStrike"/>
          </a:p>
        </p:txBody>
      </p:sp>
      <p:sp>
        <p:nvSpPr>
          <p:cNvPr id="317" name="Google Shape;317;p10"/>
          <p:cNvSpPr/>
          <p:nvPr/>
        </p:nvSpPr>
        <p:spPr>
          <a:xfrm>
            <a:off x="591275" y="6048765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771511" y="6022701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~1,200m² farm area support</a:t>
            </a:r>
            <a:endParaRPr b="0" i="0" sz="1600" u="none" cap="none" strike="noStrike"/>
          </a:p>
        </p:txBody>
      </p:sp>
      <p:sp>
        <p:nvSpPr>
          <p:cNvPr id="319" name="Google Shape;319;p10"/>
          <p:cNvSpPr/>
          <p:nvPr/>
        </p:nvSpPr>
        <p:spPr>
          <a:xfrm>
            <a:off x="3820180" y="3956495"/>
            <a:ext cx="3344045" cy="2570337"/>
          </a:xfrm>
          <a:custGeom>
            <a:rect b="b" l="l" r="r" t="t"/>
            <a:pathLst>
              <a:path extrusionOk="0" h="2570337" w="3344045">
                <a:moveTo>
                  <a:pt x="65158" y="0"/>
                </a:moveTo>
                <a:lnTo>
                  <a:pt x="3278887" y="0"/>
                </a:lnTo>
                <a:cubicBezTo>
                  <a:pt x="3314873" y="0"/>
                  <a:pt x="3344045" y="29172"/>
                  <a:pt x="3344045" y="65158"/>
                </a:cubicBezTo>
                <a:lnTo>
                  <a:pt x="3344045" y="2505179"/>
                </a:lnTo>
                <a:cubicBezTo>
                  <a:pt x="3344045" y="2541165"/>
                  <a:pt x="3314873" y="2570337"/>
                  <a:pt x="3278887" y="2570337"/>
                </a:cubicBezTo>
                <a:lnTo>
                  <a:pt x="65158" y="2570337"/>
                </a:lnTo>
                <a:cubicBezTo>
                  <a:pt x="29172" y="2570337"/>
                  <a:pt x="0" y="2541165"/>
                  <a:pt x="0" y="2505179"/>
                </a:cubicBezTo>
                <a:lnTo>
                  <a:pt x="0" y="65158"/>
                </a:lnTo>
                <a:cubicBezTo>
                  <a:pt x="0" y="29172"/>
                  <a:pt x="29172" y="0"/>
                  <a:pt x="65158" y="0"/>
                </a:cubicBezTo>
                <a:close/>
              </a:path>
            </a:pathLst>
          </a:custGeom>
          <a:gradFill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98"/>
                </a:srgbClr>
              </a:gs>
            </a:gsLst>
            <a:lin ang="2700000" scaled="0"/>
          </a:gradFill>
          <a:ln cap="flat" cmpd="sng" w="20300">
            <a:solidFill>
              <a:srgbClr val="8B5C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3957005" y="4093320"/>
            <a:ext cx="456080" cy="456080"/>
          </a:xfrm>
          <a:custGeom>
            <a:rect b="b" l="l" r="r" t="t"/>
            <a:pathLst>
              <a:path extrusionOk="0" h="456080" w="456080">
                <a:moveTo>
                  <a:pt x="228040" y="0"/>
                </a:moveTo>
                <a:lnTo>
                  <a:pt x="228040" y="0"/>
                </a:lnTo>
                <a:cubicBezTo>
                  <a:pt x="353899" y="0"/>
                  <a:pt x="456080" y="102181"/>
                  <a:pt x="456080" y="228040"/>
                </a:cubicBezTo>
                <a:lnTo>
                  <a:pt x="456080" y="228040"/>
                </a:lnTo>
                <a:cubicBezTo>
                  <a:pt x="456080" y="353899"/>
                  <a:pt x="353899" y="456080"/>
                  <a:pt x="228040" y="456080"/>
                </a:cubicBezTo>
                <a:lnTo>
                  <a:pt x="228040" y="456080"/>
                </a:lnTo>
                <a:cubicBezTo>
                  <a:pt x="102181" y="456080"/>
                  <a:pt x="0" y="353899"/>
                  <a:pt x="0" y="228040"/>
                </a:cubicBezTo>
                <a:lnTo>
                  <a:pt x="0" y="228040"/>
                </a:lnTo>
                <a:cubicBezTo>
                  <a:pt x="0" y="102181"/>
                  <a:pt x="102181" y="0"/>
                  <a:pt x="228040" y="0"/>
                </a:cubicBezTo>
                <a:close/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4099530" y="4223629"/>
            <a:ext cx="171030" cy="195463"/>
          </a:xfrm>
          <a:custGeom>
            <a:rect b="b" l="l" r="r" t="t"/>
            <a:pathLst>
              <a:path extrusionOk="0" h="195463" w="171030">
                <a:moveTo>
                  <a:pt x="85515" y="-12216"/>
                </a:moveTo>
                <a:cubicBezTo>
                  <a:pt x="88187" y="-12216"/>
                  <a:pt x="90745" y="-11033"/>
                  <a:pt x="92501" y="-8971"/>
                </a:cubicBezTo>
                <a:lnTo>
                  <a:pt x="144421" y="52111"/>
                </a:lnTo>
                <a:cubicBezTo>
                  <a:pt x="146750" y="54821"/>
                  <a:pt x="147246" y="58639"/>
                  <a:pt x="145757" y="61884"/>
                </a:cubicBezTo>
                <a:cubicBezTo>
                  <a:pt x="144268" y="65129"/>
                  <a:pt x="141023" y="67190"/>
                  <a:pt x="137435" y="67190"/>
                </a:cubicBezTo>
                <a:lnTo>
                  <a:pt x="127929" y="67190"/>
                </a:lnTo>
                <a:lnTo>
                  <a:pt x="156638" y="100976"/>
                </a:lnTo>
                <a:cubicBezTo>
                  <a:pt x="158966" y="103687"/>
                  <a:pt x="159463" y="107505"/>
                  <a:pt x="157974" y="110750"/>
                </a:cubicBezTo>
                <a:cubicBezTo>
                  <a:pt x="156485" y="113995"/>
                  <a:pt x="153240" y="116056"/>
                  <a:pt x="149651" y="116056"/>
                </a:cubicBezTo>
                <a:lnTo>
                  <a:pt x="134953" y="116056"/>
                </a:lnTo>
                <a:lnTo>
                  <a:pt x="168854" y="155950"/>
                </a:lnTo>
                <a:cubicBezTo>
                  <a:pt x="171183" y="158661"/>
                  <a:pt x="171679" y="162479"/>
                  <a:pt x="170190" y="165724"/>
                </a:cubicBezTo>
                <a:cubicBezTo>
                  <a:pt x="168701" y="168969"/>
                  <a:pt x="165456" y="171030"/>
                  <a:pt x="161868" y="171030"/>
                </a:cubicBezTo>
                <a:lnTo>
                  <a:pt x="97731" y="171030"/>
                </a:lnTo>
                <a:lnTo>
                  <a:pt x="97731" y="195463"/>
                </a:lnTo>
                <a:cubicBezTo>
                  <a:pt x="97731" y="202220"/>
                  <a:pt x="92272" y="207679"/>
                  <a:pt x="85515" y="207679"/>
                </a:cubicBezTo>
                <a:cubicBezTo>
                  <a:pt x="78758" y="207679"/>
                  <a:pt x="73299" y="202220"/>
                  <a:pt x="73299" y="195463"/>
                </a:cubicBezTo>
                <a:lnTo>
                  <a:pt x="73299" y="171030"/>
                </a:lnTo>
                <a:lnTo>
                  <a:pt x="9162" y="171030"/>
                </a:lnTo>
                <a:cubicBezTo>
                  <a:pt x="5574" y="171030"/>
                  <a:pt x="2329" y="168969"/>
                  <a:pt x="840" y="165724"/>
                </a:cubicBezTo>
                <a:cubicBezTo>
                  <a:pt x="-649" y="162479"/>
                  <a:pt x="-153" y="158661"/>
                  <a:pt x="2176" y="155950"/>
                </a:cubicBezTo>
                <a:lnTo>
                  <a:pt x="36077" y="116056"/>
                </a:lnTo>
                <a:lnTo>
                  <a:pt x="21379" y="116056"/>
                </a:lnTo>
                <a:cubicBezTo>
                  <a:pt x="17790" y="116056"/>
                  <a:pt x="14545" y="113995"/>
                  <a:pt x="13056" y="110750"/>
                </a:cubicBezTo>
                <a:cubicBezTo>
                  <a:pt x="11567" y="107505"/>
                  <a:pt x="12064" y="103687"/>
                  <a:pt x="14392" y="100976"/>
                </a:cubicBezTo>
                <a:lnTo>
                  <a:pt x="43101" y="67190"/>
                </a:lnTo>
                <a:lnTo>
                  <a:pt x="33595" y="67190"/>
                </a:lnTo>
                <a:cubicBezTo>
                  <a:pt x="30007" y="67190"/>
                  <a:pt x="26762" y="65129"/>
                  <a:pt x="25273" y="61884"/>
                </a:cubicBezTo>
                <a:cubicBezTo>
                  <a:pt x="23784" y="58639"/>
                  <a:pt x="24280" y="54821"/>
                  <a:pt x="26609" y="52111"/>
                </a:cubicBezTo>
                <a:lnTo>
                  <a:pt x="78529" y="-8971"/>
                </a:lnTo>
                <a:cubicBezTo>
                  <a:pt x="80285" y="-11033"/>
                  <a:pt x="82843" y="-12216"/>
                  <a:pt x="85515" y="-12216"/>
                </a:cubicBezTo>
                <a:close/>
              </a:path>
            </a:pathLst>
          </a:cu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4510816" y="4191052"/>
            <a:ext cx="1262365" cy="260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9" u="none" cap="none" strike="noStrike">
                <a:solidFill>
                  <a:srgbClr val="8B5CF6"/>
                </a:solidFill>
                <a:latin typeface="Liter"/>
                <a:ea typeface="Liter"/>
                <a:cs typeface="Liter"/>
                <a:sym typeface="Liter"/>
              </a:rPr>
              <a:t>ECOSYSTEM</a:t>
            </a:r>
            <a:endParaRPr b="0" i="0" sz="1600" u="none" cap="none" strike="noStrike"/>
          </a:p>
        </p:txBody>
      </p:sp>
      <p:sp>
        <p:nvSpPr>
          <p:cNvPr id="323" name="Google Shape;323;p10"/>
          <p:cNvSpPr/>
          <p:nvPr/>
        </p:nvSpPr>
        <p:spPr>
          <a:xfrm>
            <a:off x="3957005" y="4719615"/>
            <a:ext cx="3143695" cy="228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4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Zero-Carbon Operation</a:t>
            </a:r>
            <a:endParaRPr b="0" i="0" sz="1600" u="none" cap="none" strike="noStrike"/>
          </a:p>
        </p:txBody>
      </p:sp>
      <p:sp>
        <p:nvSpPr>
          <p:cNvPr id="324" name="Google Shape;324;p10"/>
          <p:cNvSpPr/>
          <p:nvPr/>
        </p:nvSpPr>
        <p:spPr>
          <a:xfrm>
            <a:off x="3957005" y="5012810"/>
            <a:ext cx="3135551" cy="423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Environmental benefits</a:t>
            </a: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through fossil-free operation and oxygen byproduct from electrolysis</a:t>
            </a:r>
            <a:endParaRPr b="0" i="0" sz="1600" u="none" cap="none" strike="noStrike"/>
          </a:p>
        </p:txBody>
      </p:sp>
      <p:sp>
        <p:nvSpPr>
          <p:cNvPr id="325" name="Google Shape;325;p10"/>
          <p:cNvSpPr/>
          <p:nvPr/>
        </p:nvSpPr>
        <p:spPr>
          <a:xfrm>
            <a:off x="3957005" y="5534044"/>
            <a:ext cx="3070397" cy="781852"/>
          </a:xfrm>
          <a:custGeom>
            <a:rect b="b" l="l" r="r" t="t"/>
            <a:pathLst>
              <a:path extrusionOk="0" h="781852" w="3070397">
                <a:moveTo>
                  <a:pt x="65152" y="0"/>
                </a:moveTo>
                <a:lnTo>
                  <a:pt x="3005245" y="0"/>
                </a:lnTo>
                <a:cubicBezTo>
                  <a:pt x="3041227" y="0"/>
                  <a:pt x="3070397" y="29169"/>
                  <a:pt x="3070397" y="65152"/>
                </a:cubicBezTo>
                <a:lnTo>
                  <a:pt x="3070397" y="716700"/>
                </a:lnTo>
                <a:cubicBezTo>
                  <a:pt x="3070397" y="752682"/>
                  <a:pt x="3041227" y="781852"/>
                  <a:pt x="3005245" y="781852"/>
                </a:cubicBezTo>
                <a:lnTo>
                  <a:pt x="65152" y="781852"/>
                </a:lnTo>
                <a:cubicBezTo>
                  <a:pt x="29169" y="781852"/>
                  <a:pt x="0" y="752682"/>
                  <a:pt x="0" y="716700"/>
                </a:cubicBezTo>
                <a:lnTo>
                  <a:pt x="0" y="65152"/>
                </a:lnTo>
                <a:cubicBezTo>
                  <a:pt x="0" y="29193"/>
                  <a:pt x="29193" y="0"/>
                  <a:pt x="6515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4079169" y="5657839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4259404" y="5631776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100% renewable operation</a:t>
            </a:r>
            <a:endParaRPr b="0" i="0" sz="1600" u="none" cap="none" strike="noStrike"/>
          </a:p>
        </p:txBody>
      </p:sp>
      <p:sp>
        <p:nvSpPr>
          <p:cNvPr id="328" name="Google Shape;328;p10"/>
          <p:cNvSpPr/>
          <p:nvPr/>
        </p:nvSpPr>
        <p:spPr>
          <a:xfrm>
            <a:off x="4079169" y="5853302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4259404" y="5827238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O₂ byproduct for medical use</a:t>
            </a:r>
            <a:endParaRPr b="0" i="0" sz="1600" u="none" cap="none" strike="noStrike"/>
          </a:p>
        </p:txBody>
      </p:sp>
      <p:sp>
        <p:nvSpPr>
          <p:cNvPr id="330" name="Google Shape;330;p10"/>
          <p:cNvSpPr/>
          <p:nvPr/>
        </p:nvSpPr>
        <p:spPr>
          <a:xfrm>
            <a:off x="4079169" y="6048765"/>
            <a:ext cx="114020" cy="130309"/>
          </a:xfrm>
          <a:custGeom>
            <a:rect b="b" l="l" r="r" t="t"/>
            <a:pathLst>
              <a:path extrusionOk="0" h="130309" w="114020">
                <a:moveTo>
                  <a:pt x="110661" y="17841"/>
                </a:moveTo>
                <a:cubicBezTo>
                  <a:pt x="114300" y="20488"/>
                  <a:pt x="115114" y="25578"/>
                  <a:pt x="112468" y="29218"/>
                </a:cubicBezTo>
                <a:lnTo>
                  <a:pt x="47313" y="118805"/>
                </a:lnTo>
                <a:cubicBezTo>
                  <a:pt x="45913" y="120739"/>
                  <a:pt x="43750" y="121935"/>
                  <a:pt x="41358" y="122139"/>
                </a:cubicBezTo>
                <a:cubicBezTo>
                  <a:pt x="38965" y="122342"/>
                  <a:pt x="36649" y="121452"/>
                  <a:pt x="34970" y="119772"/>
                </a:cubicBezTo>
                <a:lnTo>
                  <a:pt x="2392" y="87195"/>
                </a:lnTo>
                <a:cubicBezTo>
                  <a:pt x="-789" y="84013"/>
                  <a:pt x="-789" y="78847"/>
                  <a:pt x="2392" y="75666"/>
                </a:cubicBezTo>
                <a:cubicBezTo>
                  <a:pt x="5574" y="72484"/>
                  <a:pt x="10740" y="72484"/>
                  <a:pt x="13922" y="75666"/>
                </a:cubicBezTo>
                <a:lnTo>
                  <a:pt x="39754" y="101498"/>
                </a:lnTo>
                <a:lnTo>
                  <a:pt x="99309" y="19623"/>
                </a:lnTo>
                <a:cubicBezTo>
                  <a:pt x="101956" y="15983"/>
                  <a:pt x="107046" y="15169"/>
                  <a:pt x="110686" y="17816"/>
                </a:cubicBezTo>
                <a:close/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4259404" y="6022701"/>
            <a:ext cx="2735420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Circular battery lifecycle</a:t>
            </a:r>
            <a:endParaRPr b="0" i="0" sz="1600" u="none" cap="none" strike="noStrike"/>
          </a:p>
        </p:txBody>
      </p:sp>
      <p:sp>
        <p:nvSpPr>
          <p:cNvPr id="332" name="Google Shape;332;p10"/>
          <p:cNvSpPr/>
          <p:nvPr/>
        </p:nvSpPr>
        <p:spPr>
          <a:xfrm>
            <a:off x="7304918" y="1241190"/>
            <a:ext cx="4559173" cy="4420720"/>
          </a:xfrm>
          <a:custGeom>
            <a:rect b="b" l="l" r="r" t="t"/>
            <a:pathLst>
              <a:path extrusionOk="0" h="4420720" w="4559173">
                <a:moveTo>
                  <a:pt x="65161" y="0"/>
                </a:moveTo>
                <a:lnTo>
                  <a:pt x="4494011" y="0"/>
                </a:lnTo>
                <a:cubicBezTo>
                  <a:pt x="4529999" y="0"/>
                  <a:pt x="4559173" y="29174"/>
                  <a:pt x="4559173" y="65161"/>
                </a:cubicBezTo>
                <a:lnTo>
                  <a:pt x="4559173" y="4355558"/>
                </a:lnTo>
                <a:cubicBezTo>
                  <a:pt x="4559173" y="4391546"/>
                  <a:pt x="4529999" y="4420720"/>
                  <a:pt x="4494011" y="4420720"/>
                </a:cubicBezTo>
                <a:lnTo>
                  <a:pt x="65161" y="4420720"/>
                </a:lnTo>
                <a:cubicBezTo>
                  <a:pt x="29174" y="4420720"/>
                  <a:pt x="0" y="4391546"/>
                  <a:pt x="0" y="4355558"/>
                </a:cubicBezTo>
                <a:lnTo>
                  <a:pt x="0" y="65161"/>
                </a:lnTo>
                <a:cubicBezTo>
                  <a:pt x="0" y="29174"/>
                  <a:pt x="29174" y="0"/>
                  <a:pt x="65161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7438484" y="1374758"/>
            <a:ext cx="4373483" cy="228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3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WEFE Nexus Synergies</a:t>
            </a:r>
            <a:endParaRPr b="0" i="0" sz="1600" u="none" cap="none" strike="noStrike"/>
          </a:p>
        </p:txBody>
      </p:sp>
      <p:sp>
        <p:nvSpPr>
          <p:cNvPr id="334" name="Google Shape;334;p10"/>
          <p:cNvSpPr/>
          <p:nvPr/>
        </p:nvSpPr>
        <p:spPr>
          <a:xfrm>
            <a:off x="7438484" y="1700530"/>
            <a:ext cx="4357194" cy="635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WEFE approach recognizes that </a:t>
            </a: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water, energy, food, and ecosystems are interconnected systems</a:t>
            </a: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that must be managed together. SHEPA explicitly addresses all four dimensions:</a:t>
            </a:r>
            <a:endParaRPr b="0" i="0" sz="1600" u="none" cap="none" strike="noStrike"/>
          </a:p>
        </p:txBody>
      </p:sp>
      <p:sp>
        <p:nvSpPr>
          <p:cNvPr id="335" name="Google Shape;335;p10"/>
          <p:cNvSpPr/>
          <p:nvPr/>
        </p:nvSpPr>
        <p:spPr>
          <a:xfrm>
            <a:off x="7438484" y="2466093"/>
            <a:ext cx="4292040" cy="651543"/>
          </a:xfrm>
          <a:custGeom>
            <a:rect b="b" l="l" r="r" t="t"/>
            <a:pathLst>
              <a:path extrusionOk="0" h="651543" w="4292040">
                <a:moveTo>
                  <a:pt x="65154" y="0"/>
                </a:moveTo>
                <a:lnTo>
                  <a:pt x="4226886" y="0"/>
                </a:lnTo>
                <a:cubicBezTo>
                  <a:pt x="4262870" y="0"/>
                  <a:pt x="4292040" y="29171"/>
                  <a:pt x="4292040" y="65154"/>
                </a:cubicBezTo>
                <a:lnTo>
                  <a:pt x="4292040" y="586389"/>
                </a:lnTo>
                <a:cubicBezTo>
                  <a:pt x="4292040" y="622373"/>
                  <a:pt x="4262870" y="651543"/>
                  <a:pt x="4226886" y="651543"/>
                </a:cubicBezTo>
                <a:lnTo>
                  <a:pt x="65154" y="651543"/>
                </a:lnTo>
                <a:cubicBezTo>
                  <a:pt x="29171" y="651543"/>
                  <a:pt x="0" y="622373"/>
                  <a:pt x="0" y="586389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7547414" y="2588257"/>
            <a:ext cx="164922" cy="146597"/>
          </a:xfrm>
          <a:custGeom>
            <a:rect b="b" l="l" r="r" t="t"/>
            <a:pathLst>
              <a:path extrusionOk="0" h="146597" w="164922">
                <a:moveTo>
                  <a:pt x="120112" y="27487"/>
                </a:moveTo>
                <a:cubicBezTo>
                  <a:pt x="115359" y="27487"/>
                  <a:pt x="110750" y="28775"/>
                  <a:pt x="106712" y="31123"/>
                </a:cubicBezTo>
                <a:cubicBezTo>
                  <a:pt x="102189" y="26542"/>
                  <a:pt x="96920" y="22705"/>
                  <a:pt x="91108" y="19814"/>
                </a:cubicBezTo>
                <a:cubicBezTo>
                  <a:pt x="99182" y="12942"/>
                  <a:pt x="109461" y="9162"/>
                  <a:pt x="120112" y="9162"/>
                </a:cubicBezTo>
                <a:cubicBezTo>
                  <a:pt x="144851" y="9162"/>
                  <a:pt x="164922" y="29205"/>
                  <a:pt x="164922" y="53972"/>
                </a:cubicBezTo>
                <a:cubicBezTo>
                  <a:pt x="164922" y="65854"/>
                  <a:pt x="160198" y="77250"/>
                  <a:pt x="151808" y="85639"/>
                </a:cubicBezTo>
                <a:lnTo>
                  <a:pt x="131451" y="105997"/>
                </a:lnTo>
                <a:cubicBezTo>
                  <a:pt x="123061" y="114386"/>
                  <a:pt x="111666" y="119110"/>
                  <a:pt x="99783" y="119110"/>
                </a:cubicBezTo>
                <a:cubicBezTo>
                  <a:pt x="75045" y="119110"/>
                  <a:pt x="54974" y="99068"/>
                  <a:pt x="54974" y="74301"/>
                </a:cubicBezTo>
                <a:cubicBezTo>
                  <a:pt x="54974" y="73871"/>
                  <a:pt x="54974" y="73442"/>
                  <a:pt x="55003" y="73012"/>
                </a:cubicBezTo>
                <a:cubicBezTo>
                  <a:pt x="55146" y="67944"/>
                  <a:pt x="59355" y="63964"/>
                  <a:pt x="64423" y="64108"/>
                </a:cubicBezTo>
                <a:cubicBezTo>
                  <a:pt x="69491" y="64251"/>
                  <a:pt x="73470" y="68460"/>
                  <a:pt x="73327" y="73528"/>
                </a:cubicBezTo>
                <a:cubicBezTo>
                  <a:pt x="73327" y="73785"/>
                  <a:pt x="73327" y="74043"/>
                  <a:pt x="73327" y="74272"/>
                </a:cubicBezTo>
                <a:cubicBezTo>
                  <a:pt x="73327" y="88903"/>
                  <a:pt x="85181" y="100757"/>
                  <a:pt x="99812" y="100757"/>
                </a:cubicBezTo>
                <a:cubicBezTo>
                  <a:pt x="106827" y="100757"/>
                  <a:pt x="113556" y="97980"/>
                  <a:pt x="118538" y="92998"/>
                </a:cubicBezTo>
                <a:lnTo>
                  <a:pt x="138895" y="72640"/>
                </a:lnTo>
                <a:cubicBezTo>
                  <a:pt x="143848" y="67687"/>
                  <a:pt x="146654" y="60929"/>
                  <a:pt x="146654" y="53915"/>
                </a:cubicBezTo>
                <a:cubicBezTo>
                  <a:pt x="146654" y="39283"/>
                  <a:pt x="134801" y="27430"/>
                  <a:pt x="120170" y="27430"/>
                </a:cubicBezTo>
                <a:close/>
                <a:moveTo>
                  <a:pt x="78796" y="49620"/>
                </a:moveTo>
                <a:cubicBezTo>
                  <a:pt x="78252" y="49391"/>
                  <a:pt x="77708" y="49076"/>
                  <a:pt x="77221" y="48732"/>
                </a:cubicBezTo>
                <a:cubicBezTo>
                  <a:pt x="73614" y="46871"/>
                  <a:pt x="69491" y="45812"/>
                  <a:pt x="65167" y="45812"/>
                </a:cubicBezTo>
                <a:cubicBezTo>
                  <a:pt x="58152" y="45812"/>
                  <a:pt x="51424" y="48589"/>
                  <a:pt x="46442" y="53571"/>
                </a:cubicBezTo>
                <a:lnTo>
                  <a:pt x="26084" y="73929"/>
                </a:lnTo>
                <a:cubicBezTo>
                  <a:pt x="21131" y="78882"/>
                  <a:pt x="18325" y="85639"/>
                  <a:pt x="18325" y="92654"/>
                </a:cubicBezTo>
                <a:cubicBezTo>
                  <a:pt x="18325" y="107285"/>
                  <a:pt x="30178" y="119139"/>
                  <a:pt x="44809" y="119139"/>
                </a:cubicBezTo>
                <a:cubicBezTo>
                  <a:pt x="49534" y="119139"/>
                  <a:pt x="54144" y="117879"/>
                  <a:pt x="58181" y="115531"/>
                </a:cubicBezTo>
                <a:cubicBezTo>
                  <a:pt x="62705" y="120112"/>
                  <a:pt x="67973" y="123949"/>
                  <a:pt x="73814" y="126841"/>
                </a:cubicBezTo>
                <a:cubicBezTo>
                  <a:pt x="65740" y="133684"/>
                  <a:pt x="55489" y="137492"/>
                  <a:pt x="44809" y="137492"/>
                </a:cubicBezTo>
                <a:cubicBezTo>
                  <a:pt x="20071" y="137492"/>
                  <a:pt x="0" y="117450"/>
                  <a:pt x="0" y="92683"/>
                </a:cubicBezTo>
                <a:cubicBezTo>
                  <a:pt x="0" y="80800"/>
                  <a:pt x="4724" y="69405"/>
                  <a:pt x="13114" y="61015"/>
                </a:cubicBezTo>
                <a:lnTo>
                  <a:pt x="33471" y="40658"/>
                </a:lnTo>
                <a:cubicBezTo>
                  <a:pt x="41860" y="32269"/>
                  <a:pt x="53256" y="27544"/>
                  <a:pt x="65138" y="27544"/>
                </a:cubicBezTo>
                <a:cubicBezTo>
                  <a:pt x="89934" y="27544"/>
                  <a:pt x="109948" y="47759"/>
                  <a:pt x="109948" y="72468"/>
                </a:cubicBezTo>
                <a:cubicBezTo>
                  <a:pt x="109948" y="72840"/>
                  <a:pt x="109948" y="73213"/>
                  <a:pt x="109948" y="73585"/>
                </a:cubicBezTo>
                <a:cubicBezTo>
                  <a:pt x="109833" y="78653"/>
                  <a:pt x="105624" y="82633"/>
                  <a:pt x="100557" y="82518"/>
                </a:cubicBezTo>
                <a:cubicBezTo>
                  <a:pt x="95489" y="82404"/>
                  <a:pt x="91509" y="78195"/>
                  <a:pt x="91623" y="73127"/>
                </a:cubicBezTo>
                <a:cubicBezTo>
                  <a:pt x="91623" y="72898"/>
                  <a:pt x="91623" y="72697"/>
                  <a:pt x="91623" y="72468"/>
                </a:cubicBezTo>
                <a:cubicBezTo>
                  <a:pt x="91623" y="62819"/>
                  <a:pt x="86469" y="54344"/>
                  <a:pt x="78796" y="49677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7784617" y="2563824"/>
            <a:ext cx="1009892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Energy → Water</a:t>
            </a:r>
            <a:endParaRPr b="0" i="0" sz="1600" u="none" cap="none" strike="noStrike"/>
          </a:p>
        </p:txBody>
      </p:sp>
      <p:sp>
        <p:nvSpPr>
          <p:cNvPr id="338" name="Google Shape;338;p10"/>
          <p:cNvSpPr/>
          <p:nvPr/>
        </p:nvSpPr>
        <p:spPr>
          <a:xfrm>
            <a:off x="7536216" y="2824442"/>
            <a:ext cx="4161731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 power drives AWG and borehole pumping</a:t>
            </a:r>
            <a:endParaRPr b="0" i="0" sz="1600" u="none" cap="none" strike="noStrike"/>
          </a:p>
        </p:txBody>
      </p:sp>
      <p:sp>
        <p:nvSpPr>
          <p:cNvPr id="339" name="Google Shape;339;p10"/>
          <p:cNvSpPr/>
          <p:nvPr/>
        </p:nvSpPr>
        <p:spPr>
          <a:xfrm>
            <a:off x="7438484" y="3215368"/>
            <a:ext cx="4292040" cy="651543"/>
          </a:xfrm>
          <a:custGeom>
            <a:rect b="b" l="l" r="r" t="t"/>
            <a:pathLst>
              <a:path extrusionOk="0" h="651543" w="4292040">
                <a:moveTo>
                  <a:pt x="65154" y="0"/>
                </a:moveTo>
                <a:lnTo>
                  <a:pt x="4226886" y="0"/>
                </a:lnTo>
                <a:cubicBezTo>
                  <a:pt x="4262870" y="0"/>
                  <a:pt x="4292040" y="29171"/>
                  <a:pt x="4292040" y="65154"/>
                </a:cubicBezTo>
                <a:lnTo>
                  <a:pt x="4292040" y="586389"/>
                </a:lnTo>
                <a:cubicBezTo>
                  <a:pt x="4292040" y="622373"/>
                  <a:pt x="4262870" y="651543"/>
                  <a:pt x="4226886" y="651543"/>
                </a:cubicBezTo>
                <a:lnTo>
                  <a:pt x="65154" y="651543"/>
                </a:lnTo>
                <a:cubicBezTo>
                  <a:pt x="29171" y="651543"/>
                  <a:pt x="0" y="622373"/>
                  <a:pt x="0" y="586389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7547414" y="3337532"/>
            <a:ext cx="164922" cy="146597"/>
          </a:xfrm>
          <a:custGeom>
            <a:rect b="b" l="l" r="r" t="t"/>
            <a:pathLst>
              <a:path extrusionOk="0" h="146597" w="164922">
                <a:moveTo>
                  <a:pt x="120112" y="27487"/>
                </a:moveTo>
                <a:cubicBezTo>
                  <a:pt x="115359" y="27487"/>
                  <a:pt x="110750" y="28775"/>
                  <a:pt x="106712" y="31123"/>
                </a:cubicBezTo>
                <a:cubicBezTo>
                  <a:pt x="102189" y="26542"/>
                  <a:pt x="96920" y="22705"/>
                  <a:pt x="91108" y="19814"/>
                </a:cubicBezTo>
                <a:cubicBezTo>
                  <a:pt x="99182" y="12942"/>
                  <a:pt x="109461" y="9162"/>
                  <a:pt x="120112" y="9162"/>
                </a:cubicBezTo>
                <a:cubicBezTo>
                  <a:pt x="144851" y="9162"/>
                  <a:pt x="164922" y="29205"/>
                  <a:pt x="164922" y="53972"/>
                </a:cubicBezTo>
                <a:cubicBezTo>
                  <a:pt x="164922" y="65854"/>
                  <a:pt x="160198" y="77250"/>
                  <a:pt x="151808" y="85639"/>
                </a:cubicBezTo>
                <a:lnTo>
                  <a:pt x="131451" y="105997"/>
                </a:lnTo>
                <a:cubicBezTo>
                  <a:pt x="123061" y="114386"/>
                  <a:pt x="111666" y="119110"/>
                  <a:pt x="99783" y="119110"/>
                </a:cubicBezTo>
                <a:cubicBezTo>
                  <a:pt x="75045" y="119110"/>
                  <a:pt x="54974" y="99068"/>
                  <a:pt x="54974" y="74301"/>
                </a:cubicBezTo>
                <a:cubicBezTo>
                  <a:pt x="54974" y="73871"/>
                  <a:pt x="54974" y="73442"/>
                  <a:pt x="55003" y="73012"/>
                </a:cubicBezTo>
                <a:cubicBezTo>
                  <a:pt x="55146" y="67944"/>
                  <a:pt x="59355" y="63964"/>
                  <a:pt x="64423" y="64108"/>
                </a:cubicBezTo>
                <a:cubicBezTo>
                  <a:pt x="69491" y="64251"/>
                  <a:pt x="73470" y="68460"/>
                  <a:pt x="73327" y="73528"/>
                </a:cubicBezTo>
                <a:cubicBezTo>
                  <a:pt x="73327" y="73785"/>
                  <a:pt x="73327" y="74043"/>
                  <a:pt x="73327" y="74272"/>
                </a:cubicBezTo>
                <a:cubicBezTo>
                  <a:pt x="73327" y="88903"/>
                  <a:pt x="85181" y="100757"/>
                  <a:pt x="99812" y="100757"/>
                </a:cubicBezTo>
                <a:cubicBezTo>
                  <a:pt x="106827" y="100757"/>
                  <a:pt x="113556" y="97980"/>
                  <a:pt x="118538" y="92998"/>
                </a:cubicBezTo>
                <a:lnTo>
                  <a:pt x="138895" y="72640"/>
                </a:lnTo>
                <a:cubicBezTo>
                  <a:pt x="143848" y="67687"/>
                  <a:pt x="146654" y="60929"/>
                  <a:pt x="146654" y="53915"/>
                </a:cubicBezTo>
                <a:cubicBezTo>
                  <a:pt x="146654" y="39283"/>
                  <a:pt x="134801" y="27430"/>
                  <a:pt x="120170" y="27430"/>
                </a:cubicBezTo>
                <a:close/>
                <a:moveTo>
                  <a:pt x="78796" y="49620"/>
                </a:moveTo>
                <a:cubicBezTo>
                  <a:pt x="78252" y="49391"/>
                  <a:pt x="77708" y="49076"/>
                  <a:pt x="77221" y="48732"/>
                </a:cubicBezTo>
                <a:cubicBezTo>
                  <a:pt x="73614" y="46871"/>
                  <a:pt x="69491" y="45812"/>
                  <a:pt x="65167" y="45812"/>
                </a:cubicBezTo>
                <a:cubicBezTo>
                  <a:pt x="58152" y="45812"/>
                  <a:pt x="51424" y="48589"/>
                  <a:pt x="46442" y="53571"/>
                </a:cubicBezTo>
                <a:lnTo>
                  <a:pt x="26084" y="73929"/>
                </a:lnTo>
                <a:cubicBezTo>
                  <a:pt x="21131" y="78882"/>
                  <a:pt x="18325" y="85639"/>
                  <a:pt x="18325" y="92654"/>
                </a:cubicBezTo>
                <a:cubicBezTo>
                  <a:pt x="18325" y="107285"/>
                  <a:pt x="30178" y="119139"/>
                  <a:pt x="44809" y="119139"/>
                </a:cubicBezTo>
                <a:cubicBezTo>
                  <a:pt x="49534" y="119139"/>
                  <a:pt x="54144" y="117879"/>
                  <a:pt x="58181" y="115531"/>
                </a:cubicBezTo>
                <a:cubicBezTo>
                  <a:pt x="62705" y="120112"/>
                  <a:pt x="67973" y="123949"/>
                  <a:pt x="73814" y="126841"/>
                </a:cubicBezTo>
                <a:cubicBezTo>
                  <a:pt x="65740" y="133684"/>
                  <a:pt x="55489" y="137492"/>
                  <a:pt x="44809" y="137492"/>
                </a:cubicBezTo>
                <a:cubicBezTo>
                  <a:pt x="20071" y="137492"/>
                  <a:pt x="0" y="117450"/>
                  <a:pt x="0" y="92683"/>
                </a:cubicBezTo>
                <a:cubicBezTo>
                  <a:pt x="0" y="80800"/>
                  <a:pt x="4724" y="69405"/>
                  <a:pt x="13114" y="61015"/>
                </a:cubicBezTo>
                <a:lnTo>
                  <a:pt x="33471" y="40658"/>
                </a:lnTo>
                <a:cubicBezTo>
                  <a:pt x="41860" y="32269"/>
                  <a:pt x="53256" y="27544"/>
                  <a:pt x="65138" y="27544"/>
                </a:cubicBezTo>
                <a:cubicBezTo>
                  <a:pt x="89934" y="27544"/>
                  <a:pt x="109948" y="47759"/>
                  <a:pt x="109948" y="72468"/>
                </a:cubicBezTo>
                <a:cubicBezTo>
                  <a:pt x="109948" y="72840"/>
                  <a:pt x="109948" y="73213"/>
                  <a:pt x="109948" y="73585"/>
                </a:cubicBezTo>
                <a:cubicBezTo>
                  <a:pt x="109833" y="78653"/>
                  <a:pt x="105624" y="82633"/>
                  <a:pt x="100557" y="82518"/>
                </a:cubicBezTo>
                <a:cubicBezTo>
                  <a:pt x="95489" y="82404"/>
                  <a:pt x="91509" y="78195"/>
                  <a:pt x="91623" y="73127"/>
                </a:cubicBezTo>
                <a:cubicBezTo>
                  <a:pt x="91623" y="72898"/>
                  <a:pt x="91623" y="72697"/>
                  <a:pt x="91623" y="72468"/>
                </a:cubicBezTo>
                <a:cubicBezTo>
                  <a:pt x="91623" y="62819"/>
                  <a:pt x="86469" y="54344"/>
                  <a:pt x="78796" y="49677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7784617" y="3313099"/>
            <a:ext cx="904016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Water → Food</a:t>
            </a:r>
            <a:endParaRPr b="0" i="0" sz="1600" u="none" cap="none" strike="noStrike"/>
          </a:p>
        </p:txBody>
      </p:sp>
      <p:sp>
        <p:nvSpPr>
          <p:cNvPr id="342" name="Google Shape;342;p10"/>
          <p:cNvSpPr/>
          <p:nvPr/>
        </p:nvSpPr>
        <p:spPr>
          <a:xfrm>
            <a:off x="7536216" y="3573716"/>
            <a:ext cx="4161731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AWG and irrigation enable agricultural production</a:t>
            </a:r>
            <a:endParaRPr b="0" i="0" sz="1600" u="none" cap="none" strike="noStrike"/>
          </a:p>
        </p:txBody>
      </p:sp>
      <p:sp>
        <p:nvSpPr>
          <p:cNvPr id="343" name="Google Shape;343;p10"/>
          <p:cNvSpPr/>
          <p:nvPr/>
        </p:nvSpPr>
        <p:spPr>
          <a:xfrm>
            <a:off x="7438484" y="3964642"/>
            <a:ext cx="4292040" cy="651543"/>
          </a:xfrm>
          <a:custGeom>
            <a:rect b="b" l="l" r="r" t="t"/>
            <a:pathLst>
              <a:path extrusionOk="0" h="651543" w="4292040">
                <a:moveTo>
                  <a:pt x="65154" y="0"/>
                </a:moveTo>
                <a:lnTo>
                  <a:pt x="4226886" y="0"/>
                </a:lnTo>
                <a:cubicBezTo>
                  <a:pt x="4262870" y="0"/>
                  <a:pt x="4292040" y="29171"/>
                  <a:pt x="4292040" y="65154"/>
                </a:cubicBezTo>
                <a:lnTo>
                  <a:pt x="4292040" y="586389"/>
                </a:lnTo>
                <a:cubicBezTo>
                  <a:pt x="4292040" y="622373"/>
                  <a:pt x="4262870" y="651543"/>
                  <a:pt x="4226886" y="651543"/>
                </a:cubicBezTo>
                <a:lnTo>
                  <a:pt x="65154" y="651543"/>
                </a:lnTo>
                <a:cubicBezTo>
                  <a:pt x="29171" y="651543"/>
                  <a:pt x="0" y="622373"/>
                  <a:pt x="0" y="586389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7547414" y="4086806"/>
            <a:ext cx="164922" cy="146597"/>
          </a:xfrm>
          <a:custGeom>
            <a:rect b="b" l="l" r="r" t="t"/>
            <a:pathLst>
              <a:path extrusionOk="0" h="146597" w="164922">
                <a:moveTo>
                  <a:pt x="120112" y="27487"/>
                </a:moveTo>
                <a:cubicBezTo>
                  <a:pt x="115359" y="27487"/>
                  <a:pt x="110750" y="28775"/>
                  <a:pt x="106712" y="31123"/>
                </a:cubicBezTo>
                <a:cubicBezTo>
                  <a:pt x="102189" y="26542"/>
                  <a:pt x="96920" y="22705"/>
                  <a:pt x="91108" y="19814"/>
                </a:cubicBezTo>
                <a:cubicBezTo>
                  <a:pt x="99182" y="12942"/>
                  <a:pt x="109461" y="9162"/>
                  <a:pt x="120112" y="9162"/>
                </a:cubicBezTo>
                <a:cubicBezTo>
                  <a:pt x="144851" y="9162"/>
                  <a:pt x="164922" y="29205"/>
                  <a:pt x="164922" y="53972"/>
                </a:cubicBezTo>
                <a:cubicBezTo>
                  <a:pt x="164922" y="65854"/>
                  <a:pt x="160198" y="77250"/>
                  <a:pt x="151808" y="85639"/>
                </a:cubicBezTo>
                <a:lnTo>
                  <a:pt x="131451" y="105997"/>
                </a:lnTo>
                <a:cubicBezTo>
                  <a:pt x="123061" y="114386"/>
                  <a:pt x="111666" y="119110"/>
                  <a:pt x="99783" y="119110"/>
                </a:cubicBezTo>
                <a:cubicBezTo>
                  <a:pt x="75045" y="119110"/>
                  <a:pt x="54974" y="99068"/>
                  <a:pt x="54974" y="74301"/>
                </a:cubicBezTo>
                <a:cubicBezTo>
                  <a:pt x="54974" y="73871"/>
                  <a:pt x="54974" y="73442"/>
                  <a:pt x="55003" y="73012"/>
                </a:cubicBezTo>
                <a:cubicBezTo>
                  <a:pt x="55146" y="67944"/>
                  <a:pt x="59355" y="63964"/>
                  <a:pt x="64423" y="64108"/>
                </a:cubicBezTo>
                <a:cubicBezTo>
                  <a:pt x="69491" y="64251"/>
                  <a:pt x="73470" y="68460"/>
                  <a:pt x="73327" y="73528"/>
                </a:cubicBezTo>
                <a:cubicBezTo>
                  <a:pt x="73327" y="73785"/>
                  <a:pt x="73327" y="74043"/>
                  <a:pt x="73327" y="74272"/>
                </a:cubicBezTo>
                <a:cubicBezTo>
                  <a:pt x="73327" y="88903"/>
                  <a:pt x="85181" y="100757"/>
                  <a:pt x="99812" y="100757"/>
                </a:cubicBezTo>
                <a:cubicBezTo>
                  <a:pt x="106827" y="100757"/>
                  <a:pt x="113556" y="97980"/>
                  <a:pt x="118538" y="92998"/>
                </a:cubicBezTo>
                <a:lnTo>
                  <a:pt x="138895" y="72640"/>
                </a:lnTo>
                <a:cubicBezTo>
                  <a:pt x="143848" y="67687"/>
                  <a:pt x="146654" y="60929"/>
                  <a:pt x="146654" y="53915"/>
                </a:cubicBezTo>
                <a:cubicBezTo>
                  <a:pt x="146654" y="39283"/>
                  <a:pt x="134801" y="27430"/>
                  <a:pt x="120170" y="27430"/>
                </a:cubicBezTo>
                <a:close/>
                <a:moveTo>
                  <a:pt x="78796" y="49620"/>
                </a:moveTo>
                <a:cubicBezTo>
                  <a:pt x="78252" y="49391"/>
                  <a:pt x="77708" y="49076"/>
                  <a:pt x="77221" y="48732"/>
                </a:cubicBezTo>
                <a:cubicBezTo>
                  <a:pt x="73614" y="46871"/>
                  <a:pt x="69491" y="45812"/>
                  <a:pt x="65167" y="45812"/>
                </a:cubicBezTo>
                <a:cubicBezTo>
                  <a:pt x="58152" y="45812"/>
                  <a:pt x="51424" y="48589"/>
                  <a:pt x="46442" y="53571"/>
                </a:cubicBezTo>
                <a:lnTo>
                  <a:pt x="26084" y="73929"/>
                </a:lnTo>
                <a:cubicBezTo>
                  <a:pt x="21131" y="78882"/>
                  <a:pt x="18325" y="85639"/>
                  <a:pt x="18325" y="92654"/>
                </a:cubicBezTo>
                <a:cubicBezTo>
                  <a:pt x="18325" y="107285"/>
                  <a:pt x="30178" y="119139"/>
                  <a:pt x="44809" y="119139"/>
                </a:cubicBezTo>
                <a:cubicBezTo>
                  <a:pt x="49534" y="119139"/>
                  <a:pt x="54144" y="117879"/>
                  <a:pt x="58181" y="115531"/>
                </a:cubicBezTo>
                <a:cubicBezTo>
                  <a:pt x="62705" y="120112"/>
                  <a:pt x="67973" y="123949"/>
                  <a:pt x="73814" y="126841"/>
                </a:cubicBezTo>
                <a:cubicBezTo>
                  <a:pt x="65740" y="133684"/>
                  <a:pt x="55489" y="137492"/>
                  <a:pt x="44809" y="137492"/>
                </a:cubicBezTo>
                <a:cubicBezTo>
                  <a:pt x="20071" y="137492"/>
                  <a:pt x="0" y="117450"/>
                  <a:pt x="0" y="92683"/>
                </a:cubicBezTo>
                <a:cubicBezTo>
                  <a:pt x="0" y="80800"/>
                  <a:pt x="4724" y="69405"/>
                  <a:pt x="13114" y="61015"/>
                </a:cubicBezTo>
                <a:lnTo>
                  <a:pt x="33471" y="40658"/>
                </a:lnTo>
                <a:cubicBezTo>
                  <a:pt x="41860" y="32269"/>
                  <a:pt x="53256" y="27544"/>
                  <a:pt x="65138" y="27544"/>
                </a:cubicBezTo>
                <a:cubicBezTo>
                  <a:pt x="89934" y="27544"/>
                  <a:pt x="109948" y="47759"/>
                  <a:pt x="109948" y="72468"/>
                </a:cubicBezTo>
                <a:cubicBezTo>
                  <a:pt x="109948" y="72840"/>
                  <a:pt x="109948" y="73213"/>
                  <a:pt x="109948" y="73585"/>
                </a:cubicBezTo>
                <a:cubicBezTo>
                  <a:pt x="109833" y="78653"/>
                  <a:pt x="105624" y="82633"/>
                  <a:pt x="100557" y="82518"/>
                </a:cubicBezTo>
                <a:cubicBezTo>
                  <a:pt x="95489" y="82404"/>
                  <a:pt x="91509" y="78195"/>
                  <a:pt x="91623" y="73127"/>
                </a:cubicBezTo>
                <a:cubicBezTo>
                  <a:pt x="91623" y="72898"/>
                  <a:pt x="91623" y="72697"/>
                  <a:pt x="91623" y="72468"/>
                </a:cubicBezTo>
                <a:cubicBezTo>
                  <a:pt x="91623" y="62819"/>
                  <a:pt x="86469" y="54344"/>
                  <a:pt x="78796" y="49677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7784617" y="4062374"/>
            <a:ext cx="928449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Energy → Food</a:t>
            </a:r>
            <a:endParaRPr b="0" i="0" sz="1600" u="none" cap="none" strike="noStrike"/>
          </a:p>
        </p:txBody>
      </p:sp>
      <p:sp>
        <p:nvSpPr>
          <p:cNvPr id="346" name="Google Shape;346;p10"/>
          <p:cNvSpPr/>
          <p:nvPr/>
        </p:nvSpPr>
        <p:spPr>
          <a:xfrm>
            <a:off x="7536216" y="4322991"/>
            <a:ext cx="4161731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Reliable power supports cold chain and processing</a:t>
            </a:r>
            <a:endParaRPr b="0" i="0" sz="1600" u="none" cap="none" strike="noStrike"/>
          </a:p>
        </p:txBody>
      </p:sp>
      <p:sp>
        <p:nvSpPr>
          <p:cNvPr id="347" name="Google Shape;347;p10"/>
          <p:cNvSpPr/>
          <p:nvPr/>
        </p:nvSpPr>
        <p:spPr>
          <a:xfrm>
            <a:off x="7438484" y="4713917"/>
            <a:ext cx="4292040" cy="651543"/>
          </a:xfrm>
          <a:custGeom>
            <a:rect b="b" l="l" r="r" t="t"/>
            <a:pathLst>
              <a:path extrusionOk="0" h="651543" w="4292040">
                <a:moveTo>
                  <a:pt x="65154" y="0"/>
                </a:moveTo>
                <a:lnTo>
                  <a:pt x="4226886" y="0"/>
                </a:lnTo>
                <a:cubicBezTo>
                  <a:pt x="4262870" y="0"/>
                  <a:pt x="4292040" y="29171"/>
                  <a:pt x="4292040" y="65154"/>
                </a:cubicBezTo>
                <a:lnTo>
                  <a:pt x="4292040" y="586389"/>
                </a:lnTo>
                <a:cubicBezTo>
                  <a:pt x="4292040" y="622373"/>
                  <a:pt x="4262870" y="651543"/>
                  <a:pt x="4226886" y="651543"/>
                </a:cubicBezTo>
                <a:lnTo>
                  <a:pt x="65154" y="651543"/>
                </a:lnTo>
                <a:cubicBezTo>
                  <a:pt x="29171" y="651543"/>
                  <a:pt x="0" y="622373"/>
                  <a:pt x="0" y="586389"/>
                </a:cubicBezTo>
                <a:lnTo>
                  <a:pt x="0" y="65154"/>
                </a:lnTo>
                <a:cubicBezTo>
                  <a:pt x="0" y="29195"/>
                  <a:pt x="29195" y="0"/>
                  <a:pt x="6515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7547414" y="4836081"/>
            <a:ext cx="164922" cy="146597"/>
          </a:xfrm>
          <a:custGeom>
            <a:rect b="b" l="l" r="r" t="t"/>
            <a:pathLst>
              <a:path extrusionOk="0" h="146597" w="164922">
                <a:moveTo>
                  <a:pt x="120112" y="27487"/>
                </a:moveTo>
                <a:cubicBezTo>
                  <a:pt x="115359" y="27487"/>
                  <a:pt x="110750" y="28775"/>
                  <a:pt x="106712" y="31123"/>
                </a:cubicBezTo>
                <a:cubicBezTo>
                  <a:pt x="102189" y="26542"/>
                  <a:pt x="96920" y="22705"/>
                  <a:pt x="91108" y="19814"/>
                </a:cubicBezTo>
                <a:cubicBezTo>
                  <a:pt x="99182" y="12942"/>
                  <a:pt x="109461" y="9162"/>
                  <a:pt x="120112" y="9162"/>
                </a:cubicBezTo>
                <a:cubicBezTo>
                  <a:pt x="144851" y="9162"/>
                  <a:pt x="164922" y="29205"/>
                  <a:pt x="164922" y="53972"/>
                </a:cubicBezTo>
                <a:cubicBezTo>
                  <a:pt x="164922" y="65854"/>
                  <a:pt x="160198" y="77250"/>
                  <a:pt x="151808" y="85639"/>
                </a:cubicBezTo>
                <a:lnTo>
                  <a:pt x="131451" y="105997"/>
                </a:lnTo>
                <a:cubicBezTo>
                  <a:pt x="123061" y="114386"/>
                  <a:pt x="111666" y="119110"/>
                  <a:pt x="99783" y="119110"/>
                </a:cubicBezTo>
                <a:cubicBezTo>
                  <a:pt x="75045" y="119110"/>
                  <a:pt x="54974" y="99068"/>
                  <a:pt x="54974" y="74301"/>
                </a:cubicBezTo>
                <a:cubicBezTo>
                  <a:pt x="54974" y="73871"/>
                  <a:pt x="54974" y="73442"/>
                  <a:pt x="55003" y="73012"/>
                </a:cubicBezTo>
                <a:cubicBezTo>
                  <a:pt x="55146" y="67944"/>
                  <a:pt x="59355" y="63964"/>
                  <a:pt x="64423" y="64108"/>
                </a:cubicBezTo>
                <a:cubicBezTo>
                  <a:pt x="69491" y="64251"/>
                  <a:pt x="73470" y="68460"/>
                  <a:pt x="73327" y="73528"/>
                </a:cubicBezTo>
                <a:cubicBezTo>
                  <a:pt x="73327" y="73785"/>
                  <a:pt x="73327" y="74043"/>
                  <a:pt x="73327" y="74272"/>
                </a:cubicBezTo>
                <a:cubicBezTo>
                  <a:pt x="73327" y="88903"/>
                  <a:pt x="85181" y="100757"/>
                  <a:pt x="99812" y="100757"/>
                </a:cubicBezTo>
                <a:cubicBezTo>
                  <a:pt x="106827" y="100757"/>
                  <a:pt x="113556" y="97980"/>
                  <a:pt x="118538" y="92998"/>
                </a:cubicBezTo>
                <a:lnTo>
                  <a:pt x="138895" y="72640"/>
                </a:lnTo>
                <a:cubicBezTo>
                  <a:pt x="143848" y="67687"/>
                  <a:pt x="146654" y="60929"/>
                  <a:pt x="146654" y="53915"/>
                </a:cubicBezTo>
                <a:cubicBezTo>
                  <a:pt x="146654" y="39283"/>
                  <a:pt x="134801" y="27430"/>
                  <a:pt x="120170" y="27430"/>
                </a:cubicBezTo>
                <a:close/>
                <a:moveTo>
                  <a:pt x="78796" y="49620"/>
                </a:moveTo>
                <a:cubicBezTo>
                  <a:pt x="78252" y="49391"/>
                  <a:pt x="77708" y="49076"/>
                  <a:pt x="77221" y="48732"/>
                </a:cubicBezTo>
                <a:cubicBezTo>
                  <a:pt x="73614" y="46871"/>
                  <a:pt x="69491" y="45812"/>
                  <a:pt x="65167" y="45812"/>
                </a:cubicBezTo>
                <a:cubicBezTo>
                  <a:pt x="58152" y="45812"/>
                  <a:pt x="51424" y="48589"/>
                  <a:pt x="46442" y="53571"/>
                </a:cubicBezTo>
                <a:lnTo>
                  <a:pt x="26084" y="73929"/>
                </a:lnTo>
                <a:cubicBezTo>
                  <a:pt x="21131" y="78882"/>
                  <a:pt x="18325" y="85639"/>
                  <a:pt x="18325" y="92654"/>
                </a:cubicBezTo>
                <a:cubicBezTo>
                  <a:pt x="18325" y="107285"/>
                  <a:pt x="30178" y="119139"/>
                  <a:pt x="44809" y="119139"/>
                </a:cubicBezTo>
                <a:cubicBezTo>
                  <a:pt x="49534" y="119139"/>
                  <a:pt x="54144" y="117879"/>
                  <a:pt x="58181" y="115531"/>
                </a:cubicBezTo>
                <a:cubicBezTo>
                  <a:pt x="62705" y="120112"/>
                  <a:pt x="67973" y="123949"/>
                  <a:pt x="73814" y="126841"/>
                </a:cubicBezTo>
                <a:cubicBezTo>
                  <a:pt x="65740" y="133684"/>
                  <a:pt x="55489" y="137492"/>
                  <a:pt x="44809" y="137492"/>
                </a:cubicBezTo>
                <a:cubicBezTo>
                  <a:pt x="20071" y="137492"/>
                  <a:pt x="0" y="117450"/>
                  <a:pt x="0" y="92683"/>
                </a:cubicBezTo>
                <a:cubicBezTo>
                  <a:pt x="0" y="80800"/>
                  <a:pt x="4724" y="69405"/>
                  <a:pt x="13114" y="61015"/>
                </a:cubicBezTo>
                <a:lnTo>
                  <a:pt x="33471" y="40658"/>
                </a:lnTo>
                <a:cubicBezTo>
                  <a:pt x="41860" y="32269"/>
                  <a:pt x="53256" y="27544"/>
                  <a:pt x="65138" y="27544"/>
                </a:cubicBezTo>
                <a:cubicBezTo>
                  <a:pt x="89934" y="27544"/>
                  <a:pt x="109948" y="47759"/>
                  <a:pt x="109948" y="72468"/>
                </a:cubicBezTo>
                <a:cubicBezTo>
                  <a:pt x="109948" y="72840"/>
                  <a:pt x="109948" y="73213"/>
                  <a:pt x="109948" y="73585"/>
                </a:cubicBezTo>
                <a:cubicBezTo>
                  <a:pt x="109833" y="78653"/>
                  <a:pt x="105624" y="82633"/>
                  <a:pt x="100557" y="82518"/>
                </a:cubicBezTo>
                <a:cubicBezTo>
                  <a:pt x="95489" y="82404"/>
                  <a:pt x="91509" y="78195"/>
                  <a:pt x="91623" y="73127"/>
                </a:cubicBezTo>
                <a:cubicBezTo>
                  <a:pt x="91623" y="72898"/>
                  <a:pt x="91623" y="72697"/>
                  <a:pt x="91623" y="72468"/>
                </a:cubicBezTo>
                <a:cubicBezTo>
                  <a:pt x="91623" y="62819"/>
                  <a:pt x="86469" y="54344"/>
                  <a:pt x="78796" y="49677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7784617" y="4811648"/>
            <a:ext cx="1018036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→ Ecosystem</a:t>
            </a:r>
            <a:endParaRPr b="0" i="0" sz="1600" u="none" cap="none" strike="noStrike"/>
          </a:p>
        </p:txBody>
      </p:sp>
      <p:sp>
        <p:nvSpPr>
          <p:cNvPr id="350" name="Google Shape;350;p10"/>
          <p:cNvSpPr/>
          <p:nvPr/>
        </p:nvSpPr>
        <p:spPr>
          <a:xfrm>
            <a:off x="7536216" y="5072265"/>
            <a:ext cx="4161731" cy="195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Zero-carbon operation preserves environmental integrity</a:t>
            </a:r>
            <a:endParaRPr b="0" i="0" sz="1600" u="none" cap="none" strike="noStrike"/>
          </a:p>
        </p:txBody>
      </p:sp>
      <p:sp>
        <p:nvSpPr>
          <p:cNvPr id="351" name="Google Shape;351;p10"/>
          <p:cNvSpPr/>
          <p:nvPr/>
        </p:nvSpPr>
        <p:spPr>
          <a:xfrm>
            <a:off x="7317949" y="5798733"/>
            <a:ext cx="4544513" cy="732986"/>
          </a:xfrm>
          <a:custGeom>
            <a:rect b="b" l="l" r="r" t="t"/>
            <a:pathLst>
              <a:path extrusionOk="0" h="732986" w="4544513">
                <a:moveTo>
                  <a:pt x="32577" y="0"/>
                </a:moveTo>
                <a:lnTo>
                  <a:pt x="4479358" y="0"/>
                </a:lnTo>
                <a:cubicBezTo>
                  <a:pt x="4515342" y="0"/>
                  <a:pt x="4544513" y="29171"/>
                  <a:pt x="4544513" y="65155"/>
                </a:cubicBezTo>
                <a:lnTo>
                  <a:pt x="4544513" y="667831"/>
                </a:lnTo>
                <a:cubicBezTo>
                  <a:pt x="4544513" y="703815"/>
                  <a:pt x="4515342" y="732986"/>
                  <a:pt x="4479358" y="732986"/>
                </a:cubicBezTo>
                <a:lnTo>
                  <a:pt x="32577" y="732986"/>
                </a:lnTo>
                <a:cubicBezTo>
                  <a:pt x="14585" y="732986"/>
                  <a:pt x="0" y="718401"/>
                  <a:pt x="0" y="700409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7317949" y="5798733"/>
            <a:ext cx="32577" cy="732986"/>
          </a:xfrm>
          <a:custGeom>
            <a:rect b="b" l="l" r="r" t="t"/>
            <a:pathLst>
              <a:path extrusionOk="0" h="732986" w="32577">
                <a:moveTo>
                  <a:pt x="32577" y="0"/>
                </a:moveTo>
                <a:lnTo>
                  <a:pt x="32577" y="0"/>
                </a:lnTo>
                <a:lnTo>
                  <a:pt x="32577" y="732986"/>
                </a:lnTo>
                <a:lnTo>
                  <a:pt x="32577" y="732986"/>
                </a:lnTo>
                <a:cubicBezTo>
                  <a:pt x="14585" y="732986"/>
                  <a:pt x="0" y="718401"/>
                  <a:pt x="0" y="700409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7448258" y="5909497"/>
            <a:ext cx="130309" cy="130309"/>
          </a:xfrm>
          <a:custGeom>
            <a:rect b="b" l="l" r="r" t="t"/>
            <a:pathLst>
              <a:path extrusionOk="0" h="130309" w="130309">
                <a:moveTo>
                  <a:pt x="65154" y="130309"/>
                </a:moveTo>
                <a:cubicBezTo>
                  <a:pt x="101114" y="130309"/>
                  <a:pt x="130309" y="101114"/>
                  <a:pt x="130309" y="65154"/>
                </a:cubicBezTo>
                <a:cubicBezTo>
                  <a:pt x="130309" y="29195"/>
                  <a:pt x="101114" y="0"/>
                  <a:pt x="65154" y="0"/>
                </a:cubicBezTo>
                <a:cubicBezTo>
                  <a:pt x="29195" y="0"/>
                  <a:pt x="0" y="29195"/>
                  <a:pt x="0" y="65154"/>
                </a:cubicBezTo>
                <a:cubicBezTo>
                  <a:pt x="0" y="101114"/>
                  <a:pt x="29195" y="130309"/>
                  <a:pt x="65154" y="130309"/>
                </a:cubicBezTo>
                <a:close/>
                <a:moveTo>
                  <a:pt x="57010" y="40721"/>
                </a:moveTo>
                <a:cubicBezTo>
                  <a:pt x="57010" y="36226"/>
                  <a:pt x="60659" y="32577"/>
                  <a:pt x="65154" y="32577"/>
                </a:cubicBezTo>
                <a:cubicBezTo>
                  <a:pt x="69649" y="32577"/>
                  <a:pt x="73299" y="36226"/>
                  <a:pt x="73299" y="40721"/>
                </a:cubicBezTo>
                <a:cubicBezTo>
                  <a:pt x="73299" y="45216"/>
                  <a:pt x="69649" y="48866"/>
                  <a:pt x="65154" y="48866"/>
                </a:cubicBezTo>
                <a:cubicBezTo>
                  <a:pt x="60659" y="48866"/>
                  <a:pt x="57010" y="45216"/>
                  <a:pt x="57010" y="40721"/>
                </a:cubicBezTo>
                <a:close/>
                <a:moveTo>
                  <a:pt x="54974" y="57010"/>
                </a:moveTo>
                <a:lnTo>
                  <a:pt x="67190" y="57010"/>
                </a:lnTo>
                <a:cubicBezTo>
                  <a:pt x="70575" y="57010"/>
                  <a:pt x="73299" y="59733"/>
                  <a:pt x="73299" y="63118"/>
                </a:cubicBezTo>
                <a:lnTo>
                  <a:pt x="73299" y="85515"/>
                </a:lnTo>
                <a:lnTo>
                  <a:pt x="75335" y="85515"/>
                </a:lnTo>
                <a:cubicBezTo>
                  <a:pt x="78720" y="85515"/>
                  <a:pt x="81443" y="88238"/>
                  <a:pt x="81443" y="91623"/>
                </a:cubicBezTo>
                <a:cubicBezTo>
                  <a:pt x="81443" y="95008"/>
                  <a:pt x="78720" y="97731"/>
                  <a:pt x="75335" y="97731"/>
                </a:cubicBezTo>
                <a:lnTo>
                  <a:pt x="54974" y="97731"/>
                </a:lnTo>
                <a:cubicBezTo>
                  <a:pt x="51589" y="97731"/>
                  <a:pt x="48866" y="95008"/>
                  <a:pt x="48866" y="91623"/>
                </a:cubicBezTo>
                <a:cubicBezTo>
                  <a:pt x="48866" y="88238"/>
                  <a:pt x="51589" y="85515"/>
                  <a:pt x="54974" y="85515"/>
                </a:cubicBezTo>
                <a:lnTo>
                  <a:pt x="61082" y="85515"/>
                </a:lnTo>
                <a:lnTo>
                  <a:pt x="61082" y="69226"/>
                </a:lnTo>
                <a:lnTo>
                  <a:pt x="54974" y="69226"/>
                </a:lnTo>
                <a:cubicBezTo>
                  <a:pt x="51589" y="69226"/>
                  <a:pt x="48866" y="66503"/>
                  <a:pt x="48866" y="63118"/>
                </a:cubicBezTo>
                <a:cubicBezTo>
                  <a:pt x="48866" y="59733"/>
                  <a:pt x="51589" y="57010"/>
                  <a:pt x="54974" y="5701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7636637" y="5896465"/>
            <a:ext cx="4193248" cy="53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 Horizon Alignment:</a:t>
            </a:r>
            <a:r>
              <a:rPr b="0" i="0" lang="en-US" sz="1026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WEFE framework is explicitly promoted in HORIZON-CL5-2027-02-D3-10, which prioritizes integrated resource management and circular economy principles.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"/>
          <p:cNvSpPr/>
          <p:nvPr/>
        </p:nvSpPr>
        <p:spPr>
          <a:xfrm>
            <a:off x="317500" y="412750"/>
            <a:ext cx="47625" cy="317500"/>
          </a:xfrm>
          <a:custGeom>
            <a:rect b="b" l="l" r="r" t="t"/>
            <a:pathLst>
              <a:path extrusionOk="0" h="317500" w="47625">
                <a:moveTo>
                  <a:pt x="0" y="0"/>
                </a:moveTo>
                <a:lnTo>
                  <a:pt x="47625" y="0"/>
                </a:lnTo>
                <a:lnTo>
                  <a:pt x="47625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361" name="Google Shape;361;p11"/>
          <p:cNvSpPr/>
          <p:nvPr/>
        </p:nvSpPr>
        <p:spPr>
          <a:xfrm>
            <a:off x="460375" y="317500"/>
            <a:ext cx="47704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04 — DESIGN IMPLICATIONS</a:t>
            </a:r>
            <a:endParaRPr b="0" i="0" sz="1600" u="none" cap="none" strike="noStrike"/>
          </a:p>
        </p:txBody>
      </p:sp>
      <p:sp>
        <p:nvSpPr>
          <p:cNvPr id="362" name="Google Shape;362;p11"/>
          <p:cNvSpPr/>
          <p:nvPr/>
        </p:nvSpPr>
        <p:spPr>
          <a:xfrm>
            <a:off x="460375" y="508000"/>
            <a:ext cx="4849813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What Changes in the Design and Why</a:t>
            </a:r>
            <a:endParaRPr b="0" i="0" sz="1600" u="none" cap="none" strike="noStrike"/>
          </a:p>
        </p:txBody>
      </p:sp>
      <p:sp>
        <p:nvSpPr>
          <p:cNvPr id="363" name="Google Shape;363;p11"/>
          <p:cNvSpPr/>
          <p:nvPr/>
        </p:nvSpPr>
        <p:spPr>
          <a:xfrm>
            <a:off x="476250" y="889000"/>
            <a:ext cx="1146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Specific parameter shifts driven by Merti's unique context</a:t>
            </a:r>
            <a:endParaRPr b="0" i="0" sz="1600" u="none" cap="none" strike="noStrike"/>
          </a:p>
        </p:txBody>
      </p:sp>
      <p:sp>
        <p:nvSpPr>
          <p:cNvPr id="364" name="Google Shape;364;p11"/>
          <p:cNvSpPr/>
          <p:nvPr/>
        </p:nvSpPr>
        <p:spPr>
          <a:xfrm>
            <a:off x="320675" y="1209675"/>
            <a:ext cx="5705475" cy="3125787"/>
          </a:xfrm>
          <a:custGeom>
            <a:rect b="b" l="l" r="r" t="t"/>
            <a:pathLst>
              <a:path extrusionOk="0" h="3125787" w="5705475">
                <a:moveTo>
                  <a:pt x="63485" y="0"/>
                </a:moveTo>
                <a:lnTo>
                  <a:pt x="5641990" y="0"/>
                </a:lnTo>
                <a:cubicBezTo>
                  <a:pt x="5677052" y="0"/>
                  <a:pt x="5705475" y="28423"/>
                  <a:pt x="5705475" y="63485"/>
                </a:cubicBezTo>
                <a:lnTo>
                  <a:pt x="5705475" y="3062303"/>
                </a:lnTo>
                <a:cubicBezTo>
                  <a:pt x="5705475" y="3097364"/>
                  <a:pt x="5677052" y="3125787"/>
                  <a:pt x="5641990" y="3125787"/>
                </a:cubicBezTo>
                <a:lnTo>
                  <a:pt x="63485" y="3125787"/>
                </a:lnTo>
                <a:cubicBezTo>
                  <a:pt x="28423" y="3125787"/>
                  <a:pt x="0" y="3097364"/>
                  <a:pt x="0" y="3062303"/>
                </a:cubicBezTo>
                <a:lnTo>
                  <a:pt x="0" y="63485"/>
                </a:lnTo>
                <a:cubicBezTo>
                  <a:pt x="0" y="28447"/>
                  <a:pt x="28447" y="0"/>
                  <a:pt x="63485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450850" y="1339852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8A16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520303" y="1419227"/>
            <a:ext cx="178594" cy="158750"/>
          </a:xfrm>
          <a:custGeom>
            <a:rect b="b" l="l" r="r" t="t"/>
            <a:pathLst>
              <a:path extrusionOk="0" h="158750" w="178594">
                <a:moveTo>
                  <a:pt x="37765" y="9922"/>
                </a:moveTo>
                <a:cubicBezTo>
                  <a:pt x="28463" y="9922"/>
                  <a:pt x="20402" y="16371"/>
                  <a:pt x="18386" y="25456"/>
                </a:cubicBezTo>
                <a:lnTo>
                  <a:pt x="2977" y="94909"/>
                </a:lnTo>
                <a:cubicBezTo>
                  <a:pt x="217" y="107311"/>
                  <a:pt x="9643" y="119062"/>
                  <a:pt x="22324" y="119062"/>
                </a:cubicBezTo>
                <a:lnTo>
                  <a:pt x="79406" y="119062"/>
                </a:lnTo>
                <a:lnTo>
                  <a:pt x="79406" y="138906"/>
                </a:lnTo>
                <a:lnTo>
                  <a:pt x="59562" y="138906"/>
                </a:lnTo>
                <a:cubicBezTo>
                  <a:pt x="54074" y="138906"/>
                  <a:pt x="49640" y="143340"/>
                  <a:pt x="49640" y="148828"/>
                </a:cubicBezTo>
                <a:cubicBezTo>
                  <a:pt x="49640" y="154316"/>
                  <a:pt x="54074" y="158750"/>
                  <a:pt x="59562" y="158750"/>
                </a:cubicBezTo>
                <a:lnTo>
                  <a:pt x="119094" y="158750"/>
                </a:lnTo>
                <a:cubicBezTo>
                  <a:pt x="124582" y="158750"/>
                  <a:pt x="129015" y="154316"/>
                  <a:pt x="129015" y="148828"/>
                </a:cubicBezTo>
                <a:cubicBezTo>
                  <a:pt x="129015" y="143340"/>
                  <a:pt x="124582" y="138906"/>
                  <a:pt x="119094" y="138906"/>
                </a:cubicBezTo>
                <a:lnTo>
                  <a:pt x="99250" y="138906"/>
                </a:lnTo>
                <a:lnTo>
                  <a:pt x="99250" y="119062"/>
                </a:lnTo>
                <a:lnTo>
                  <a:pt x="156332" y="119062"/>
                </a:lnTo>
                <a:cubicBezTo>
                  <a:pt x="169013" y="119062"/>
                  <a:pt x="178470" y="107311"/>
                  <a:pt x="175710" y="94909"/>
                </a:cubicBezTo>
                <a:lnTo>
                  <a:pt x="160269" y="25456"/>
                </a:lnTo>
                <a:cubicBezTo>
                  <a:pt x="158254" y="16371"/>
                  <a:pt x="150223" y="9922"/>
                  <a:pt x="140922" y="9922"/>
                </a:cubicBezTo>
                <a:lnTo>
                  <a:pt x="37765" y="9922"/>
                </a:lnTo>
                <a:close/>
                <a:moveTo>
                  <a:pt x="76150" y="29766"/>
                </a:moveTo>
                <a:lnTo>
                  <a:pt x="102567" y="29766"/>
                </a:lnTo>
                <a:lnTo>
                  <a:pt x="104831" y="57051"/>
                </a:lnTo>
                <a:lnTo>
                  <a:pt x="73887" y="57051"/>
                </a:lnTo>
                <a:lnTo>
                  <a:pt x="76150" y="29766"/>
                </a:lnTo>
                <a:close/>
                <a:moveTo>
                  <a:pt x="58942" y="57051"/>
                </a:moveTo>
                <a:lnTo>
                  <a:pt x="31719" y="57051"/>
                </a:lnTo>
                <a:lnTo>
                  <a:pt x="37796" y="29766"/>
                </a:lnTo>
                <a:lnTo>
                  <a:pt x="61237" y="29766"/>
                </a:lnTo>
                <a:lnTo>
                  <a:pt x="58973" y="57051"/>
                </a:lnTo>
                <a:close/>
                <a:moveTo>
                  <a:pt x="28401" y="71934"/>
                </a:moveTo>
                <a:lnTo>
                  <a:pt x="57702" y="71934"/>
                </a:lnTo>
                <a:lnTo>
                  <a:pt x="55438" y="99219"/>
                </a:lnTo>
                <a:lnTo>
                  <a:pt x="22355" y="99219"/>
                </a:lnTo>
                <a:lnTo>
                  <a:pt x="28432" y="71934"/>
                </a:lnTo>
                <a:close/>
                <a:moveTo>
                  <a:pt x="72616" y="71934"/>
                </a:moveTo>
                <a:lnTo>
                  <a:pt x="106040" y="71934"/>
                </a:lnTo>
                <a:lnTo>
                  <a:pt x="108303" y="99219"/>
                </a:lnTo>
                <a:lnTo>
                  <a:pt x="70321" y="99219"/>
                </a:lnTo>
                <a:lnTo>
                  <a:pt x="72585" y="71934"/>
                </a:lnTo>
                <a:close/>
                <a:moveTo>
                  <a:pt x="120985" y="71934"/>
                </a:moveTo>
                <a:lnTo>
                  <a:pt x="150285" y="71934"/>
                </a:lnTo>
                <a:lnTo>
                  <a:pt x="156363" y="99219"/>
                </a:lnTo>
                <a:lnTo>
                  <a:pt x="123279" y="99219"/>
                </a:lnTo>
                <a:lnTo>
                  <a:pt x="121016" y="71934"/>
                </a:lnTo>
                <a:close/>
                <a:moveTo>
                  <a:pt x="146968" y="57051"/>
                </a:moveTo>
                <a:lnTo>
                  <a:pt x="119745" y="57051"/>
                </a:lnTo>
                <a:lnTo>
                  <a:pt x="117481" y="29766"/>
                </a:lnTo>
                <a:lnTo>
                  <a:pt x="140922" y="29766"/>
                </a:lnTo>
                <a:lnTo>
                  <a:pt x="146999" y="57051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863600" y="1387477"/>
            <a:ext cx="101600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PV Array Size</a:t>
            </a:r>
            <a:endParaRPr b="0" i="0" sz="1600" u="none" cap="none" strike="noStrike"/>
          </a:p>
        </p:txBody>
      </p:sp>
      <p:sp>
        <p:nvSpPr>
          <p:cNvPr id="368" name="Google Shape;368;p11"/>
          <p:cNvSpPr/>
          <p:nvPr/>
        </p:nvSpPr>
        <p:spPr>
          <a:xfrm>
            <a:off x="450850" y="1752602"/>
            <a:ext cx="5445125" cy="762000"/>
          </a:xfrm>
          <a:custGeom>
            <a:rect b="b" l="l" r="r" t="t"/>
            <a:pathLst>
              <a:path extrusionOk="0" h="762000" w="5445125">
                <a:moveTo>
                  <a:pt x="63497" y="0"/>
                </a:moveTo>
                <a:lnTo>
                  <a:pt x="5381628" y="0"/>
                </a:lnTo>
                <a:cubicBezTo>
                  <a:pt x="5416696" y="0"/>
                  <a:pt x="5445125" y="28429"/>
                  <a:pt x="5445125" y="63497"/>
                </a:cubicBezTo>
                <a:lnTo>
                  <a:pt x="5445125" y="698503"/>
                </a:lnTo>
                <a:cubicBezTo>
                  <a:pt x="5445125" y="733571"/>
                  <a:pt x="5416696" y="762000"/>
                  <a:pt x="5381628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577850" y="1873250"/>
            <a:ext cx="95250" cy="127000"/>
          </a:xfrm>
          <a:custGeom>
            <a:rect b="b" l="l" r="r" t="t"/>
            <a:pathLst>
              <a:path extrusionOk="0" h="127000" w="9525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744538" y="1847852"/>
            <a:ext cx="51196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GHI Benefit</a:t>
            </a:r>
            <a:endParaRPr b="0" i="0" sz="1600" u="none" cap="none" strike="noStrike"/>
          </a:p>
        </p:txBody>
      </p:sp>
      <p:sp>
        <p:nvSpPr>
          <p:cNvPr id="371" name="Google Shape;371;p11"/>
          <p:cNvSpPr/>
          <p:nvPr/>
        </p:nvSpPr>
        <p:spPr>
          <a:xfrm>
            <a:off x="546100" y="2070102"/>
            <a:ext cx="531812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Merti's </a:t>
            </a: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6.16 kWh/m²/day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vs Mweiga's 5.5 suggests </a:t>
            </a:r>
            <a:r>
              <a:rPr b="1" i="0" lang="en-US" sz="10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~10% smaller array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needed for same energy output</a:t>
            </a:r>
            <a:endParaRPr b="0" i="0" sz="1600" u="none" cap="none" strike="noStrike"/>
          </a:p>
        </p:txBody>
      </p:sp>
      <p:sp>
        <p:nvSpPr>
          <p:cNvPr id="372" name="Google Shape;372;p11"/>
          <p:cNvSpPr/>
          <p:nvPr/>
        </p:nvSpPr>
        <p:spPr>
          <a:xfrm>
            <a:off x="450850" y="2578102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577850" y="2698750"/>
            <a:ext cx="95250" cy="127000"/>
          </a:xfrm>
          <a:custGeom>
            <a:rect b="b" l="l" r="r" t="t"/>
            <a:pathLst>
              <a:path extrusionOk="0" h="127000" w="9525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744538" y="2673352"/>
            <a:ext cx="51196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Thermal Derating Impact</a:t>
            </a:r>
            <a:endParaRPr b="0" i="0" sz="1600" u="none" cap="none" strike="noStrike"/>
          </a:p>
        </p:txBody>
      </p:sp>
      <p:sp>
        <p:nvSpPr>
          <p:cNvPr id="375" name="Google Shape;375;p11"/>
          <p:cNvSpPr/>
          <p:nvPr/>
        </p:nvSpPr>
        <p:spPr>
          <a:xfrm>
            <a:off x="546100" y="2895602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35°C+ temperatures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cause </a:t>
            </a: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10-15% derating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partially cancels GHI advantage</a:t>
            </a:r>
            <a:endParaRPr b="0" i="0" sz="1600" u="none" cap="none" strike="noStrike"/>
          </a:p>
        </p:txBody>
      </p:sp>
      <p:sp>
        <p:nvSpPr>
          <p:cNvPr id="376" name="Google Shape;376;p11"/>
          <p:cNvSpPr/>
          <p:nvPr/>
        </p:nvSpPr>
        <p:spPr>
          <a:xfrm>
            <a:off x="450850" y="3228977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577850" y="3349625"/>
            <a:ext cx="95250" cy="127000"/>
          </a:xfrm>
          <a:custGeom>
            <a:rect b="b" l="l" r="r" t="t"/>
            <a:pathLst>
              <a:path extrusionOk="0" h="127000" w="9525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744538" y="3324227"/>
            <a:ext cx="51196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Dust Soiling Loss</a:t>
            </a:r>
            <a:endParaRPr b="0" i="0" sz="1600" u="none" cap="none" strike="noStrike"/>
          </a:p>
        </p:txBody>
      </p:sp>
      <p:sp>
        <p:nvSpPr>
          <p:cNvPr id="379" name="Google Shape;379;p11"/>
          <p:cNvSpPr/>
          <p:nvPr/>
        </p:nvSpPr>
        <p:spPr>
          <a:xfrm>
            <a:off x="546100" y="3546477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Jan-Mar dust events cause </a:t>
            </a: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5-10% soiling loss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(up to 60% on event days)</a:t>
            </a:r>
            <a:endParaRPr b="0" i="0" sz="1600" u="none" cap="none" strike="noStrike"/>
          </a:p>
        </p:txBody>
      </p:sp>
      <p:sp>
        <p:nvSpPr>
          <p:cNvPr id="380" name="Google Shape;380;p11"/>
          <p:cNvSpPr/>
          <p:nvPr/>
        </p:nvSpPr>
        <p:spPr>
          <a:xfrm>
            <a:off x="450850" y="3914777"/>
            <a:ext cx="5445125" cy="6350"/>
          </a:xfrm>
          <a:custGeom>
            <a:rect b="b" l="l" r="r" t="t"/>
            <a:pathLst>
              <a:path extrusionOk="0" h="6350" w="5445125">
                <a:moveTo>
                  <a:pt x="0" y="0"/>
                </a:moveTo>
                <a:lnTo>
                  <a:pt x="5445125" y="0"/>
                </a:lnTo>
                <a:lnTo>
                  <a:pt x="54451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50196"/>
            </a:srgbClr>
          </a:solidFill>
          <a:ln>
            <a:noFill/>
          </a:ln>
        </p:spPr>
      </p:sp>
      <p:sp>
        <p:nvSpPr>
          <p:cNvPr id="381" name="Google Shape;381;p11"/>
          <p:cNvSpPr/>
          <p:nvPr/>
        </p:nvSpPr>
        <p:spPr>
          <a:xfrm>
            <a:off x="450850" y="4013201"/>
            <a:ext cx="550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 Effect:</a:t>
            </a: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Uncertain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without confirmed load figure — gains and losses nearly cancel</a:t>
            </a:r>
            <a:endParaRPr b="0" i="0" sz="1600" u="none" cap="none" strike="noStrike"/>
          </a:p>
        </p:txBody>
      </p:sp>
      <p:sp>
        <p:nvSpPr>
          <p:cNvPr id="382" name="Google Shape;382;p11"/>
          <p:cNvSpPr/>
          <p:nvPr/>
        </p:nvSpPr>
        <p:spPr>
          <a:xfrm>
            <a:off x="320675" y="4467224"/>
            <a:ext cx="5705475" cy="2649538"/>
          </a:xfrm>
          <a:custGeom>
            <a:rect b="b" l="l" r="r" t="t"/>
            <a:pathLst>
              <a:path extrusionOk="0" h="2649538" w="5705475">
                <a:moveTo>
                  <a:pt x="63509" y="0"/>
                </a:moveTo>
                <a:lnTo>
                  <a:pt x="5641966" y="0"/>
                </a:lnTo>
                <a:cubicBezTo>
                  <a:pt x="5677041" y="0"/>
                  <a:pt x="5705475" y="28434"/>
                  <a:pt x="5705475" y="63509"/>
                </a:cubicBezTo>
                <a:lnTo>
                  <a:pt x="5705475" y="2586028"/>
                </a:lnTo>
                <a:cubicBezTo>
                  <a:pt x="5705475" y="2621103"/>
                  <a:pt x="5677041" y="2649538"/>
                  <a:pt x="5641966" y="2649538"/>
                </a:cubicBezTo>
                <a:lnTo>
                  <a:pt x="63509" y="2649538"/>
                </a:lnTo>
                <a:cubicBezTo>
                  <a:pt x="28434" y="2649538"/>
                  <a:pt x="0" y="2621103"/>
                  <a:pt x="0" y="2586028"/>
                </a:cubicBezTo>
                <a:lnTo>
                  <a:pt x="0" y="63509"/>
                </a:lnTo>
                <a:cubicBezTo>
                  <a:pt x="0" y="28458"/>
                  <a:pt x="28458" y="0"/>
                  <a:pt x="6350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450850" y="4597402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510381" y="4676777"/>
            <a:ext cx="198438" cy="158750"/>
          </a:xfrm>
          <a:custGeom>
            <a:rect b="b" l="l" r="r" t="t"/>
            <a:pathLst>
              <a:path extrusionOk="0" h="158750" w="198438">
                <a:moveTo>
                  <a:pt x="163711" y="39688"/>
                </a:moveTo>
                <a:cubicBezTo>
                  <a:pt x="166439" y="39688"/>
                  <a:pt x="168672" y="41920"/>
                  <a:pt x="168672" y="44648"/>
                </a:cubicBezTo>
                <a:lnTo>
                  <a:pt x="168672" y="114102"/>
                </a:lnTo>
                <a:cubicBezTo>
                  <a:pt x="168672" y="116830"/>
                  <a:pt x="166439" y="119062"/>
                  <a:pt x="163711" y="119062"/>
                </a:cubicBezTo>
                <a:lnTo>
                  <a:pt x="34727" y="119062"/>
                </a:lnTo>
                <a:cubicBezTo>
                  <a:pt x="31998" y="119062"/>
                  <a:pt x="29766" y="116830"/>
                  <a:pt x="29766" y="114102"/>
                </a:cubicBezTo>
                <a:lnTo>
                  <a:pt x="29766" y="44648"/>
                </a:lnTo>
                <a:cubicBezTo>
                  <a:pt x="29766" y="41920"/>
                  <a:pt x="31998" y="39688"/>
                  <a:pt x="34727" y="39688"/>
                </a:cubicBezTo>
                <a:lnTo>
                  <a:pt x="163711" y="39688"/>
                </a:lnTo>
                <a:close/>
                <a:moveTo>
                  <a:pt x="34727" y="19844"/>
                </a:moveTo>
                <a:cubicBezTo>
                  <a:pt x="21022" y="19844"/>
                  <a:pt x="9922" y="30944"/>
                  <a:pt x="9922" y="44648"/>
                </a:cubicBezTo>
                <a:lnTo>
                  <a:pt x="9922" y="114102"/>
                </a:lnTo>
                <a:cubicBezTo>
                  <a:pt x="9922" y="127806"/>
                  <a:pt x="21022" y="138906"/>
                  <a:pt x="34727" y="138906"/>
                </a:cubicBezTo>
                <a:lnTo>
                  <a:pt x="163711" y="138906"/>
                </a:lnTo>
                <a:cubicBezTo>
                  <a:pt x="177416" y="138906"/>
                  <a:pt x="188516" y="127806"/>
                  <a:pt x="188516" y="114102"/>
                </a:cubicBezTo>
                <a:lnTo>
                  <a:pt x="188516" y="99219"/>
                </a:lnTo>
                <a:cubicBezTo>
                  <a:pt x="194004" y="99219"/>
                  <a:pt x="198438" y="94785"/>
                  <a:pt x="198438" y="89297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lnTo>
                  <a:pt x="188516" y="44648"/>
                </a:lnTo>
                <a:cubicBezTo>
                  <a:pt x="188516" y="30944"/>
                  <a:pt x="177416" y="19844"/>
                  <a:pt x="163711" y="19844"/>
                </a:cubicBezTo>
                <a:lnTo>
                  <a:pt x="34727" y="19844"/>
                </a:lnTo>
                <a:close/>
                <a:moveTo>
                  <a:pt x="52090" y="54570"/>
                </a:moveTo>
                <a:cubicBezTo>
                  <a:pt x="47966" y="54570"/>
                  <a:pt x="44648" y="57888"/>
                  <a:pt x="44648" y="62012"/>
                </a:cubicBezTo>
                <a:lnTo>
                  <a:pt x="44648" y="96738"/>
                </a:lnTo>
                <a:cubicBezTo>
                  <a:pt x="44648" y="100862"/>
                  <a:pt x="47966" y="104180"/>
                  <a:pt x="52090" y="104180"/>
                </a:cubicBezTo>
                <a:lnTo>
                  <a:pt x="146348" y="104180"/>
                </a:lnTo>
                <a:cubicBezTo>
                  <a:pt x="150471" y="104180"/>
                  <a:pt x="153789" y="100862"/>
                  <a:pt x="153789" y="96738"/>
                </a:cubicBezTo>
                <a:lnTo>
                  <a:pt x="153789" y="62012"/>
                </a:lnTo>
                <a:cubicBezTo>
                  <a:pt x="153789" y="57888"/>
                  <a:pt x="150471" y="54570"/>
                  <a:pt x="146348" y="54570"/>
                </a:cubicBezTo>
                <a:lnTo>
                  <a:pt x="52090" y="54570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863600" y="4645027"/>
            <a:ext cx="104775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Battery Sizing</a:t>
            </a:r>
            <a:endParaRPr b="0" i="0" sz="1600" u="none" cap="none" strike="noStrike"/>
          </a:p>
        </p:txBody>
      </p:sp>
      <p:sp>
        <p:nvSpPr>
          <p:cNvPr id="386" name="Google Shape;386;p11"/>
          <p:cNvSpPr/>
          <p:nvPr/>
        </p:nvSpPr>
        <p:spPr>
          <a:xfrm>
            <a:off x="450850" y="5010152"/>
            <a:ext cx="5445125" cy="762000"/>
          </a:xfrm>
          <a:custGeom>
            <a:rect b="b" l="l" r="r" t="t"/>
            <a:pathLst>
              <a:path extrusionOk="0" h="762000" w="5445125">
                <a:moveTo>
                  <a:pt x="63497" y="0"/>
                </a:moveTo>
                <a:lnTo>
                  <a:pt x="5381628" y="0"/>
                </a:lnTo>
                <a:cubicBezTo>
                  <a:pt x="5416696" y="0"/>
                  <a:pt x="5445125" y="28429"/>
                  <a:pt x="5445125" y="63497"/>
                </a:cubicBezTo>
                <a:lnTo>
                  <a:pt x="5445125" y="698503"/>
                </a:lnTo>
                <a:cubicBezTo>
                  <a:pt x="5445125" y="733571"/>
                  <a:pt x="5416696" y="762000"/>
                  <a:pt x="5381628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546100" y="5105402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Cloudy-Day Risk Profile</a:t>
            </a:r>
            <a:endParaRPr b="0" i="0" sz="1600" u="none" cap="none" strike="noStrike"/>
          </a:p>
        </p:txBody>
      </p:sp>
      <p:sp>
        <p:nvSpPr>
          <p:cNvPr id="388" name="Google Shape;388;p11"/>
          <p:cNvSpPr/>
          <p:nvPr/>
        </p:nvSpPr>
        <p:spPr>
          <a:xfrm>
            <a:off x="546100" y="5327652"/>
            <a:ext cx="531812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Merti's </a:t>
            </a: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longer dry season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dust events mean different cloudy-day patterns vs highland Mweiga</a:t>
            </a:r>
            <a:endParaRPr b="0" i="0" sz="1600" u="none" cap="none" strike="noStrike"/>
          </a:p>
        </p:txBody>
      </p:sp>
      <p:sp>
        <p:nvSpPr>
          <p:cNvPr id="389" name="Google Shape;389;p11"/>
          <p:cNvSpPr/>
          <p:nvPr/>
        </p:nvSpPr>
        <p:spPr>
          <a:xfrm>
            <a:off x="450850" y="5835652"/>
            <a:ext cx="5445125" cy="762000"/>
          </a:xfrm>
          <a:custGeom>
            <a:rect b="b" l="l" r="r" t="t"/>
            <a:pathLst>
              <a:path extrusionOk="0" h="762000" w="5445125">
                <a:moveTo>
                  <a:pt x="63497" y="0"/>
                </a:moveTo>
                <a:lnTo>
                  <a:pt x="5381628" y="0"/>
                </a:lnTo>
                <a:cubicBezTo>
                  <a:pt x="5416696" y="0"/>
                  <a:pt x="5445125" y="28429"/>
                  <a:pt x="5445125" y="63497"/>
                </a:cubicBezTo>
                <a:lnTo>
                  <a:pt x="5445125" y="698503"/>
                </a:lnTo>
                <a:cubicBezTo>
                  <a:pt x="5445125" y="733571"/>
                  <a:pt x="5416696" y="762000"/>
                  <a:pt x="5381628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546100" y="5930902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Autonomy Requirements</a:t>
            </a:r>
            <a:endParaRPr b="0" i="0" sz="1600" u="none" cap="none" strike="noStrike"/>
          </a:p>
        </p:txBody>
      </p:sp>
      <p:sp>
        <p:nvSpPr>
          <p:cNvPr id="391" name="Google Shape;391;p11"/>
          <p:cNvSpPr/>
          <p:nvPr/>
        </p:nvSpPr>
        <p:spPr>
          <a:xfrm>
            <a:off x="546100" y="6153152"/>
            <a:ext cx="531812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Potentially </a:t>
            </a: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less battery autonomy needed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due to different weather patterns — but this is speculative without load data</a:t>
            </a:r>
            <a:endParaRPr b="0" i="0" sz="1600" u="none" cap="none" strike="noStrike"/>
          </a:p>
        </p:txBody>
      </p:sp>
      <p:sp>
        <p:nvSpPr>
          <p:cNvPr id="392" name="Google Shape;392;p11"/>
          <p:cNvSpPr/>
          <p:nvPr/>
        </p:nvSpPr>
        <p:spPr>
          <a:xfrm>
            <a:off x="450850" y="6696077"/>
            <a:ext cx="5445125" cy="6350"/>
          </a:xfrm>
          <a:custGeom>
            <a:rect b="b" l="l" r="r" t="t"/>
            <a:pathLst>
              <a:path extrusionOk="0" h="6350" w="5445125">
                <a:moveTo>
                  <a:pt x="0" y="0"/>
                </a:moveTo>
                <a:lnTo>
                  <a:pt x="5445125" y="0"/>
                </a:lnTo>
                <a:lnTo>
                  <a:pt x="54451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50196"/>
            </a:srgbClr>
          </a:solidFill>
          <a:ln>
            <a:noFill/>
          </a:ln>
        </p:spPr>
      </p:sp>
      <p:sp>
        <p:nvSpPr>
          <p:cNvPr id="393" name="Google Shape;393;p11"/>
          <p:cNvSpPr/>
          <p:nvPr/>
        </p:nvSpPr>
        <p:spPr>
          <a:xfrm>
            <a:off x="450850" y="6794500"/>
            <a:ext cx="550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Critical Dependency: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Load profile determines cycling patterns and storage requirements</a:t>
            </a:r>
            <a:endParaRPr b="0" i="0" sz="1600" u="none" cap="none" strike="noStrike"/>
          </a:p>
        </p:txBody>
      </p:sp>
      <p:sp>
        <p:nvSpPr>
          <p:cNvPr id="394" name="Google Shape;394;p11"/>
          <p:cNvSpPr/>
          <p:nvPr/>
        </p:nvSpPr>
        <p:spPr>
          <a:xfrm>
            <a:off x="6162675" y="1209675"/>
            <a:ext cx="5705475" cy="2887662"/>
          </a:xfrm>
          <a:custGeom>
            <a:rect b="b" l="l" r="r" t="t"/>
            <a:pathLst>
              <a:path extrusionOk="0" h="2887662" w="5705475">
                <a:moveTo>
                  <a:pt x="63500" y="0"/>
                </a:moveTo>
                <a:lnTo>
                  <a:pt x="5641975" y="0"/>
                </a:lnTo>
                <a:cubicBezTo>
                  <a:pt x="5677045" y="0"/>
                  <a:pt x="5705475" y="28430"/>
                  <a:pt x="5705475" y="63500"/>
                </a:cubicBezTo>
                <a:lnTo>
                  <a:pt x="5705475" y="2824163"/>
                </a:lnTo>
                <a:cubicBezTo>
                  <a:pt x="5705475" y="2859233"/>
                  <a:pt x="5677045" y="2887662"/>
                  <a:pt x="5641975" y="2887663"/>
                </a:cubicBezTo>
                <a:lnTo>
                  <a:pt x="63500" y="2887662"/>
                </a:lnTo>
                <a:cubicBezTo>
                  <a:pt x="28430" y="2887663"/>
                  <a:pt x="0" y="2859233"/>
                  <a:pt x="0" y="2824163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6292850" y="1339852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8A169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6382147" y="1419227"/>
            <a:ext cx="138906" cy="158750"/>
          </a:xfrm>
          <a:custGeom>
            <a:rect b="b" l="l" r="r" t="t"/>
            <a:pathLst>
              <a:path extrusionOk="0" h="158750" w="138906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6705600" y="1387477"/>
            <a:ext cx="12858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H₂ Storage Sizing</a:t>
            </a:r>
            <a:endParaRPr b="0" i="0" sz="1600" u="none" cap="none" strike="noStrike"/>
          </a:p>
        </p:txBody>
      </p:sp>
      <p:sp>
        <p:nvSpPr>
          <p:cNvPr id="398" name="Google Shape;398;p11"/>
          <p:cNvSpPr/>
          <p:nvPr/>
        </p:nvSpPr>
        <p:spPr>
          <a:xfrm>
            <a:off x="6296025" y="1755777"/>
            <a:ext cx="5443538" cy="768350"/>
          </a:xfrm>
          <a:custGeom>
            <a:rect b="b" l="l" r="r" t="t"/>
            <a:pathLst>
              <a:path extrusionOk="0" h="768350" w="5443538">
                <a:moveTo>
                  <a:pt x="63496" y="0"/>
                </a:moveTo>
                <a:lnTo>
                  <a:pt x="5380041" y="0"/>
                </a:lnTo>
                <a:cubicBezTo>
                  <a:pt x="5415109" y="0"/>
                  <a:pt x="5443538" y="28428"/>
                  <a:pt x="5443538" y="63496"/>
                </a:cubicBezTo>
                <a:lnTo>
                  <a:pt x="5443538" y="704854"/>
                </a:lnTo>
                <a:cubicBezTo>
                  <a:pt x="5443538" y="739922"/>
                  <a:pt x="5415109" y="768350"/>
                  <a:pt x="5380041" y="768350"/>
                </a:cubicBezTo>
                <a:lnTo>
                  <a:pt x="63496" y="768350"/>
                </a:lnTo>
                <a:cubicBezTo>
                  <a:pt x="28428" y="768350"/>
                  <a:pt x="0" y="739922"/>
                  <a:pt x="0" y="704854"/>
                </a:cubicBezTo>
                <a:lnTo>
                  <a:pt x="0" y="63496"/>
                </a:lnTo>
                <a:cubicBezTo>
                  <a:pt x="0" y="28428"/>
                  <a:pt x="28428" y="0"/>
                  <a:pt x="63496" y="0"/>
                </a:cubicBezTo>
                <a:close/>
              </a:path>
            </a:pathLst>
          </a:custGeom>
          <a:gradFill>
            <a:gsLst>
              <a:gs pos="0">
                <a:srgbClr val="D69E2E">
                  <a:alpha val="20000"/>
                </a:srgbClr>
              </a:gs>
              <a:gs pos="100000">
                <a:srgbClr val="D69E2E">
                  <a:alpha val="10196"/>
                </a:srgbClr>
              </a:gs>
            </a:gsLst>
            <a:lin ang="0" scaled="0"/>
          </a:gradFill>
          <a:ln cap="flat" cmpd="sng" w="10150">
            <a:solidFill>
              <a:srgbClr val="D69E2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6410325" y="1879602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33734"/>
                </a:moveTo>
                <a:cubicBezTo>
                  <a:pt x="66799" y="33734"/>
                  <a:pt x="69453" y="36388"/>
                  <a:pt x="69453" y="39688"/>
                </a:cubicBezTo>
                <a:lnTo>
                  <a:pt x="69453" y="67469"/>
                </a:lnTo>
                <a:cubicBezTo>
                  <a:pt x="69453" y="70768"/>
                  <a:pt x="66799" y="73422"/>
                  <a:pt x="63500" y="73422"/>
                </a:cubicBezTo>
                <a:cubicBezTo>
                  <a:pt x="60201" y="73422"/>
                  <a:pt x="57547" y="70768"/>
                  <a:pt x="57547" y="67469"/>
                </a:cubicBezTo>
                <a:lnTo>
                  <a:pt x="57547" y="39688"/>
                </a:lnTo>
                <a:cubicBezTo>
                  <a:pt x="57547" y="36388"/>
                  <a:pt x="60201" y="33734"/>
                  <a:pt x="63500" y="33734"/>
                </a:cubicBezTo>
                <a:close/>
                <a:moveTo>
                  <a:pt x="56877" y="87313"/>
                </a:moveTo>
                <a:cubicBezTo>
                  <a:pt x="56726" y="84854"/>
                  <a:pt x="57952" y="82515"/>
                  <a:pt x="60060" y="81241"/>
                </a:cubicBezTo>
                <a:cubicBezTo>
                  <a:pt x="62167" y="79966"/>
                  <a:pt x="64808" y="79966"/>
                  <a:pt x="66915" y="81241"/>
                </a:cubicBezTo>
                <a:cubicBezTo>
                  <a:pt x="69023" y="82515"/>
                  <a:pt x="70249" y="84854"/>
                  <a:pt x="70098" y="87313"/>
                </a:cubicBezTo>
                <a:cubicBezTo>
                  <a:pt x="70249" y="89771"/>
                  <a:pt x="69023" y="92110"/>
                  <a:pt x="66915" y="93384"/>
                </a:cubicBezTo>
                <a:cubicBezTo>
                  <a:pt x="64808" y="94659"/>
                  <a:pt x="62167" y="94659"/>
                  <a:pt x="60060" y="93384"/>
                </a:cubicBezTo>
                <a:cubicBezTo>
                  <a:pt x="57952" y="92110"/>
                  <a:pt x="56726" y="89771"/>
                  <a:pt x="56877" y="87313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6592888" y="1854201"/>
            <a:ext cx="511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Critical Design Driver: Dust Season</a:t>
            </a:r>
            <a:endParaRPr b="0" i="0" sz="1600" u="none" cap="none" strike="noStrike"/>
          </a:p>
        </p:txBody>
      </p:sp>
      <p:sp>
        <p:nvSpPr>
          <p:cNvPr id="401" name="Google Shape;401;p11"/>
          <p:cNvSpPr/>
          <p:nvPr/>
        </p:nvSpPr>
        <p:spPr>
          <a:xfrm>
            <a:off x="6394450" y="2076451"/>
            <a:ext cx="5310188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January-March dust season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when solar generation drops most severely. H₂ storage must cover this period.</a:t>
            </a:r>
            <a:endParaRPr b="0" i="0" sz="1600" u="none" cap="none" strike="noStrike"/>
          </a:p>
        </p:txBody>
      </p:sp>
      <p:sp>
        <p:nvSpPr>
          <p:cNvPr id="402" name="Google Shape;402;p11"/>
          <p:cNvSpPr/>
          <p:nvPr/>
        </p:nvSpPr>
        <p:spPr>
          <a:xfrm>
            <a:off x="6292850" y="2590799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6388100" y="2686049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Mweiga Reference: 7-Day Backup</a:t>
            </a:r>
            <a:endParaRPr b="0" i="0" sz="1600" u="none" cap="none" strike="noStrike"/>
          </a:p>
        </p:txBody>
      </p:sp>
      <p:sp>
        <p:nvSpPr>
          <p:cNvPr id="404" name="Google Shape;404;p11"/>
          <p:cNvSpPr/>
          <p:nvPr/>
        </p:nvSpPr>
        <p:spPr>
          <a:xfrm>
            <a:off x="6388100" y="2908299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Mweiga design used </a:t>
            </a: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300kg H₂ storage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~7 days backup during cloudy periods</a:t>
            </a:r>
            <a:endParaRPr b="0" i="0" sz="1600" u="none" cap="none" strike="noStrike"/>
          </a:p>
        </p:txBody>
      </p:sp>
      <p:sp>
        <p:nvSpPr>
          <p:cNvPr id="405" name="Google Shape;405;p11"/>
          <p:cNvSpPr/>
          <p:nvPr/>
        </p:nvSpPr>
        <p:spPr>
          <a:xfrm>
            <a:off x="6292850" y="3241674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6388100" y="3336924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Merti Implication: Extended Backup</a:t>
            </a:r>
            <a:endParaRPr b="0" i="0" sz="1600" u="none" cap="none" strike="noStrike"/>
          </a:p>
        </p:txBody>
      </p:sp>
      <p:sp>
        <p:nvSpPr>
          <p:cNvPr id="407" name="Google Shape;407;p11"/>
          <p:cNvSpPr/>
          <p:nvPr/>
        </p:nvSpPr>
        <p:spPr>
          <a:xfrm>
            <a:off x="6388100" y="3559174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7-day backup may need </a:t>
            </a: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extending for Merti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cover prolonged dust season deficits</a:t>
            </a:r>
            <a:endParaRPr b="0" i="0" sz="1600" u="none" cap="none" strike="noStrike"/>
          </a:p>
        </p:txBody>
      </p:sp>
      <p:sp>
        <p:nvSpPr>
          <p:cNvPr id="408" name="Google Shape;408;p11"/>
          <p:cNvSpPr/>
          <p:nvPr/>
        </p:nvSpPr>
        <p:spPr>
          <a:xfrm>
            <a:off x="6162675" y="4229100"/>
            <a:ext cx="5705475" cy="2367883"/>
          </a:xfrm>
          <a:custGeom>
            <a:rect b="b" l="l" r="r" t="t"/>
            <a:pathLst>
              <a:path extrusionOk="0" h="2887662" w="5705475">
                <a:moveTo>
                  <a:pt x="63500" y="0"/>
                </a:moveTo>
                <a:lnTo>
                  <a:pt x="5641975" y="0"/>
                </a:lnTo>
                <a:cubicBezTo>
                  <a:pt x="5677045" y="0"/>
                  <a:pt x="5705475" y="28430"/>
                  <a:pt x="5705475" y="63500"/>
                </a:cubicBezTo>
                <a:lnTo>
                  <a:pt x="5705475" y="2824163"/>
                </a:lnTo>
                <a:cubicBezTo>
                  <a:pt x="5705475" y="2859233"/>
                  <a:pt x="5677045" y="2887662"/>
                  <a:pt x="5641975" y="2887663"/>
                </a:cubicBezTo>
                <a:lnTo>
                  <a:pt x="63500" y="2887662"/>
                </a:lnTo>
                <a:cubicBezTo>
                  <a:pt x="28430" y="2887663"/>
                  <a:pt x="0" y="2859233"/>
                  <a:pt x="0" y="2824163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6292850" y="4359277"/>
            <a:ext cx="317500" cy="317500"/>
          </a:xfrm>
          <a:custGeom>
            <a:rect b="b" l="l" r="r" t="t"/>
            <a:pathLst>
              <a:path extrusionOk="0" h="317500" w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6392069" y="4438652"/>
            <a:ext cx="119063" cy="158750"/>
          </a:xfrm>
          <a:custGeom>
            <a:rect b="b" l="l" r="r" t="t"/>
            <a:pathLst>
              <a:path extrusionOk="0" h="158750" w="119063">
                <a:moveTo>
                  <a:pt x="59531" y="158750"/>
                </a:moveTo>
                <a:cubicBezTo>
                  <a:pt x="26665" y="158750"/>
                  <a:pt x="0" y="132085"/>
                  <a:pt x="0" y="99219"/>
                </a:cubicBezTo>
                <a:cubicBezTo>
                  <a:pt x="0" y="70941"/>
                  <a:pt x="40370" y="14232"/>
                  <a:pt x="51656" y="-1085"/>
                </a:cubicBezTo>
                <a:cubicBezTo>
                  <a:pt x="53485" y="-3566"/>
                  <a:pt x="56369" y="-4961"/>
                  <a:pt x="59469" y="-4961"/>
                </a:cubicBezTo>
                <a:lnTo>
                  <a:pt x="59593" y="-4961"/>
                </a:lnTo>
                <a:cubicBezTo>
                  <a:pt x="62694" y="-4961"/>
                  <a:pt x="65577" y="-3566"/>
                  <a:pt x="67407" y="-1085"/>
                </a:cubicBezTo>
                <a:cubicBezTo>
                  <a:pt x="78693" y="14232"/>
                  <a:pt x="119062" y="70941"/>
                  <a:pt x="119062" y="99219"/>
                </a:cubicBezTo>
                <a:cubicBezTo>
                  <a:pt x="119062" y="132085"/>
                  <a:pt x="92397" y="158750"/>
                  <a:pt x="59531" y="158750"/>
                </a:cubicBezTo>
                <a:close/>
                <a:moveTo>
                  <a:pt x="34727" y="96738"/>
                </a:moveTo>
                <a:cubicBezTo>
                  <a:pt x="34727" y="92615"/>
                  <a:pt x="31409" y="89297"/>
                  <a:pt x="27285" y="89297"/>
                </a:cubicBezTo>
                <a:cubicBezTo>
                  <a:pt x="23161" y="89297"/>
                  <a:pt x="19844" y="92615"/>
                  <a:pt x="19844" y="96738"/>
                </a:cubicBezTo>
                <a:cubicBezTo>
                  <a:pt x="19844" y="120024"/>
                  <a:pt x="38726" y="138906"/>
                  <a:pt x="62012" y="138906"/>
                </a:cubicBezTo>
                <a:cubicBezTo>
                  <a:pt x="66135" y="138906"/>
                  <a:pt x="69453" y="135589"/>
                  <a:pt x="69453" y="131465"/>
                </a:cubicBezTo>
                <a:cubicBezTo>
                  <a:pt x="69453" y="127341"/>
                  <a:pt x="66135" y="124023"/>
                  <a:pt x="62012" y="124023"/>
                </a:cubicBezTo>
                <a:cubicBezTo>
                  <a:pt x="46943" y="124023"/>
                  <a:pt x="34727" y="111807"/>
                  <a:pt x="34727" y="96738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6705600" y="4406902"/>
            <a:ext cx="13890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AWG Performance</a:t>
            </a:r>
            <a:endParaRPr b="0" i="0" sz="1600" u="none" cap="none" strike="noStrike"/>
          </a:p>
        </p:txBody>
      </p:sp>
      <p:sp>
        <p:nvSpPr>
          <p:cNvPr id="412" name="Google Shape;412;p11"/>
          <p:cNvSpPr/>
          <p:nvPr/>
        </p:nvSpPr>
        <p:spPr>
          <a:xfrm>
            <a:off x="6292850" y="4772027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6388100" y="4867277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Relative Humidity Comparison</a:t>
            </a:r>
            <a:endParaRPr b="0" i="0" sz="1600" u="none" cap="none" strike="noStrike"/>
          </a:p>
        </p:txBody>
      </p:sp>
      <p:sp>
        <p:nvSpPr>
          <p:cNvPr id="414" name="Google Shape;414;p11"/>
          <p:cNvSpPr/>
          <p:nvPr/>
        </p:nvSpPr>
        <p:spPr>
          <a:xfrm>
            <a:off x="6388100" y="5089527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Merti's </a:t>
            </a: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57% mean RH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borderline for AWG efficiency vs wetter highland Mweiga</a:t>
            </a:r>
            <a:endParaRPr b="0" i="0" sz="1600" u="none" cap="none" strike="noStrike"/>
          </a:p>
        </p:txBody>
      </p:sp>
      <p:sp>
        <p:nvSpPr>
          <p:cNvPr id="415" name="Google Shape;415;p11"/>
          <p:cNvSpPr/>
          <p:nvPr/>
        </p:nvSpPr>
        <p:spPr>
          <a:xfrm>
            <a:off x="6292850" y="5422902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6388100" y="5518152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Critical Unknown: Seasonal Variation</a:t>
            </a:r>
            <a:endParaRPr b="0" i="0" sz="1600" u="none" cap="none" strike="noStrike"/>
          </a:p>
        </p:txBody>
      </p:sp>
      <p:sp>
        <p:nvSpPr>
          <p:cNvPr id="417" name="Google Shape;417;p11"/>
          <p:cNvSpPr/>
          <p:nvPr/>
        </p:nvSpPr>
        <p:spPr>
          <a:xfrm>
            <a:off x="6388100" y="5740402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Seasonal RH variation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which we don't yet have — is critical for accurate AWG sizing</a:t>
            </a:r>
            <a:endParaRPr b="0" i="0" sz="1600" u="none" cap="none" strike="noStrike"/>
          </a:p>
        </p:txBody>
      </p:sp>
      <p:sp>
        <p:nvSpPr>
          <p:cNvPr id="418" name="Google Shape;418;p11"/>
          <p:cNvSpPr/>
          <p:nvPr/>
        </p:nvSpPr>
        <p:spPr>
          <a:xfrm>
            <a:off x="6292850" y="6108702"/>
            <a:ext cx="5445125" cy="6350"/>
          </a:xfrm>
          <a:custGeom>
            <a:rect b="b" l="l" r="r" t="t"/>
            <a:pathLst>
              <a:path extrusionOk="0" h="6350" w="5445125">
                <a:moveTo>
                  <a:pt x="0" y="0"/>
                </a:moveTo>
                <a:lnTo>
                  <a:pt x="5445125" y="0"/>
                </a:lnTo>
                <a:lnTo>
                  <a:pt x="54451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50196"/>
            </a:srgbClr>
          </a:solidFill>
          <a:ln>
            <a:noFill/>
          </a:ln>
        </p:spPr>
      </p:sp>
      <p:sp>
        <p:nvSpPr>
          <p:cNvPr id="419" name="Google Shape;419;p11"/>
          <p:cNvSpPr/>
          <p:nvPr/>
        </p:nvSpPr>
        <p:spPr>
          <a:xfrm>
            <a:off x="6292850" y="6207125"/>
            <a:ext cx="5508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Questionnaire Priority: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Section G asks about seasonal humidity patterns</a:t>
            </a:r>
            <a:endParaRPr b="0" i="0" sz="1600" u="none" cap="none" strike="noStrike"/>
          </a:p>
        </p:txBody>
      </p:sp>
      <p:sp>
        <p:nvSpPr>
          <p:cNvPr id="420" name="Google Shape;420;p11"/>
          <p:cNvSpPr/>
          <p:nvPr/>
        </p:nvSpPr>
        <p:spPr>
          <a:xfrm>
            <a:off x="333375" y="7213602"/>
            <a:ext cx="11541125" cy="539750"/>
          </a:xfrm>
          <a:custGeom>
            <a:rect b="b" l="l" r="r" t="t"/>
            <a:pathLst>
              <a:path extrusionOk="0" h="539750" w="11541125">
                <a:moveTo>
                  <a:pt x="31750" y="0"/>
                </a:moveTo>
                <a:lnTo>
                  <a:pt x="11477623" y="0"/>
                </a:lnTo>
                <a:cubicBezTo>
                  <a:pt x="11512694" y="0"/>
                  <a:pt x="11541125" y="28431"/>
                  <a:pt x="11541125" y="63502"/>
                </a:cubicBezTo>
                <a:lnTo>
                  <a:pt x="11541125" y="476248"/>
                </a:lnTo>
                <a:cubicBezTo>
                  <a:pt x="11541125" y="511319"/>
                  <a:pt x="11512694" y="539750"/>
                  <a:pt x="11477623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333375" y="7213602"/>
            <a:ext cx="31750" cy="539750"/>
          </a:xfrm>
          <a:custGeom>
            <a:rect b="b" l="l" r="r" t="t"/>
            <a:pathLst>
              <a:path extrusionOk="0" h="539750" w="31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476250" y="7321549"/>
            <a:ext cx="95250" cy="127000"/>
          </a:xfrm>
          <a:custGeom>
            <a:rect b="b" l="l" r="r" t="t"/>
            <a:pathLst>
              <a:path extrusionOk="0" h="127000" w="9525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642938" y="7308852"/>
            <a:ext cx="11199813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Insight: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Mweiga gave us a design methodology and reference architecture. Merti will give us a real-world proof of how that methodology adapts to an ASAL context. But it only works if the ground data is as thorough as it was in Mweiga.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2"/>
          <p:cNvSpPr/>
          <p:nvPr/>
        </p:nvSpPr>
        <p:spPr>
          <a:xfrm>
            <a:off x="339138" y="440879"/>
            <a:ext cx="50871" cy="339138"/>
          </a:xfrm>
          <a:custGeom>
            <a:rect b="b" l="l" r="r" t="t"/>
            <a:pathLst>
              <a:path extrusionOk="0" h="339138" w="50871">
                <a:moveTo>
                  <a:pt x="0" y="0"/>
                </a:moveTo>
                <a:lnTo>
                  <a:pt x="50871" y="0"/>
                </a:lnTo>
                <a:lnTo>
                  <a:pt x="50871" y="339138"/>
                </a:lnTo>
                <a:lnTo>
                  <a:pt x="0" y="339138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430" name="Google Shape;430;p12"/>
          <p:cNvSpPr/>
          <p:nvPr/>
        </p:nvSpPr>
        <p:spPr>
          <a:xfrm>
            <a:off x="491750" y="339138"/>
            <a:ext cx="4892061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05</a:t>
            </a:r>
            <a:endParaRPr b="0" i="0" sz="1600" u="none" cap="none" strike="noStrike"/>
          </a:p>
        </p:txBody>
      </p:sp>
      <p:sp>
        <p:nvSpPr>
          <p:cNvPr id="431" name="Google Shape;431;p12"/>
          <p:cNvSpPr/>
          <p:nvPr/>
        </p:nvSpPr>
        <p:spPr>
          <a:xfrm>
            <a:off x="491750" y="542620"/>
            <a:ext cx="4976846" cy="33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3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What We Already Know About Merti</a:t>
            </a:r>
            <a:endParaRPr b="0" i="0" sz="1600" u="none" cap="none" strike="noStrike"/>
          </a:p>
        </p:txBody>
      </p:sp>
      <p:sp>
        <p:nvSpPr>
          <p:cNvPr id="432" name="Google Shape;432;p12"/>
          <p:cNvSpPr/>
          <p:nvPr/>
        </p:nvSpPr>
        <p:spPr>
          <a:xfrm>
            <a:off x="508707" y="949586"/>
            <a:ext cx="11411983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Confirmed data points that inform the SHEPA design</a:t>
            </a:r>
            <a:endParaRPr b="0" i="0" sz="1600" u="none" cap="none" strike="noStrike"/>
          </a:p>
        </p:txBody>
      </p:sp>
      <p:sp>
        <p:nvSpPr>
          <p:cNvPr id="433" name="Google Shape;433;p12"/>
          <p:cNvSpPr/>
          <p:nvPr/>
        </p:nvSpPr>
        <p:spPr>
          <a:xfrm>
            <a:off x="342529" y="1292115"/>
            <a:ext cx="3737297" cy="2711406"/>
          </a:xfrm>
          <a:custGeom>
            <a:rect b="b" l="l" r="r" t="t"/>
            <a:pathLst>
              <a:path extrusionOk="0" h="2711406" w="3737297">
                <a:moveTo>
                  <a:pt x="67839" y="0"/>
                </a:moveTo>
                <a:lnTo>
                  <a:pt x="3669458" y="0"/>
                </a:lnTo>
                <a:cubicBezTo>
                  <a:pt x="3706925" y="0"/>
                  <a:pt x="3737297" y="30373"/>
                  <a:pt x="3737297" y="67839"/>
                </a:cubicBezTo>
                <a:lnTo>
                  <a:pt x="3737297" y="2643566"/>
                </a:lnTo>
                <a:cubicBezTo>
                  <a:pt x="3737297" y="2681033"/>
                  <a:pt x="3706925" y="2711406"/>
                  <a:pt x="3669458" y="2711406"/>
                </a:cubicBezTo>
                <a:lnTo>
                  <a:pt x="67839" y="2711406"/>
                </a:lnTo>
                <a:cubicBezTo>
                  <a:pt x="30373" y="2711406"/>
                  <a:pt x="0" y="2681033"/>
                  <a:pt x="0" y="2643566"/>
                </a:cubicBezTo>
                <a:lnTo>
                  <a:pt x="0" y="67839"/>
                </a:lnTo>
                <a:cubicBezTo>
                  <a:pt x="0" y="30373"/>
                  <a:pt x="30373" y="0"/>
                  <a:pt x="67839" y="0"/>
                </a:cubicBezTo>
                <a:close/>
              </a:path>
            </a:pathLst>
          </a:custGeom>
          <a:gradFill>
            <a:gsLst>
              <a:gs pos="0">
                <a:srgbClr val="38A169">
                  <a:alpha val="20000"/>
                </a:srgbClr>
              </a:gs>
              <a:gs pos="100000">
                <a:srgbClr val="38A169">
                  <a:alpha val="5098"/>
                </a:srgbClr>
              </a:gs>
            </a:gsLst>
            <a:lin ang="2700000" scaled="0"/>
          </a:gradFill>
          <a:ln cap="flat" cmpd="sng" w="10150">
            <a:solidFill>
              <a:srgbClr val="38A1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494293" y="1448120"/>
            <a:ext cx="228918" cy="203483"/>
          </a:xfrm>
          <a:custGeom>
            <a:rect b="b" l="l" r="r" t="t"/>
            <a:pathLst>
              <a:path extrusionOk="0" h="203483" w="228918">
                <a:moveTo>
                  <a:pt x="70821" y="-4014"/>
                </a:moveTo>
                <a:cubicBezTo>
                  <a:pt x="73762" y="-5246"/>
                  <a:pt x="77101" y="-4888"/>
                  <a:pt x="79764" y="-3140"/>
                </a:cubicBezTo>
                <a:lnTo>
                  <a:pt x="114658" y="19991"/>
                </a:lnTo>
                <a:lnTo>
                  <a:pt x="149552" y="-3140"/>
                </a:lnTo>
                <a:cubicBezTo>
                  <a:pt x="152215" y="-4888"/>
                  <a:pt x="155553" y="-5206"/>
                  <a:pt x="158494" y="-4014"/>
                </a:cubicBezTo>
                <a:cubicBezTo>
                  <a:pt x="161435" y="-2822"/>
                  <a:pt x="163501" y="-199"/>
                  <a:pt x="164137" y="2901"/>
                </a:cubicBezTo>
                <a:lnTo>
                  <a:pt x="172444" y="43916"/>
                </a:lnTo>
                <a:lnTo>
                  <a:pt x="213458" y="52222"/>
                </a:lnTo>
                <a:cubicBezTo>
                  <a:pt x="216558" y="52858"/>
                  <a:pt x="219181" y="55004"/>
                  <a:pt x="220373" y="57905"/>
                </a:cubicBezTo>
                <a:cubicBezTo>
                  <a:pt x="221566" y="60806"/>
                  <a:pt x="221248" y="64184"/>
                  <a:pt x="219499" y="66847"/>
                </a:cubicBezTo>
                <a:lnTo>
                  <a:pt x="196369" y="101741"/>
                </a:lnTo>
                <a:lnTo>
                  <a:pt x="219499" y="136635"/>
                </a:lnTo>
                <a:cubicBezTo>
                  <a:pt x="221248" y="139298"/>
                  <a:pt x="221566" y="142637"/>
                  <a:pt x="220373" y="145578"/>
                </a:cubicBezTo>
                <a:cubicBezTo>
                  <a:pt x="219181" y="148518"/>
                  <a:pt x="216558" y="150665"/>
                  <a:pt x="213458" y="151261"/>
                </a:cubicBezTo>
                <a:lnTo>
                  <a:pt x="172404" y="159527"/>
                </a:lnTo>
                <a:lnTo>
                  <a:pt x="164137" y="200581"/>
                </a:lnTo>
                <a:cubicBezTo>
                  <a:pt x="163501" y="203681"/>
                  <a:pt x="161355" y="206304"/>
                  <a:pt x="158454" y="207497"/>
                </a:cubicBezTo>
                <a:cubicBezTo>
                  <a:pt x="155553" y="208689"/>
                  <a:pt x="152175" y="208371"/>
                  <a:pt x="149512" y="206622"/>
                </a:cubicBezTo>
                <a:lnTo>
                  <a:pt x="114618" y="183492"/>
                </a:lnTo>
                <a:lnTo>
                  <a:pt x="79724" y="206622"/>
                </a:lnTo>
                <a:cubicBezTo>
                  <a:pt x="77061" y="208371"/>
                  <a:pt x="73723" y="208689"/>
                  <a:pt x="70782" y="207497"/>
                </a:cubicBezTo>
                <a:cubicBezTo>
                  <a:pt x="67841" y="206304"/>
                  <a:pt x="65695" y="203681"/>
                  <a:pt x="65099" y="200581"/>
                </a:cubicBezTo>
                <a:lnTo>
                  <a:pt x="56832" y="159527"/>
                </a:lnTo>
                <a:lnTo>
                  <a:pt x="15778" y="151221"/>
                </a:lnTo>
                <a:cubicBezTo>
                  <a:pt x="12678" y="150585"/>
                  <a:pt x="10055" y="148439"/>
                  <a:pt x="8863" y="145538"/>
                </a:cubicBezTo>
                <a:cubicBezTo>
                  <a:pt x="7670" y="142637"/>
                  <a:pt x="7988" y="139258"/>
                  <a:pt x="9737" y="136596"/>
                </a:cubicBezTo>
                <a:lnTo>
                  <a:pt x="32867" y="101741"/>
                </a:lnTo>
                <a:lnTo>
                  <a:pt x="9737" y="66847"/>
                </a:lnTo>
                <a:cubicBezTo>
                  <a:pt x="7988" y="64184"/>
                  <a:pt x="7670" y="60846"/>
                  <a:pt x="8863" y="57905"/>
                </a:cubicBezTo>
                <a:cubicBezTo>
                  <a:pt x="10055" y="54964"/>
                  <a:pt x="12678" y="52818"/>
                  <a:pt x="15778" y="52222"/>
                </a:cubicBezTo>
                <a:lnTo>
                  <a:pt x="56832" y="43955"/>
                </a:lnTo>
                <a:lnTo>
                  <a:pt x="65138" y="2901"/>
                </a:lnTo>
                <a:cubicBezTo>
                  <a:pt x="65774" y="-199"/>
                  <a:pt x="67920" y="-2822"/>
                  <a:pt x="70821" y="-4014"/>
                </a:cubicBezTo>
                <a:close/>
                <a:moveTo>
                  <a:pt x="82506" y="101741"/>
                </a:moveTo>
                <a:cubicBezTo>
                  <a:pt x="82506" y="90326"/>
                  <a:pt x="88596" y="79777"/>
                  <a:pt x="98482" y="74069"/>
                </a:cubicBezTo>
                <a:cubicBezTo>
                  <a:pt x="108369" y="68361"/>
                  <a:pt x="120549" y="68361"/>
                  <a:pt x="130436" y="74069"/>
                </a:cubicBezTo>
                <a:cubicBezTo>
                  <a:pt x="140322" y="79777"/>
                  <a:pt x="146412" y="90326"/>
                  <a:pt x="146412" y="101741"/>
                </a:cubicBezTo>
                <a:cubicBezTo>
                  <a:pt x="146412" y="119377"/>
                  <a:pt x="132094" y="133694"/>
                  <a:pt x="114459" y="133694"/>
                </a:cubicBezTo>
                <a:cubicBezTo>
                  <a:pt x="96824" y="133694"/>
                  <a:pt x="82506" y="119377"/>
                  <a:pt x="82506" y="101741"/>
                </a:cubicBezTo>
                <a:close/>
                <a:moveTo>
                  <a:pt x="165489" y="101741"/>
                </a:moveTo>
                <a:cubicBezTo>
                  <a:pt x="165489" y="73577"/>
                  <a:pt x="142623" y="50712"/>
                  <a:pt x="114459" y="50712"/>
                </a:cubicBezTo>
                <a:cubicBezTo>
                  <a:pt x="86295" y="50712"/>
                  <a:pt x="63429" y="73577"/>
                  <a:pt x="63429" y="101741"/>
                </a:cubicBezTo>
                <a:cubicBezTo>
                  <a:pt x="63429" y="119972"/>
                  <a:pt x="73156" y="136819"/>
                  <a:pt x="88944" y="145934"/>
                </a:cubicBezTo>
                <a:cubicBezTo>
                  <a:pt x="104733" y="155050"/>
                  <a:pt x="124185" y="155050"/>
                  <a:pt x="139974" y="145934"/>
                </a:cubicBezTo>
                <a:cubicBezTo>
                  <a:pt x="155762" y="136819"/>
                  <a:pt x="165489" y="119972"/>
                  <a:pt x="165489" y="10174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837670" y="1431164"/>
            <a:ext cx="1203939" cy="237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5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Solar Resource</a:t>
            </a:r>
            <a:endParaRPr b="0" i="0" sz="1600" u="none" cap="none" strike="noStrike"/>
          </a:p>
        </p:txBody>
      </p:sp>
      <p:sp>
        <p:nvSpPr>
          <p:cNvPr id="436" name="Google Shape;436;p12"/>
          <p:cNvSpPr/>
          <p:nvPr/>
        </p:nvSpPr>
        <p:spPr>
          <a:xfrm>
            <a:off x="481576" y="1770301"/>
            <a:ext cx="3459204" cy="1017413"/>
          </a:xfrm>
          <a:custGeom>
            <a:rect b="b" l="l" r="r" t="t"/>
            <a:pathLst>
              <a:path extrusionOk="0" h="1017413" w="3459204">
                <a:moveTo>
                  <a:pt x="67831" y="0"/>
                </a:moveTo>
                <a:lnTo>
                  <a:pt x="3391374" y="0"/>
                </a:lnTo>
                <a:cubicBezTo>
                  <a:pt x="3428836" y="0"/>
                  <a:pt x="3459204" y="30369"/>
                  <a:pt x="3459204" y="67831"/>
                </a:cubicBezTo>
                <a:lnTo>
                  <a:pt x="3459204" y="949582"/>
                </a:lnTo>
                <a:cubicBezTo>
                  <a:pt x="3459204" y="987044"/>
                  <a:pt x="3428836" y="1017413"/>
                  <a:pt x="3391374" y="1017413"/>
                </a:cubicBezTo>
                <a:lnTo>
                  <a:pt x="67831" y="1017413"/>
                </a:lnTo>
                <a:cubicBezTo>
                  <a:pt x="30369" y="1017413"/>
                  <a:pt x="0" y="987044"/>
                  <a:pt x="0" y="949582"/>
                </a:cubicBezTo>
                <a:lnTo>
                  <a:pt x="0" y="67831"/>
                </a:lnTo>
                <a:cubicBezTo>
                  <a:pt x="0" y="30369"/>
                  <a:pt x="30369" y="0"/>
                  <a:pt x="6783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583317" y="1872043"/>
            <a:ext cx="3408334" cy="33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3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6.16</a:t>
            </a:r>
            <a:endParaRPr b="0" i="0" sz="1600" u="none" cap="none" strike="noStrike"/>
          </a:p>
        </p:txBody>
      </p:sp>
      <p:sp>
        <p:nvSpPr>
          <p:cNvPr id="438" name="Google Shape;438;p12"/>
          <p:cNvSpPr/>
          <p:nvPr/>
        </p:nvSpPr>
        <p:spPr>
          <a:xfrm>
            <a:off x="583317" y="2245094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kWh/m²/day average</a:t>
            </a:r>
            <a:endParaRPr b="0" i="0" sz="1600" u="none" cap="none" strike="noStrike"/>
          </a:p>
        </p:txBody>
      </p:sp>
      <p:sp>
        <p:nvSpPr>
          <p:cNvPr id="439" name="Google Shape;439;p12"/>
          <p:cNvSpPr/>
          <p:nvPr/>
        </p:nvSpPr>
        <p:spPr>
          <a:xfrm>
            <a:off x="583317" y="2482490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Excellent solar resource</a:t>
            </a:r>
            <a:endParaRPr b="0" i="0" sz="1600" u="none" cap="none" strike="noStrike"/>
          </a:p>
        </p:txBody>
      </p:sp>
      <p:sp>
        <p:nvSpPr>
          <p:cNvPr id="440" name="Google Shape;440;p12"/>
          <p:cNvSpPr/>
          <p:nvPr/>
        </p:nvSpPr>
        <p:spPr>
          <a:xfrm>
            <a:off x="481576" y="2889456"/>
            <a:ext cx="3459204" cy="847844"/>
          </a:xfrm>
          <a:custGeom>
            <a:rect b="b" l="l" r="r" t="t"/>
            <a:pathLst>
              <a:path extrusionOk="0" h="847844" w="3459204">
                <a:moveTo>
                  <a:pt x="67828" y="0"/>
                </a:moveTo>
                <a:lnTo>
                  <a:pt x="3391377" y="0"/>
                </a:lnTo>
                <a:cubicBezTo>
                  <a:pt x="3428837" y="0"/>
                  <a:pt x="3459204" y="30367"/>
                  <a:pt x="3459204" y="67828"/>
                </a:cubicBezTo>
                <a:lnTo>
                  <a:pt x="3459204" y="780017"/>
                </a:lnTo>
                <a:cubicBezTo>
                  <a:pt x="3459204" y="817477"/>
                  <a:pt x="3428837" y="847844"/>
                  <a:pt x="3391377" y="847844"/>
                </a:cubicBezTo>
                <a:lnTo>
                  <a:pt x="67828" y="847844"/>
                </a:lnTo>
                <a:cubicBezTo>
                  <a:pt x="30367" y="847844"/>
                  <a:pt x="0" y="817477"/>
                  <a:pt x="0" y="780017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608752" y="3018325"/>
            <a:ext cx="118698" cy="135655"/>
          </a:xfrm>
          <a:custGeom>
            <a:rect b="b" l="l" r="r" t="t"/>
            <a:pathLst>
              <a:path extrusionOk="0" h="135655" w="118698">
                <a:moveTo>
                  <a:pt x="118698" y="54527"/>
                </a:moveTo>
                <a:cubicBezTo>
                  <a:pt x="114777" y="57124"/>
                  <a:pt x="110273" y="59217"/>
                  <a:pt x="105583" y="60886"/>
                </a:cubicBezTo>
                <a:cubicBezTo>
                  <a:pt x="93130" y="65337"/>
                  <a:pt x="76783" y="67828"/>
                  <a:pt x="59349" y="67828"/>
                </a:cubicBezTo>
                <a:cubicBezTo>
                  <a:pt x="41915" y="67828"/>
                  <a:pt x="25541" y="65311"/>
                  <a:pt x="13115" y="60886"/>
                </a:cubicBezTo>
                <a:cubicBezTo>
                  <a:pt x="8452" y="59217"/>
                  <a:pt x="3921" y="57124"/>
                  <a:pt x="0" y="54527"/>
                </a:cubicBezTo>
                <a:lnTo>
                  <a:pt x="0" y="76306"/>
                </a:lnTo>
                <a:cubicBezTo>
                  <a:pt x="0" y="88017"/>
                  <a:pt x="26575" y="97502"/>
                  <a:pt x="59349" y="97502"/>
                </a:cubicBezTo>
                <a:cubicBezTo>
                  <a:pt x="92124" y="97502"/>
                  <a:pt x="118698" y="88017"/>
                  <a:pt x="118698" y="76306"/>
                </a:cubicBezTo>
                <a:lnTo>
                  <a:pt x="118698" y="54527"/>
                </a:lnTo>
                <a:close/>
                <a:moveTo>
                  <a:pt x="118698" y="33914"/>
                </a:moveTo>
                <a:lnTo>
                  <a:pt x="118698" y="21196"/>
                </a:lnTo>
                <a:cubicBezTo>
                  <a:pt x="118698" y="9485"/>
                  <a:pt x="92124" y="0"/>
                  <a:pt x="59349" y="0"/>
                </a:cubicBezTo>
                <a:cubicBezTo>
                  <a:pt x="26575" y="0"/>
                  <a:pt x="0" y="9485"/>
                  <a:pt x="0" y="21196"/>
                </a:cubicBezTo>
                <a:lnTo>
                  <a:pt x="0" y="33914"/>
                </a:lnTo>
                <a:cubicBezTo>
                  <a:pt x="0" y="45625"/>
                  <a:pt x="26575" y="55110"/>
                  <a:pt x="59349" y="55110"/>
                </a:cubicBezTo>
                <a:cubicBezTo>
                  <a:pt x="92124" y="55110"/>
                  <a:pt x="118698" y="45625"/>
                  <a:pt x="118698" y="33914"/>
                </a:cubicBezTo>
                <a:close/>
                <a:moveTo>
                  <a:pt x="105583" y="103278"/>
                </a:moveTo>
                <a:cubicBezTo>
                  <a:pt x="93157" y="107703"/>
                  <a:pt x="76809" y="110220"/>
                  <a:pt x="59349" y="110220"/>
                </a:cubicBezTo>
                <a:cubicBezTo>
                  <a:pt x="41889" y="110220"/>
                  <a:pt x="25541" y="107703"/>
                  <a:pt x="13115" y="103278"/>
                </a:cubicBezTo>
                <a:cubicBezTo>
                  <a:pt x="8452" y="101609"/>
                  <a:pt x="3921" y="99516"/>
                  <a:pt x="0" y="96919"/>
                </a:cubicBezTo>
                <a:lnTo>
                  <a:pt x="0" y="114459"/>
                </a:lnTo>
                <a:cubicBezTo>
                  <a:pt x="0" y="126170"/>
                  <a:pt x="26575" y="135655"/>
                  <a:pt x="59349" y="135655"/>
                </a:cubicBezTo>
                <a:cubicBezTo>
                  <a:pt x="92124" y="135655"/>
                  <a:pt x="118698" y="126170"/>
                  <a:pt x="118698" y="114459"/>
                </a:cubicBezTo>
                <a:lnTo>
                  <a:pt x="118698" y="96919"/>
                </a:lnTo>
                <a:cubicBezTo>
                  <a:pt x="114777" y="99516"/>
                  <a:pt x="110273" y="101609"/>
                  <a:pt x="105583" y="103278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798167" y="2991197"/>
            <a:ext cx="310869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</a:t>
            </a:r>
            <a:endParaRPr b="0" i="0" sz="1600" u="none" cap="none" strike="noStrike"/>
          </a:p>
        </p:txBody>
      </p:sp>
      <p:sp>
        <p:nvSpPr>
          <p:cNvPr id="443" name="Google Shape;443;p12"/>
          <p:cNvSpPr/>
          <p:nvPr/>
        </p:nvSpPr>
        <p:spPr>
          <a:xfrm>
            <a:off x="583317" y="3228593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NASA POWER / SARAH datasets</a:t>
            </a:r>
            <a:endParaRPr b="0" i="0" sz="1600" u="none" cap="none" strike="noStrike"/>
          </a:p>
        </p:txBody>
      </p:sp>
      <p:sp>
        <p:nvSpPr>
          <p:cNvPr id="444" name="Google Shape;444;p12"/>
          <p:cNvSpPr/>
          <p:nvPr/>
        </p:nvSpPr>
        <p:spPr>
          <a:xfrm>
            <a:off x="583317" y="3432076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39-46 year historical record</a:t>
            </a:r>
            <a:endParaRPr b="0" i="0" sz="1600" u="none" cap="none" strike="noStrike"/>
          </a:p>
        </p:txBody>
      </p:sp>
      <p:sp>
        <p:nvSpPr>
          <p:cNvPr id="445" name="Google Shape;445;p12"/>
          <p:cNvSpPr/>
          <p:nvPr/>
        </p:nvSpPr>
        <p:spPr>
          <a:xfrm>
            <a:off x="342529" y="4145959"/>
            <a:ext cx="3737297" cy="2711406"/>
          </a:xfrm>
          <a:custGeom>
            <a:rect b="b" l="l" r="r" t="t"/>
            <a:pathLst>
              <a:path extrusionOk="0" h="2711406" w="3737297">
                <a:moveTo>
                  <a:pt x="67839" y="0"/>
                </a:moveTo>
                <a:lnTo>
                  <a:pt x="3669458" y="0"/>
                </a:lnTo>
                <a:cubicBezTo>
                  <a:pt x="3706925" y="0"/>
                  <a:pt x="3737297" y="30373"/>
                  <a:pt x="3737297" y="67839"/>
                </a:cubicBezTo>
                <a:lnTo>
                  <a:pt x="3737297" y="2643566"/>
                </a:lnTo>
                <a:cubicBezTo>
                  <a:pt x="3737297" y="2681033"/>
                  <a:pt x="3706925" y="2711406"/>
                  <a:pt x="3669458" y="2711406"/>
                </a:cubicBezTo>
                <a:lnTo>
                  <a:pt x="67839" y="2711406"/>
                </a:lnTo>
                <a:cubicBezTo>
                  <a:pt x="30373" y="2711406"/>
                  <a:pt x="0" y="2681033"/>
                  <a:pt x="0" y="2643566"/>
                </a:cubicBezTo>
                <a:lnTo>
                  <a:pt x="0" y="67839"/>
                </a:lnTo>
                <a:cubicBezTo>
                  <a:pt x="0" y="30373"/>
                  <a:pt x="30373" y="0"/>
                  <a:pt x="67839" y="0"/>
                </a:cubicBezTo>
                <a:close/>
              </a:path>
            </a:pathLst>
          </a:custGeom>
          <a:gradFill>
            <a:gsLst>
              <a:gs pos="0">
                <a:srgbClr val="D69E2E">
                  <a:alpha val="20000"/>
                </a:srgbClr>
              </a:gs>
              <a:gs pos="100000">
                <a:srgbClr val="D69E2E">
                  <a:alpha val="5098"/>
                </a:srgbClr>
              </a:gs>
            </a:gsLst>
            <a:lin ang="2700000" scaled="0"/>
          </a:gradFill>
          <a:ln cap="flat" cmpd="sng" w="10150">
            <a:solidFill>
              <a:srgbClr val="D69E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507011" y="4301961"/>
            <a:ext cx="203483" cy="203483"/>
          </a:xfrm>
          <a:custGeom>
            <a:rect b="b" l="l" r="r" t="t"/>
            <a:pathLst>
              <a:path extrusionOk="0" h="203483" w="203483">
                <a:moveTo>
                  <a:pt x="114459" y="12718"/>
                </a:moveTo>
                <a:cubicBezTo>
                  <a:pt x="114459" y="19752"/>
                  <a:pt x="120142" y="25435"/>
                  <a:pt x="127177" y="25435"/>
                </a:cubicBezTo>
                <a:lnTo>
                  <a:pt x="143074" y="25435"/>
                </a:lnTo>
                <a:cubicBezTo>
                  <a:pt x="148359" y="25435"/>
                  <a:pt x="152612" y="29688"/>
                  <a:pt x="152612" y="34974"/>
                </a:cubicBezTo>
                <a:cubicBezTo>
                  <a:pt x="152612" y="40259"/>
                  <a:pt x="148359" y="44512"/>
                  <a:pt x="143074" y="44512"/>
                </a:cubicBezTo>
                <a:lnTo>
                  <a:pt x="12718" y="44512"/>
                </a:lnTo>
                <a:cubicBezTo>
                  <a:pt x="5683" y="44512"/>
                  <a:pt x="0" y="50195"/>
                  <a:pt x="0" y="57229"/>
                </a:cubicBezTo>
                <a:cubicBezTo>
                  <a:pt x="0" y="64264"/>
                  <a:pt x="5683" y="69947"/>
                  <a:pt x="12718" y="69947"/>
                </a:cubicBezTo>
                <a:lnTo>
                  <a:pt x="143074" y="69947"/>
                </a:lnTo>
                <a:cubicBezTo>
                  <a:pt x="162389" y="69947"/>
                  <a:pt x="178047" y="54289"/>
                  <a:pt x="178047" y="34974"/>
                </a:cubicBezTo>
                <a:cubicBezTo>
                  <a:pt x="178047" y="15659"/>
                  <a:pt x="162389" y="0"/>
                  <a:pt x="143074" y="0"/>
                </a:cubicBezTo>
                <a:lnTo>
                  <a:pt x="127177" y="0"/>
                </a:lnTo>
                <a:cubicBezTo>
                  <a:pt x="120142" y="0"/>
                  <a:pt x="114459" y="5683"/>
                  <a:pt x="114459" y="12718"/>
                </a:cubicBezTo>
                <a:close/>
                <a:moveTo>
                  <a:pt x="139894" y="152612"/>
                </a:moveTo>
                <a:cubicBezTo>
                  <a:pt x="139894" y="159646"/>
                  <a:pt x="145578" y="165330"/>
                  <a:pt x="152612" y="165330"/>
                </a:cubicBezTo>
                <a:lnTo>
                  <a:pt x="165330" y="165330"/>
                </a:lnTo>
                <a:cubicBezTo>
                  <a:pt x="186393" y="165330"/>
                  <a:pt x="203483" y="148240"/>
                  <a:pt x="203483" y="127177"/>
                </a:cubicBezTo>
                <a:cubicBezTo>
                  <a:pt x="203483" y="106113"/>
                  <a:pt x="186393" y="89024"/>
                  <a:pt x="165330" y="89024"/>
                </a:cubicBezTo>
                <a:lnTo>
                  <a:pt x="12718" y="89024"/>
                </a:lnTo>
                <a:cubicBezTo>
                  <a:pt x="5683" y="89024"/>
                  <a:pt x="0" y="94707"/>
                  <a:pt x="0" y="101741"/>
                </a:cubicBezTo>
                <a:cubicBezTo>
                  <a:pt x="0" y="108776"/>
                  <a:pt x="5683" y="114459"/>
                  <a:pt x="12718" y="114459"/>
                </a:cubicBezTo>
                <a:lnTo>
                  <a:pt x="165330" y="114459"/>
                </a:lnTo>
                <a:cubicBezTo>
                  <a:pt x="172364" y="114459"/>
                  <a:pt x="178047" y="120142"/>
                  <a:pt x="178047" y="127177"/>
                </a:cubicBezTo>
                <a:cubicBezTo>
                  <a:pt x="178047" y="134211"/>
                  <a:pt x="172364" y="139894"/>
                  <a:pt x="165330" y="139894"/>
                </a:cubicBezTo>
                <a:lnTo>
                  <a:pt x="152612" y="139894"/>
                </a:lnTo>
                <a:cubicBezTo>
                  <a:pt x="145578" y="139894"/>
                  <a:pt x="139894" y="145578"/>
                  <a:pt x="139894" y="152612"/>
                </a:cubicBezTo>
                <a:close/>
                <a:moveTo>
                  <a:pt x="50871" y="203483"/>
                </a:moveTo>
                <a:lnTo>
                  <a:pt x="66768" y="203483"/>
                </a:lnTo>
                <a:cubicBezTo>
                  <a:pt x="86083" y="203483"/>
                  <a:pt x="101741" y="187824"/>
                  <a:pt x="101741" y="168509"/>
                </a:cubicBezTo>
                <a:cubicBezTo>
                  <a:pt x="101741" y="149194"/>
                  <a:pt x="86083" y="133535"/>
                  <a:pt x="66768" y="133535"/>
                </a:cubicBezTo>
                <a:lnTo>
                  <a:pt x="12718" y="133535"/>
                </a:lnTo>
                <a:cubicBezTo>
                  <a:pt x="5683" y="133535"/>
                  <a:pt x="0" y="139219"/>
                  <a:pt x="0" y="146253"/>
                </a:cubicBezTo>
                <a:cubicBezTo>
                  <a:pt x="0" y="153288"/>
                  <a:pt x="5683" y="158971"/>
                  <a:pt x="12718" y="158971"/>
                </a:cubicBezTo>
                <a:lnTo>
                  <a:pt x="66768" y="158971"/>
                </a:lnTo>
                <a:cubicBezTo>
                  <a:pt x="72054" y="158971"/>
                  <a:pt x="76306" y="163223"/>
                  <a:pt x="76306" y="168509"/>
                </a:cubicBezTo>
                <a:cubicBezTo>
                  <a:pt x="76306" y="173795"/>
                  <a:pt x="72054" y="178047"/>
                  <a:pt x="66768" y="178047"/>
                </a:cubicBezTo>
                <a:lnTo>
                  <a:pt x="50871" y="178047"/>
                </a:lnTo>
                <a:cubicBezTo>
                  <a:pt x="43836" y="178047"/>
                  <a:pt x="38153" y="183730"/>
                  <a:pt x="38153" y="190765"/>
                </a:cubicBezTo>
                <a:cubicBezTo>
                  <a:pt x="38153" y="197799"/>
                  <a:pt x="43836" y="203483"/>
                  <a:pt x="50871" y="203483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837670" y="4285004"/>
            <a:ext cx="1220896" cy="237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5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Wind Resource</a:t>
            </a:r>
            <a:endParaRPr b="0" i="0" sz="1600" u="none" cap="none" strike="noStrike"/>
          </a:p>
        </p:txBody>
      </p:sp>
      <p:sp>
        <p:nvSpPr>
          <p:cNvPr id="448" name="Google Shape;448;p12"/>
          <p:cNvSpPr/>
          <p:nvPr/>
        </p:nvSpPr>
        <p:spPr>
          <a:xfrm>
            <a:off x="481576" y="4624142"/>
            <a:ext cx="3459204" cy="1017413"/>
          </a:xfrm>
          <a:custGeom>
            <a:rect b="b" l="l" r="r" t="t"/>
            <a:pathLst>
              <a:path extrusionOk="0" h="1017413" w="3459204">
                <a:moveTo>
                  <a:pt x="67831" y="0"/>
                </a:moveTo>
                <a:lnTo>
                  <a:pt x="3391374" y="0"/>
                </a:lnTo>
                <a:cubicBezTo>
                  <a:pt x="3428836" y="0"/>
                  <a:pt x="3459204" y="30369"/>
                  <a:pt x="3459204" y="67831"/>
                </a:cubicBezTo>
                <a:lnTo>
                  <a:pt x="3459204" y="949582"/>
                </a:lnTo>
                <a:cubicBezTo>
                  <a:pt x="3459204" y="987044"/>
                  <a:pt x="3428836" y="1017413"/>
                  <a:pt x="3391374" y="1017413"/>
                </a:cubicBezTo>
                <a:lnTo>
                  <a:pt x="67831" y="1017413"/>
                </a:lnTo>
                <a:cubicBezTo>
                  <a:pt x="30369" y="1017413"/>
                  <a:pt x="0" y="987044"/>
                  <a:pt x="0" y="949582"/>
                </a:cubicBezTo>
                <a:lnTo>
                  <a:pt x="0" y="67831"/>
                </a:lnTo>
                <a:cubicBezTo>
                  <a:pt x="0" y="30369"/>
                  <a:pt x="30369" y="0"/>
                  <a:pt x="6783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583317" y="4725883"/>
            <a:ext cx="3408334" cy="33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3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6.95</a:t>
            </a:r>
            <a:endParaRPr b="0" i="0" sz="1600" u="none" cap="none" strike="noStrike"/>
          </a:p>
        </p:txBody>
      </p:sp>
      <p:sp>
        <p:nvSpPr>
          <p:cNvPr id="450" name="Google Shape;450;p12"/>
          <p:cNvSpPr/>
          <p:nvPr/>
        </p:nvSpPr>
        <p:spPr>
          <a:xfrm>
            <a:off x="583317" y="5098934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m/s at 100m height</a:t>
            </a:r>
            <a:endParaRPr b="0" i="0" sz="1600" u="none" cap="none" strike="noStrike"/>
          </a:p>
        </p:txBody>
      </p:sp>
      <p:sp>
        <p:nvSpPr>
          <p:cNvPr id="451" name="Google Shape;451;p12"/>
          <p:cNvSpPr/>
          <p:nvPr/>
        </p:nvSpPr>
        <p:spPr>
          <a:xfrm>
            <a:off x="583317" y="5336331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wind potential</a:t>
            </a:r>
            <a:endParaRPr b="0" i="0" sz="1600" u="none" cap="none" strike="noStrike"/>
          </a:p>
        </p:txBody>
      </p:sp>
      <p:sp>
        <p:nvSpPr>
          <p:cNvPr id="452" name="Google Shape;452;p12"/>
          <p:cNvSpPr/>
          <p:nvPr/>
        </p:nvSpPr>
        <p:spPr>
          <a:xfrm>
            <a:off x="481576" y="5743296"/>
            <a:ext cx="3459204" cy="847844"/>
          </a:xfrm>
          <a:custGeom>
            <a:rect b="b" l="l" r="r" t="t"/>
            <a:pathLst>
              <a:path extrusionOk="0" h="847844" w="3459204">
                <a:moveTo>
                  <a:pt x="67828" y="0"/>
                </a:moveTo>
                <a:lnTo>
                  <a:pt x="3391377" y="0"/>
                </a:lnTo>
                <a:cubicBezTo>
                  <a:pt x="3428837" y="0"/>
                  <a:pt x="3459204" y="30367"/>
                  <a:pt x="3459204" y="67828"/>
                </a:cubicBezTo>
                <a:lnTo>
                  <a:pt x="3459204" y="780017"/>
                </a:lnTo>
                <a:cubicBezTo>
                  <a:pt x="3459204" y="817477"/>
                  <a:pt x="3428837" y="847844"/>
                  <a:pt x="3391377" y="847844"/>
                </a:cubicBezTo>
                <a:lnTo>
                  <a:pt x="67828" y="847844"/>
                </a:lnTo>
                <a:cubicBezTo>
                  <a:pt x="30367" y="847844"/>
                  <a:pt x="0" y="817477"/>
                  <a:pt x="0" y="780017"/>
                </a:cubicBezTo>
                <a:lnTo>
                  <a:pt x="0" y="67828"/>
                </a:lnTo>
                <a:cubicBezTo>
                  <a:pt x="0" y="30393"/>
                  <a:pt x="30393" y="0"/>
                  <a:pt x="6782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608752" y="5872170"/>
            <a:ext cx="118698" cy="135655"/>
          </a:xfrm>
          <a:custGeom>
            <a:rect b="b" l="l" r="r" t="t"/>
            <a:pathLst>
              <a:path extrusionOk="0" h="135655" w="118698">
                <a:moveTo>
                  <a:pt x="118698" y="54527"/>
                </a:moveTo>
                <a:cubicBezTo>
                  <a:pt x="114777" y="57124"/>
                  <a:pt x="110273" y="59217"/>
                  <a:pt x="105583" y="60886"/>
                </a:cubicBezTo>
                <a:cubicBezTo>
                  <a:pt x="93130" y="65337"/>
                  <a:pt x="76783" y="67828"/>
                  <a:pt x="59349" y="67828"/>
                </a:cubicBezTo>
                <a:cubicBezTo>
                  <a:pt x="41915" y="67828"/>
                  <a:pt x="25541" y="65311"/>
                  <a:pt x="13115" y="60886"/>
                </a:cubicBezTo>
                <a:cubicBezTo>
                  <a:pt x="8452" y="59217"/>
                  <a:pt x="3921" y="57124"/>
                  <a:pt x="0" y="54527"/>
                </a:cubicBezTo>
                <a:lnTo>
                  <a:pt x="0" y="76306"/>
                </a:lnTo>
                <a:cubicBezTo>
                  <a:pt x="0" y="88017"/>
                  <a:pt x="26575" y="97502"/>
                  <a:pt x="59349" y="97502"/>
                </a:cubicBezTo>
                <a:cubicBezTo>
                  <a:pt x="92124" y="97502"/>
                  <a:pt x="118698" y="88017"/>
                  <a:pt x="118698" y="76306"/>
                </a:cubicBezTo>
                <a:lnTo>
                  <a:pt x="118698" y="54527"/>
                </a:lnTo>
                <a:close/>
                <a:moveTo>
                  <a:pt x="118698" y="33914"/>
                </a:moveTo>
                <a:lnTo>
                  <a:pt x="118698" y="21196"/>
                </a:lnTo>
                <a:cubicBezTo>
                  <a:pt x="118698" y="9485"/>
                  <a:pt x="92124" y="0"/>
                  <a:pt x="59349" y="0"/>
                </a:cubicBezTo>
                <a:cubicBezTo>
                  <a:pt x="26575" y="0"/>
                  <a:pt x="0" y="9485"/>
                  <a:pt x="0" y="21196"/>
                </a:cubicBezTo>
                <a:lnTo>
                  <a:pt x="0" y="33914"/>
                </a:lnTo>
                <a:cubicBezTo>
                  <a:pt x="0" y="45625"/>
                  <a:pt x="26575" y="55110"/>
                  <a:pt x="59349" y="55110"/>
                </a:cubicBezTo>
                <a:cubicBezTo>
                  <a:pt x="92124" y="55110"/>
                  <a:pt x="118698" y="45625"/>
                  <a:pt x="118698" y="33914"/>
                </a:cubicBezTo>
                <a:close/>
                <a:moveTo>
                  <a:pt x="105583" y="103278"/>
                </a:moveTo>
                <a:cubicBezTo>
                  <a:pt x="93157" y="107703"/>
                  <a:pt x="76809" y="110220"/>
                  <a:pt x="59349" y="110220"/>
                </a:cubicBezTo>
                <a:cubicBezTo>
                  <a:pt x="41889" y="110220"/>
                  <a:pt x="25541" y="107703"/>
                  <a:pt x="13115" y="103278"/>
                </a:cubicBezTo>
                <a:cubicBezTo>
                  <a:pt x="8452" y="101609"/>
                  <a:pt x="3921" y="99516"/>
                  <a:pt x="0" y="96919"/>
                </a:cubicBezTo>
                <a:lnTo>
                  <a:pt x="0" y="114459"/>
                </a:lnTo>
                <a:cubicBezTo>
                  <a:pt x="0" y="126170"/>
                  <a:pt x="26575" y="135655"/>
                  <a:pt x="59349" y="135655"/>
                </a:cubicBezTo>
                <a:cubicBezTo>
                  <a:pt x="92124" y="135655"/>
                  <a:pt x="118698" y="126170"/>
                  <a:pt x="118698" y="114459"/>
                </a:cubicBezTo>
                <a:lnTo>
                  <a:pt x="118698" y="96919"/>
                </a:lnTo>
                <a:cubicBezTo>
                  <a:pt x="114777" y="99516"/>
                  <a:pt x="110273" y="101609"/>
                  <a:pt x="105583" y="103278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798167" y="5845037"/>
            <a:ext cx="310869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Source</a:t>
            </a:r>
            <a:endParaRPr b="0" i="0" sz="1600" u="none" cap="none" strike="noStrike"/>
          </a:p>
        </p:txBody>
      </p:sp>
      <p:sp>
        <p:nvSpPr>
          <p:cNvPr id="455" name="Google Shape;455;p12"/>
          <p:cNvSpPr/>
          <p:nvPr/>
        </p:nvSpPr>
        <p:spPr>
          <a:xfrm>
            <a:off x="583317" y="6082434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Wind Atlas</a:t>
            </a:r>
            <a:endParaRPr b="0" i="0" sz="1600" u="none" cap="none" strike="noStrike"/>
          </a:p>
        </p:txBody>
      </p:sp>
      <p:sp>
        <p:nvSpPr>
          <p:cNvPr id="456" name="Google Shape;456;p12"/>
          <p:cNvSpPr/>
          <p:nvPr/>
        </p:nvSpPr>
        <p:spPr>
          <a:xfrm>
            <a:off x="583317" y="6285916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Annual mean measurement</a:t>
            </a:r>
            <a:endParaRPr b="0" i="0" sz="1600" u="none" cap="none" strike="noStrike"/>
          </a:p>
        </p:txBody>
      </p:sp>
      <p:sp>
        <p:nvSpPr>
          <p:cNvPr id="457" name="Google Shape;457;p12"/>
          <p:cNvSpPr/>
          <p:nvPr/>
        </p:nvSpPr>
        <p:spPr>
          <a:xfrm>
            <a:off x="4226186" y="1292115"/>
            <a:ext cx="3737297" cy="3262505"/>
          </a:xfrm>
          <a:custGeom>
            <a:rect b="b" l="l" r="r" t="t"/>
            <a:pathLst>
              <a:path extrusionOk="0" h="3262505" w="3737297">
                <a:moveTo>
                  <a:pt x="67827" y="0"/>
                </a:moveTo>
                <a:lnTo>
                  <a:pt x="3669470" y="0"/>
                </a:lnTo>
                <a:cubicBezTo>
                  <a:pt x="3706930" y="0"/>
                  <a:pt x="3737297" y="30367"/>
                  <a:pt x="3737297" y="67827"/>
                </a:cubicBezTo>
                <a:lnTo>
                  <a:pt x="3737297" y="3194677"/>
                </a:lnTo>
                <a:cubicBezTo>
                  <a:pt x="3737297" y="3232137"/>
                  <a:pt x="3706930" y="3262505"/>
                  <a:pt x="3669470" y="3262505"/>
                </a:cubicBezTo>
                <a:lnTo>
                  <a:pt x="67827" y="3262505"/>
                </a:lnTo>
                <a:cubicBezTo>
                  <a:pt x="30367" y="3262505"/>
                  <a:pt x="0" y="3232137"/>
                  <a:pt x="0" y="3194677"/>
                </a:cubicBezTo>
                <a:lnTo>
                  <a:pt x="0" y="67827"/>
                </a:lnTo>
                <a:cubicBezTo>
                  <a:pt x="0" y="30392"/>
                  <a:pt x="30392" y="0"/>
                  <a:pt x="67827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4377950" y="1448120"/>
            <a:ext cx="228918" cy="203483"/>
          </a:xfrm>
          <a:custGeom>
            <a:rect b="b" l="l" r="r" t="t"/>
            <a:pathLst>
              <a:path extrusionOk="0" h="203483" w="228918">
                <a:moveTo>
                  <a:pt x="180273" y="-5882"/>
                </a:moveTo>
                <a:cubicBezTo>
                  <a:pt x="182220" y="-5087"/>
                  <a:pt x="183651" y="-3338"/>
                  <a:pt x="184048" y="-1272"/>
                </a:cubicBezTo>
                <a:lnTo>
                  <a:pt x="190765" y="31794"/>
                </a:lnTo>
                <a:lnTo>
                  <a:pt x="223831" y="38471"/>
                </a:lnTo>
                <a:cubicBezTo>
                  <a:pt x="225897" y="38908"/>
                  <a:pt x="227606" y="40299"/>
                  <a:pt x="228441" y="42246"/>
                </a:cubicBezTo>
                <a:cubicBezTo>
                  <a:pt x="229276" y="44194"/>
                  <a:pt x="229037" y="46419"/>
                  <a:pt x="227885" y="48168"/>
                </a:cubicBezTo>
                <a:lnTo>
                  <a:pt x="209245" y="76266"/>
                </a:lnTo>
                <a:lnTo>
                  <a:pt x="227885" y="104364"/>
                </a:lnTo>
                <a:cubicBezTo>
                  <a:pt x="229037" y="106113"/>
                  <a:pt x="229276" y="108339"/>
                  <a:pt x="228441" y="110286"/>
                </a:cubicBezTo>
                <a:cubicBezTo>
                  <a:pt x="227606" y="112233"/>
                  <a:pt x="225897" y="113664"/>
                  <a:pt x="223831" y="114062"/>
                </a:cubicBezTo>
                <a:lnTo>
                  <a:pt x="199111" y="119109"/>
                </a:lnTo>
                <a:cubicBezTo>
                  <a:pt x="194382" y="115651"/>
                  <a:pt x="189136" y="112909"/>
                  <a:pt x="183452" y="111001"/>
                </a:cubicBezTo>
                <a:cubicBezTo>
                  <a:pt x="182459" y="105954"/>
                  <a:pt x="180750" y="101185"/>
                  <a:pt x="178405" y="96813"/>
                </a:cubicBezTo>
                <a:cubicBezTo>
                  <a:pt x="182181" y="90892"/>
                  <a:pt x="184406" y="83857"/>
                  <a:pt x="184406" y="76266"/>
                </a:cubicBezTo>
                <a:cubicBezTo>
                  <a:pt x="184406" y="55203"/>
                  <a:pt x="167317" y="38113"/>
                  <a:pt x="146253" y="38113"/>
                </a:cubicBezTo>
                <a:cubicBezTo>
                  <a:pt x="127216" y="38113"/>
                  <a:pt x="111439" y="52063"/>
                  <a:pt x="108577" y="70265"/>
                </a:cubicBezTo>
                <a:cubicBezTo>
                  <a:pt x="98045" y="62197"/>
                  <a:pt x="84930" y="57349"/>
                  <a:pt x="70663" y="57190"/>
                </a:cubicBezTo>
                <a:lnTo>
                  <a:pt x="64661" y="48168"/>
                </a:lnTo>
                <a:cubicBezTo>
                  <a:pt x="63509" y="46419"/>
                  <a:pt x="63270" y="44194"/>
                  <a:pt x="64105" y="42246"/>
                </a:cubicBezTo>
                <a:cubicBezTo>
                  <a:pt x="64940" y="40299"/>
                  <a:pt x="66649" y="38868"/>
                  <a:pt x="68715" y="38471"/>
                </a:cubicBezTo>
                <a:lnTo>
                  <a:pt x="101741" y="31794"/>
                </a:lnTo>
                <a:lnTo>
                  <a:pt x="108418" y="-1272"/>
                </a:lnTo>
                <a:cubicBezTo>
                  <a:pt x="108855" y="-3338"/>
                  <a:pt x="110246" y="-5047"/>
                  <a:pt x="112194" y="-5882"/>
                </a:cubicBezTo>
                <a:cubicBezTo>
                  <a:pt x="114141" y="-6717"/>
                  <a:pt x="116367" y="-6478"/>
                  <a:pt x="118115" y="-5326"/>
                </a:cubicBezTo>
                <a:lnTo>
                  <a:pt x="146253" y="13354"/>
                </a:lnTo>
                <a:lnTo>
                  <a:pt x="174351" y="-5286"/>
                </a:lnTo>
                <a:cubicBezTo>
                  <a:pt x="176100" y="-6438"/>
                  <a:pt x="178325" y="-6677"/>
                  <a:pt x="180273" y="-5842"/>
                </a:cubicBezTo>
                <a:close/>
                <a:moveTo>
                  <a:pt x="165330" y="76306"/>
                </a:moveTo>
                <a:cubicBezTo>
                  <a:pt x="165330" y="77816"/>
                  <a:pt x="165171" y="79287"/>
                  <a:pt x="164813" y="80717"/>
                </a:cubicBezTo>
                <a:cubicBezTo>
                  <a:pt x="156189" y="73961"/>
                  <a:pt x="145339" y="69947"/>
                  <a:pt x="133535" y="69947"/>
                </a:cubicBezTo>
                <a:cubicBezTo>
                  <a:pt x="131707" y="69947"/>
                  <a:pt x="129919" y="70027"/>
                  <a:pt x="128170" y="70225"/>
                </a:cubicBezTo>
                <a:cubicBezTo>
                  <a:pt x="130714" y="62674"/>
                  <a:pt x="137867" y="57229"/>
                  <a:pt x="146253" y="57229"/>
                </a:cubicBezTo>
                <a:cubicBezTo>
                  <a:pt x="156785" y="57229"/>
                  <a:pt x="165330" y="65774"/>
                  <a:pt x="165330" y="76306"/>
                </a:cubicBezTo>
                <a:close/>
                <a:moveTo>
                  <a:pt x="38153" y="203483"/>
                </a:moveTo>
                <a:cubicBezTo>
                  <a:pt x="17089" y="203483"/>
                  <a:pt x="0" y="186393"/>
                  <a:pt x="0" y="165330"/>
                </a:cubicBezTo>
                <a:cubicBezTo>
                  <a:pt x="0" y="148439"/>
                  <a:pt x="10969" y="134092"/>
                  <a:pt x="26190" y="129084"/>
                </a:cubicBezTo>
                <a:cubicBezTo>
                  <a:pt x="25674" y="126422"/>
                  <a:pt x="25435" y="123640"/>
                  <a:pt x="25435" y="120818"/>
                </a:cubicBezTo>
                <a:cubicBezTo>
                  <a:pt x="25435" y="96217"/>
                  <a:pt x="45346" y="76306"/>
                  <a:pt x="69947" y="76306"/>
                </a:cubicBezTo>
                <a:cubicBezTo>
                  <a:pt x="87076" y="76306"/>
                  <a:pt x="101940" y="85963"/>
                  <a:pt x="109372" y="100152"/>
                </a:cubicBezTo>
                <a:cubicBezTo>
                  <a:pt x="115214" y="93356"/>
                  <a:pt x="123878" y="89024"/>
                  <a:pt x="133535" y="89024"/>
                </a:cubicBezTo>
                <a:cubicBezTo>
                  <a:pt x="151102" y="89024"/>
                  <a:pt x="165330" y="103252"/>
                  <a:pt x="165330" y="120818"/>
                </a:cubicBezTo>
                <a:cubicBezTo>
                  <a:pt x="165330" y="123004"/>
                  <a:pt x="165091" y="125110"/>
                  <a:pt x="164694" y="127177"/>
                </a:cubicBezTo>
                <a:cubicBezTo>
                  <a:pt x="164892" y="127177"/>
                  <a:pt x="165131" y="127177"/>
                  <a:pt x="165330" y="127177"/>
                </a:cubicBezTo>
                <a:cubicBezTo>
                  <a:pt x="186393" y="127177"/>
                  <a:pt x="203483" y="144266"/>
                  <a:pt x="203483" y="165330"/>
                </a:cubicBezTo>
                <a:cubicBezTo>
                  <a:pt x="203483" y="186393"/>
                  <a:pt x="186393" y="203483"/>
                  <a:pt x="165330" y="203483"/>
                </a:cubicBezTo>
                <a:lnTo>
                  <a:pt x="38153" y="203483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4721326" y="1431164"/>
            <a:ext cx="1560033" cy="237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Climate Constraints</a:t>
            </a:r>
            <a:endParaRPr b="0" i="0" sz="1600" u="none" cap="none" strike="noStrike"/>
          </a:p>
        </p:txBody>
      </p:sp>
      <p:sp>
        <p:nvSpPr>
          <p:cNvPr id="460" name="Google Shape;460;p12"/>
          <p:cNvSpPr/>
          <p:nvPr/>
        </p:nvSpPr>
        <p:spPr>
          <a:xfrm>
            <a:off x="4365232" y="1770301"/>
            <a:ext cx="3459204" cy="813930"/>
          </a:xfrm>
          <a:custGeom>
            <a:rect b="b" l="l" r="r" t="t"/>
            <a:pathLst>
              <a:path extrusionOk="0" h="813930" w="3459204">
                <a:moveTo>
                  <a:pt x="67825" y="0"/>
                </a:moveTo>
                <a:lnTo>
                  <a:pt x="3391380" y="0"/>
                </a:lnTo>
                <a:cubicBezTo>
                  <a:pt x="3428838" y="0"/>
                  <a:pt x="3459204" y="30366"/>
                  <a:pt x="3459204" y="67825"/>
                </a:cubicBezTo>
                <a:lnTo>
                  <a:pt x="3459204" y="746106"/>
                </a:lnTo>
                <a:cubicBezTo>
                  <a:pt x="3459204" y="783564"/>
                  <a:pt x="3428838" y="813930"/>
                  <a:pt x="3391380" y="813930"/>
                </a:cubicBezTo>
                <a:lnTo>
                  <a:pt x="67825" y="813930"/>
                </a:lnTo>
                <a:cubicBezTo>
                  <a:pt x="30391" y="813930"/>
                  <a:pt x="0" y="783539"/>
                  <a:pt x="0" y="746106"/>
                </a:cubicBezTo>
                <a:lnTo>
                  <a:pt x="0" y="67825"/>
                </a:lnTo>
                <a:cubicBezTo>
                  <a:pt x="0" y="30366"/>
                  <a:pt x="30366" y="0"/>
                  <a:pt x="678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4483930" y="1899171"/>
            <a:ext cx="135655" cy="135655"/>
          </a:xfrm>
          <a:custGeom>
            <a:rect b="b" l="l" r="r" t="t"/>
            <a:pathLst>
              <a:path extrusionOk="0" h="135655" w="135655">
                <a:moveTo>
                  <a:pt x="67828" y="0"/>
                </a:moveTo>
                <a:cubicBezTo>
                  <a:pt x="71722" y="0"/>
                  <a:pt x="75299" y="2146"/>
                  <a:pt x="77154" y="5564"/>
                </a:cubicBezTo>
                <a:lnTo>
                  <a:pt x="134383" y="111545"/>
                </a:lnTo>
                <a:cubicBezTo>
                  <a:pt x="136158" y="114830"/>
                  <a:pt x="136079" y="118804"/>
                  <a:pt x="134171" y="122010"/>
                </a:cubicBezTo>
                <a:cubicBezTo>
                  <a:pt x="132264" y="125216"/>
                  <a:pt x="128793" y="127177"/>
                  <a:pt x="125057" y="127177"/>
                </a:cubicBezTo>
                <a:lnTo>
                  <a:pt x="10598" y="127177"/>
                </a:lnTo>
                <a:cubicBezTo>
                  <a:pt x="6862" y="127177"/>
                  <a:pt x="3418" y="125216"/>
                  <a:pt x="1484" y="122010"/>
                </a:cubicBezTo>
                <a:cubicBezTo>
                  <a:pt x="-450" y="118804"/>
                  <a:pt x="-503" y="114830"/>
                  <a:pt x="1272" y="111545"/>
                </a:cubicBezTo>
                <a:lnTo>
                  <a:pt x="58501" y="5564"/>
                </a:lnTo>
                <a:cubicBezTo>
                  <a:pt x="60356" y="2146"/>
                  <a:pt x="63933" y="0"/>
                  <a:pt x="67828" y="0"/>
                </a:cubicBezTo>
                <a:close/>
                <a:moveTo>
                  <a:pt x="67828" y="44512"/>
                </a:moveTo>
                <a:cubicBezTo>
                  <a:pt x="64304" y="44512"/>
                  <a:pt x="61469" y="47347"/>
                  <a:pt x="61469" y="50871"/>
                </a:cubicBezTo>
                <a:lnTo>
                  <a:pt x="61469" y="80545"/>
                </a:lnTo>
                <a:cubicBezTo>
                  <a:pt x="61469" y="84069"/>
                  <a:pt x="64304" y="86904"/>
                  <a:pt x="67828" y="86904"/>
                </a:cubicBezTo>
                <a:cubicBezTo>
                  <a:pt x="71351" y="86904"/>
                  <a:pt x="74186" y="84069"/>
                  <a:pt x="74186" y="80545"/>
                </a:cubicBezTo>
                <a:lnTo>
                  <a:pt x="74186" y="50871"/>
                </a:lnTo>
                <a:cubicBezTo>
                  <a:pt x="74186" y="47347"/>
                  <a:pt x="71351" y="44512"/>
                  <a:pt x="67828" y="44512"/>
                </a:cubicBezTo>
                <a:close/>
                <a:moveTo>
                  <a:pt x="74902" y="101741"/>
                </a:moveTo>
                <a:cubicBezTo>
                  <a:pt x="75063" y="99115"/>
                  <a:pt x="73753" y="96617"/>
                  <a:pt x="71502" y="95256"/>
                </a:cubicBezTo>
                <a:cubicBezTo>
                  <a:pt x="69251" y="93894"/>
                  <a:pt x="66430" y="93894"/>
                  <a:pt x="64179" y="95256"/>
                </a:cubicBezTo>
                <a:cubicBezTo>
                  <a:pt x="61928" y="96617"/>
                  <a:pt x="60619" y="99115"/>
                  <a:pt x="60780" y="101741"/>
                </a:cubicBezTo>
                <a:cubicBezTo>
                  <a:pt x="60619" y="104367"/>
                  <a:pt x="61928" y="106865"/>
                  <a:pt x="64179" y="108227"/>
                </a:cubicBezTo>
                <a:cubicBezTo>
                  <a:pt x="66430" y="109589"/>
                  <a:pt x="69251" y="109589"/>
                  <a:pt x="71502" y="108227"/>
                </a:cubicBezTo>
                <a:cubicBezTo>
                  <a:pt x="73753" y="106865"/>
                  <a:pt x="75063" y="104367"/>
                  <a:pt x="74902" y="101741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4681823" y="1872043"/>
            <a:ext cx="310869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Dust Season</a:t>
            </a:r>
            <a:endParaRPr b="0" i="0" sz="1600" u="none" cap="none" strike="noStrike"/>
          </a:p>
        </p:txBody>
      </p:sp>
      <p:sp>
        <p:nvSpPr>
          <p:cNvPr id="463" name="Google Shape;463;p12"/>
          <p:cNvSpPr/>
          <p:nvPr/>
        </p:nvSpPr>
        <p:spPr>
          <a:xfrm>
            <a:off x="4466973" y="2109439"/>
            <a:ext cx="3323549" cy="373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January-March:</a:t>
            </a: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Severe dust events with up to </a:t>
            </a:r>
            <a:r>
              <a:rPr b="1" i="0" lang="en-US" sz="1068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60% solar loss</a:t>
            </a: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 event days</a:t>
            </a:r>
            <a:endParaRPr b="0" i="0" sz="1600" u="none" cap="none" strike="noStrike"/>
          </a:p>
        </p:txBody>
      </p:sp>
      <p:sp>
        <p:nvSpPr>
          <p:cNvPr id="464" name="Google Shape;464;p12"/>
          <p:cNvSpPr/>
          <p:nvPr/>
        </p:nvSpPr>
        <p:spPr>
          <a:xfrm>
            <a:off x="4365232" y="2685973"/>
            <a:ext cx="3459204" cy="813930"/>
          </a:xfrm>
          <a:custGeom>
            <a:rect b="b" l="l" r="r" t="t"/>
            <a:pathLst>
              <a:path extrusionOk="0" h="813930" w="3459204">
                <a:moveTo>
                  <a:pt x="67825" y="0"/>
                </a:moveTo>
                <a:lnTo>
                  <a:pt x="3391380" y="0"/>
                </a:lnTo>
                <a:cubicBezTo>
                  <a:pt x="3428838" y="0"/>
                  <a:pt x="3459204" y="30366"/>
                  <a:pt x="3459204" y="67825"/>
                </a:cubicBezTo>
                <a:lnTo>
                  <a:pt x="3459204" y="746106"/>
                </a:lnTo>
                <a:cubicBezTo>
                  <a:pt x="3459204" y="783564"/>
                  <a:pt x="3428838" y="813930"/>
                  <a:pt x="3391380" y="813930"/>
                </a:cubicBezTo>
                <a:lnTo>
                  <a:pt x="67825" y="813930"/>
                </a:lnTo>
                <a:cubicBezTo>
                  <a:pt x="30391" y="813930"/>
                  <a:pt x="0" y="783539"/>
                  <a:pt x="0" y="746106"/>
                </a:cubicBezTo>
                <a:lnTo>
                  <a:pt x="0" y="67825"/>
                </a:lnTo>
                <a:cubicBezTo>
                  <a:pt x="0" y="30366"/>
                  <a:pt x="30366" y="0"/>
                  <a:pt x="678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4483930" y="2814843"/>
            <a:ext cx="135655" cy="135655"/>
          </a:xfrm>
          <a:custGeom>
            <a:rect b="b" l="l" r="r" t="t"/>
            <a:pathLst>
              <a:path extrusionOk="0" h="135655" w="135655">
                <a:moveTo>
                  <a:pt x="25435" y="25435"/>
                </a:moveTo>
                <a:cubicBezTo>
                  <a:pt x="25435" y="11393"/>
                  <a:pt x="36828" y="0"/>
                  <a:pt x="50871" y="0"/>
                </a:cubicBezTo>
                <a:cubicBezTo>
                  <a:pt x="64913" y="0"/>
                  <a:pt x="76306" y="11393"/>
                  <a:pt x="76306" y="25435"/>
                </a:cubicBezTo>
                <a:lnTo>
                  <a:pt x="76306" y="69073"/>
                </a:lnTo>
                <a:cubicBezTo>
                  <a:pt x="84122" y="76068"/>
                  <a:pt x="89024" y="86215"/>
                  <a:pt x="89024" y="97502"/>
                </a:cubicBezTo>
                <a:cubicBezTo>
                  <a:pt x="89024" y="118566"/>
                  <a:pt x="71934" y="135655"/>
                  <a:pt x="50871" y="135655"/>
                </a:cubicBezTo>
                <a:cubicBezTo>
                  <a:pt x="29807" y="135655"/>
                  <a:pt x="12718" y="118566"/>
                  <a:pt x="12718" y="97502"/>
                </a:cubicBezTo>
                <a:cubicBezTo>
                  <a:pt x="12718" y="86215"/>
                  <a:pt x="17619" y="76041"/>
                  <a:pt x="25435" y="69073"/>
                </a:cubicBezTo>
                <a:lnTo>
                  <a:pt x="25435" y="25435"/>
                </a:lnTo>
                <a:close/>
                <a:moveTo>
                  <a:pt x="50871" y="114459"/>
                </a:moveTo>
                <a:cubicBezTo>
                  <a:pt x="60223" y="114459"/>
                  <a:pt x="67828" y="106855"/>
                  <a:pt x="67828" y="97502"/>
                </a:cubicBezTo>
                <a:cubicBezTo>
                  <a:pt x="67828" y="90375"/>
                  <a:pt x="63456" y="84281"/>
                  <a:pt x="57229" y="81790"/>
                </a:cubicBezTo>
                <a:lnTo>
                  <a:pt x="57229" y="25435"/>
                </a:lnTo>
                <a:cubicBezTo>
                  <a:pt x="57229" y="21911"/>
                  <a:pt x="54395" y="19076"/>
                  <a:pt x="50871" y="19076"/>
                </a:cubicBezTo>
                <a:cubicBezTo>
                  <a:pt x="47347" y="19076"/>
                  <a:pt x="44512" y="21911"/>
                  <a:pt x="44512" y="25435"/>
                </a:cubicBezTo>
                <a:lnTo>
                  <a:pt x="44512" y="81790"/>
                </a:lnTo>
                <a:cubicBezTo>
                  <a:pt x="38285" y="84308"/>
                  <a:pt x="33914" y="90401"/>
                  <a:pt x="33914" y="97502"/>
                </a:cubicBezTo>
                <a:cubicBezTo>
                  <a:pt x="33914" y="106855"/>
                  <a:pt x="41518" y="114459"/>
                  <a:pt x="50871" y="114459"/>
                </a:cubicBezTo>
                <a:close/>
                <a:moveTo>
                  <a:pt x="122937" y="21196"/>
                </a:moveTo>
                <a:cubicBezTo>
                  <a:pt x="122937" y="16517"/>
                  <a:pt x="119138" y="12718"/>
                  <a:pt x="114459" y="12718"/>
                </a:cubicBezTo>
                <a:cubicBezTo>
                  <a:pt x="109780" y="12718"/>
                  <a:pt x="105981" y="16517"/>
                  <a:pt x="105981" y="21196"/>
                </a:cubicBezTo>
                <a:cubicBezTo>
                  <a:pt x="105981" y="25875"/>
                  <a:pt x="109780" y="29675"/>
                  <a:pt x="114459" y="29675"/>
                </a:cubicBezTo>
                <a:cubicBezTo>
                  <a:pt x="119138" y="29675"/>
                  <a:pt x="122937" y="25875"/>
                  <a:pt x="122937" y="21196"/>
                </a:cubicBezTo>
                <a:close/>
                <a:moveTo>
                  <a:pt x="93263" y="21196"/>
                </a:moveTo>
                <a:cubicBezTo>
                  <a:pt x="93263" y="9498"/>
                  <a:pt x="102761" y="0"/>
                  <a:pt x="114459" y="0"/>
                </a:cubicBezTo>
                <a:cubicBezTo>
                  <a:pt x="126157" y="0"/>
                  <a:pt x="135655" y="9498"/>
                  <a:pt x="135655" y="21196"/>
                </a:cubicBezTo>
                <a:cubicBezTo>
                  <a:pt x="135655" y="32895"/>
                  <a:pt x="126157" y="42392"/>
                  <a:pt x="114459" y="42392"/>
                </a:cubicBezTo>
                <a:cubicBezTo>
                  <a:pt x="102761" y="42392"/>
                  <a:pt x="93263" y="32895"/>
                  <a:pt x="93263" y="21196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4681823" y="2787714"/>
            <a:ext cx="310869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Thermal Derating</a:t>
            </a:r>
            <a:endParaRPr b="0" i="0" sz="1600" u="none" cap="none" strike="noStrike"/>
          </a:p>
        </p:txBody>
      </p:sp>
      <p:sp>
        <p:nvSpPr>
          <p:cNvPr id="467" name="Google Shape;467;p12"/>
          <p:cNvSpPr/>
          <p:nvPr/>
        </p:nvSpPr>
        <p:spPr>
          <a:xfrm>
            <a:off x="4466973" y="3025111"/>
            <a:ext cx="3323549" cy="373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35°C+ temperatures</a:t>
            </a: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cause </a:t>
            </a:r>
            <a:r>
              <a:rPr b="1" i="0" lang="en-US" sz="1068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10-15% PV derating</a:t>
            </a: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major design factor</a:t>
            </a:r>
            <a:endParaRPr b="0" i="0" sz="1600" u="none" cap="none" strike="noStrike"/>
          </a:p>
        </p:txBody>
      </p:sp>
      <p:sp>
        <p:nvSpPr>
          <p:cNvPr id="468" name="Google Shape;468;p12"/>
          <p:cNvSpPr/>
          <p:nvPr/>
        </p:nvSpPr>
        <p:spPr>
          <a:xfrm>
            <a:off x="4365232" y="3601645"/>
            <a:ext cx="3459204" cy="813930"/>
          </a:xfrm>
          <a:custGeom>
            <a:rect b="b" l="l" r="r" t="t"/>
            <a:pathLst>
              <a:path extrusionOk="0" h="813930" w="3459204">
                <a:moveTo>
                  <a:pt x="67825" y="0"/>
                </a:moveTo>
                <a:lnTo>
                  <a:pt x="3391380" y="0"/>
                </a:lnTo>
                <a:cubicBezTo>
                  <a:pt x="3428838" y="0"/>
                  <a:pt x="3459204" y="30366"/>
                  <a:pt x="3459204" y="67825"/>
                </a:cubicBezTo>
                <a:lnTo>
                  <a:pt x="3459204" y="746106"/>
                </a:lnTo>
                <a:cubicBezTo>
                  <a:pt x="3459204" y="783564"/>
                  <a:pt x="3428838" y="813930"/>
                  <a:pt x="3391380" y="813930"/>
                </a:cubicBezTo>
                <a:lnTo>
                  <a:pt x="67825" y="813930"/>
                </a:lnTo>
                <a:cubicBezTo>
                  <a:pt x="30391" y="813930"/>
                  <a:pt x="0" y="783539"/>
                  <a:pt x="0" y="746106"/>
                </a:cubicBezTo>
                <a:lnTo>
                  <a:pt x="0" y="67825"/>
                </a:lnTo>
                <a:cubicBezTo>
                  <a:pt x="0" y="30366"/>
                  <a:pt x="30366" y="0"/>
                  <a:pt x="678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4483930" y="3730515"/>
            <a:ext cx="135655" cy="135655"/>
          </a:xfrm>
          <a:custGeom>
            <a:rect b="b" l="l" r="r" t="t"/>
            <a:pathLst>
              <a:path extrusionOk="0" h="135655" w="135655">
                <a:moveTo>
                  <a:pt x="67828" y="135655"/>
                </a:moveTo>
                <a:cubicBezTo>
                  <a:pt x="105263" y="135655"/>
                  <a:pt x="135655" y="105263"/>
                  <a:pt x="135655" y="67828"/>
                </a:cubicBezTo>
                <a:cubicBezTo>
                  <a:pt x="135655" y="30393"/>
                  <a:pt x="105263" y="0"/>
                  <a:pt x="67828" y="0"/>
                </a:cubicBezTo>
                <a:cubicBezTo>
                  <a:pt x="30393" y="0"/>
                  <a:pt x="0" y="30393"/>
                  <a:pt x="0" y="67828"/>
                </a:cubicBezTo>
                <a:cubicBezTo>
                  <a:pt x="0" y="105263"/>
                  <a:pt x="30393" y="135655"/>
                  <a:pt x="67828" y="135655"/>
                </a:cubicBezTo>
                <a:close/>
                <a:moveTo>
                  <a:pt x="90189" y="56355"/>
                </a:moveTo>
                <a:lnTo>
                  <a:pt x="68993" y="90269"/>
                </a:lnTo>
                <a:cubicBezTo>
                  <a:pt x="67881" y="92044"/>
                  <a:pt x="65973" y="93157"/>
                  <a:pt x="63880" y="93263"/>
                </a:cubicBezTo>
                <a:cubicBezTo>
                  <a:pt x="61787" y="93369"/>
                  <a:pt x="59773" y="92415"/>
                  <a:pt x="58528" y="90719"/>
                </a:cubicBezTo>
                <a:lnTo>
                  <a:pt x="45810" y="73762"/>
                </a:lnTo>
                <a:cubicBezTo>
                  <a:pt x="43690" y="70954"/>
                  <a:pt x="44273" y="66980"/>
                  <a:pt x="47082" y="64860"/>
                </a:cubicBezTo>
                <a:cubicBezTo>
                  <a:pt x="49890" y="62740"/>
                  <a:pt x="53865" y="63323"/>
                  <a:pt x="55984" y="66132"/>
                </a:cubicBezTo>
                <a:lnTo>
                  <a:pt x="63138" y="75670"/>
                </a:lnTo>
                <a:lnTo>
                  <a:pt x="79406" y="49625"/>
                </a:lnTo>
                <a:cubicBezTo>
                  <a:pt x="81261" y="46658"/>
                  <a:pt x="85182" y="45731"/>
                  <a:pt x="88176" y="47612"/>
                </a:cubicBezTo>
                <a:cubicBezTo>
                  <a:pt x="91170" y="49493"/>
                  <a:pt x="92071" y="53388"/>
                  <a:pt x="90189" y="56382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4681823" y="3703386"/>
            <a:ext cx="310869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Response</a:t>
            </a:r>
            <a:endParaRPr b="0" i="0" sz="1600" u="none" cap="none" strike="noStrike"/>
          </a:p>
        </p:txBody>
      </p:sp>
      <p:sp>
        <p:nvSpPr>
          <p:cNvPr id="471" name="Google Shape;471;p12"/>
          <p:cNvSpPr/>
          <p:nvPr/>
        </p:nvSpPr>
        <p:spPr>
          <a:xfrm>
            <a:off x="4466973" y="3940782"/>
            <a:ext cx="3323549" cy="373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H₂ storage sized to cover dust season deficits; conservative battery DoD at 70%</a:t>
            </a:r>
            <a:endParaRPr b="0" i="0" sz="1600" u="none" cap="none" strike="noStrike"/>
          </a:p>
        </p:txBody>
      </p:sp>
      <p:sp>
        <p:nvSpPr>
          <p:cNvPr id="472" name="Google Shape;472;p12"/>
          <p:cNvSpPr/>
          <p:nvPr/>
        </p:nvSpPr>
        <p:spPr>
          <a:xfrm>
            <a:off x="4226186" y="4697058"/>
            <a:ext cx="3737297" cy="2160307"/>
          </a:xfrm>
          <a:custGeom>
            <a:rect b="b" l="l" r="r" t="t"/>
            <a:pathLst>
              <a:path extrusionOk="0" h="2160307" w="3737297">
                <a:moveTo>
                  <a:pt x="67834" y="0"/>
                </a:moveTo>
                <a:lnTo>
                  <a:pt x="3669464" y="0"/>
                </a:lnTo>
                <a:cubicBezTo>
                  <a:pt x="3706927" y="0"/>
                  <a:pt x="3737297" y="30370"/>
                  <a:pt x="3737297" y="67834"/>
                </a:cubicBezTo>
                <a:lnTo>
                  <a:pt x="3737297" y="2092473"/>
                </a:lnTo>
                <a:cubicBezTo>
                  <a:pt x="3737297" y="2129937"/>
                  <a:pt x="3706927" y="2160307"/>
                  <a:pt x="3669464" y="2160307"/>
                </a:cubicBezTo>
                <a:lnTo>
                  <a:pt x="67834" y="2160307"/>
                </a:lnTo>
                <a:cubicBezTo>
                  <a:pt x="30370" y="2160307"/>
                  <a:pt x="0" y="2129937"/>
                  <a:pt x="0" y="2092473"/>
                </a:cubicBezTo>
                <a:lnTo>
                  <a:pt x="0" y="67834"/>
                </a:lnTo>
                <a:cubicBezTo>
                  <a:pt x="0" y="30395"/>
                  <a:pt x="30395" y="0"/>
                  <a:pt x="67834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4365232" y="4853060"/>
            <a:ext cx="254353" cy="203483"/>
          </a:xfrm>
          <a:custGeom>
            <a:rect b="b" l="l" r="r" t="t"/>
            <a:pathLst>
              <a:path extrusionOk="0" h="203483" w="254353">
                <a:moveTo>
                  <a:pt x="127177" y="6359"/>
                </a:moveTo>
                <a:cubicBezTo>
                  <a:pt x="149989" y="6359"/>
                  <a:pt x="168509" y="24879"/>
                  <a:pt x="168509" y="47691"/>
                </a:cubicBezTo>
                <a:cubicBezTo>
                  <a:pt x="168509" y="70503"/>
                  <a:pt x="149989" y="89024"/>
                  <a:pt x="127177" y="89024"/>
                </a:cubicBezTo>
                <a:cubicBezTo>
                  <a:pt x="104365" y="89024"/>
                  <a:pt x="85844" y="70503"/>
                  <a:pt x="85844" y="47691"/>
                </a:cubicBezTo>
                <a:cubicBezTo>
                  <a:pt x="85844" y="24879"/>
                  <a:pt x="104365" y="6359"/>
                  <a:pt x="127177" y="6359"/>
                </a:cubicBezTo>
                <a:close/>
                <a:moveTo>
                  <a:pt x="38153" y="34974"/>
                </a:moveTo>
                <a:cubicBezTo>
                  <a:pt x="53946" y="34974"/>
                  <a:pt x="66768" y="47795"/>
                  <a:pt x="66768" y="63588"/>
                </a:cubicBezTo>
                <a:cubicBezTo>
                  <a:pt x="66768" y="79381"/>
                  <a:pt x="53946" y="92203"/>
                  <a:pt x="38153" y="92203"/>
                </a:cubicBezTo>
                <a:cubicBezTo>
                  <a:pt x="22360" y="92203"/>
                  <a:pt x="9538" y="79381"/>
                  <a:pt x="9538" y="63588"/>
                </a:cubicBezTo>
                <a:cubicBezTo>
                  <a:pt x="9538" y="47795"/>
                  <a:pt x="22360" y="34974"/>
                  <a:pt x="38153" y="34974"/>
                </a:cubicBezTo>
                <a:close/>
                <a:moveTo>
                  <a:pt x="0" y="165330"/>
                </a:moveTo>
                <a:cubicBezTo>
                  <a:pt x="0" y="137232"/>
                  <a:pt x="22773" y="114459"/>
                  <a:pt x="50871" y="114459"/>
                </a:cubicBezTo>
                <a:cubicBezTo>
                  <a:pt x="55958" y="114459"/>
                  <a:pt x="60886" y="115214"/>
                  <a:pt x="65536" y="116605"/>
                </a:cubicBezTo>
                <a:cubicBezTo>
                  <a:pt x="52460" y="131230"/>
                  <a:pt x="44512" y="150545"/>
                  <a:pt x="44512" y="171688"/>
                </a:cubicBezTo>
                <a:lnTo>
                  <a:pt x="44512" y="178047"/>
                </a:lnTo>
                <a:cubicBezTo>
                  <a:pt x="44512" y="182578"/>
                  <a:pt x="45466" y="186870"/>
                  <a:pt x="47175" y="190765"/>
                </a:cubicBezTo>
                <a:lnTo>
                  <a:pt x="12718" y="190765"/>
                </a:lnTo>
                <a:cubicBezTo>
                  <a:pt x="5683" y="190765"/>
                  <a:pt x="0" y="185082"/>
                  <a:pt x="0" y="178047"/>
                </a:cubicBezTo>
                <a:lnTo>
                  <a:pt x="0" y="165330"/>
                </a:lnTo>
                <a:close/>
                <a:moveTo>
                  <a:pt x="207179" y="190765"/>
                </a:moveTo>
                <a:cubicBezTo>
                  <a:pt x="208888" y="186870"/>
                  <a:pt x="209841" y="182578"/>
                  <a:pt x="209841" y="178047"/>
                </a:cubicBezTo>
                <a:lnTo>
                  <a:pt x="209841" y="171688"/>
                </a:lnTo>
                <a:cubicBezTo>
                  <a:pt x="209841" y="150545"/>
                  <a:pt x="201893" y="131230"/>
                  <a:pt x="188818" y="116605"/>
                </a:cubicBezTo>
                <a:cubicBezTo>
                  <a:pt x="193467" y="115214"/>
                  <a:pt x="198396" y="114459"/>
                  <a:pt x="203483" y="114459"/>
                </a:cubicBezTo>
                <a:cubicBezTo>
                  <a:pt x="231581" y="114459"/>
                  <a:pt x="254353" y="137232"/>
                  <a:pt x="254353" y="165330"/>
                </a:cubicBezTo>
                <a:lnTo>
                  <a:pt x="254353" y="178047"/>
                </a:lnTo>
                <a:cubicBezTo>
                  <a:pt x="254353" y="185082"/>
                  <a:pt x="248670" y="190765"/>
                  <a:pt x="241636" y="190765"/>
                </a:cubicBezTo>
                <a:lnTo>
                  <a:pt x="207179" y="190765"/>
                </a:lnTo>
                <a:close/>
                <a:moveTo>
                  <a:pt x="187586" y="63588"/>
                </a:moveTo>
                <a:cubicBezTo>
                  <a:pt x="187586" y="47795"/>
                  <a:pt x="200407" y="34974"/>
                  <a:pt x="216200" y="34974"/>
                </a:cubicBezTo>
                <a:cubicBezTo>
                  <a:pt x="231993" y="34974"/>
                  <a:pt x="244815" y="47795"/>
                  <a:pt x="244815" y="63588"/>
                </a:cubicBezTo>
                <a:cubicBezTo>
                  <a:pt x="244815" y="79381"/>
                  <a:pt x="231993" y="92203"/>
                  <a:pt x="216200" y="92203"/>
                </a:cubicBezTo>
                <a:cubicBezTo>
                  <a:pt x="200407" y="92203"/>
                  <a:pt x="187586" y="79381"/>
                  <a:pt x="187586" y="63588"/>
                </a:cubicBezTo>
                <a:close/>
                <a:moveTo>
                  <a:pt x="63588" y="171688"/>
                </a:moveTo>
                <a:cubicBezTo>
                  <a:pt x="63588" y="136556"/>
                  <a:pt x="92044" y="108100"/>
                  <a:pt x="127177" y="108100"/>
                </a:cubicBezTo>
                <a:cubicBezTo>
                  <a:pt x="162309" y="108100"/>
                  <a:pt x="190765" y="136556"/>
                  <a:pt x="190765" y="171688"/>
                </a:cubicBezTo>
                <a:lnTo>
                  <a:pt x="190765" y="178047"/>
                </a:lnTo>
                <a:cubicBezTo>
                  <a:pt x="190765" y="185082"/>
                  <a:pt x="185082" y="190765"/>
                  <a:pt x="178047" y="190765"/>
                </a:cubicBezTo>
                <a:lnTo>
                  <a:pt x="76306" y="190765"/>
                </a:lnTo>
                <a:cubicBezTo>
                  <a:pt x="69272" y="190765"/>
                  <a:pt x="63588" y="185082"/>
                  <a:pt x="63588" y="178047"/>
                </a:cubicBezTo>
                <a:lnTo>
                  <a:pt x="63588" y="171688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4721326" y="4836103"/>
            <a:ext cx="1178503" cy="237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Demographics</a:t>
            </a:r>
            <a:endParaRPr b="0" i="0" sz="1600" u="none" cap="none" strike="noStrike"/>
          </a:p>
        </p:txBody>
      </p:sp>
      <p:sp>
        <p:nvSpPr>
          <p:cNvPr id="475" name="Google Shape;475;p12"/>
          <p:cNvSpPr/>
          <p:nvPr/>
        </p:nvSpPr>
        <p:spPr>
          <a:xfrm>
            <a:off x="4365232" y="5175240"/>
            <a:ext cx="3459204" cy="813930"/>
          </a:xfrm>
          <a:custGeom>
            <a:rect b="b" l="l" r="r" t="t"/>
            <a:pathLst>
              <a:path extrusionOk="0" h="813930" w="3459204">
                <a:moveTo>
                  <a:pt x="67825" y="0"/>
                </a:moveTo>
                <a:lnTo>
                  <a:pt x="3391380" y="0"/>
                </a:lnTo>
                <a:cubicBezTo>
                  <a:pt x="3428838" y="0"/>
                  <a:pt x="3459204" y="30366"/>
                  <a:pt x="3459204" y="67825"/>
                </a:cubicBezTo>
                <a:lnTo>
                  <a:pt x="3459204" y="746106"/>
                </a:lnTo>
                <a:cubicBezTo>
                  <a:pt x="3459204" y="783564"/>
                  <a:pt x="3428838" y="813930"/>
                  <a:pt x="3391380" y="813930"/>
                </a:cubicBezTo>
                <a:lnTo>
                  <a:pt x="67825" y="813930"/>
                </a:lnTo>
                <a:cubicBezTo>
                  <a:pt x="30391" y="813930"/>
                  <a:pt x="0" y="783539"/>
                  <a:pt x="0" y="746106"/>
                </a:cubicBezTo>
                <a:lnTo>
                  <a:pt x="0" y="67825"/>
                </a:lnTo>
                <a:cubicBezTo>
                  <a:pt x="0" y="30366"/>
                  <a:pt x="30366" y="0"/>
                  <a:pt x="678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4466973" y="5276982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Anchor Loads</a:t>
            </a:r>
            <a:endParaRPr b="0" i="0" sz="1600" u="none" cap="none" strike="noStrike"/>
          </a:p>
        </p:txBody>
      </p:sp>
      <p:sp>
        <p:nvSpPr>
          <p:cNvPr id="477" name="Google Shape;477;p12"/>
          <p:cNvSpPr/>
          <p:nvPr/>
        </p:nvSpPr>
        <p:spPr>
          <a:xfrm>
            <a:off x="4466973" y="5514378"/>
            <a:ext cx="3323549" cy="373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 facilities, schools, trading centers identified as priority loads</a:t>
            </a:r>
            <a:endParaRPr b="0" i="0" sz="1600" u="none" cap="none" strike="noStrike"/>
          </a:p>
        </p:txBody>
      </p:sp>
      <p:sp>
        <p:nvSpPr>
          <p:cNvPr id="478" name="Google Shape;478;p12"/>
          <p:cNvSpPr/>
          <p:nvPr/>
        </p:nvSpPr>
        <p:spPr>
          <a:xfrm>
            <a:off x="4365232" y="6090912"/>
            <a:ext cx="3459204" cy="627405"/>
          </a:xfrm>
          <a:custGeom>
            <a:rect b="b" l="l" r="r" t="t"/>
            <a:pathLst>
              <a:path extrusionOk="0" h="627405" w="3459204">
                <a:moveTo>
                  <a:pt x="67829" y="0"/>
                </a:moveTo>
                <a:lnTo>
                  <a:pt x="3391376" y="0"/>
                </a:lnTo>
                <a:cubicBezTo>
                  <a:pt x="3428836" y="0"/>
                  <a:pt x="3459204" y="30368"/>
                  <a:pt x="3459204" y="67829"/>
                </a:cubicBezTo>
                <a:lnTo>
                  <a:pt x="3459204" y="559576"/>
                </a:lnTo>
                <a:cubicBezTo>
                  <a:pt x="3459204" y="597037"/>
                  <a:pt x="3428836" y="627405"/>
                  <a:pt x="3391376" y="627405"/>
                </a:cubicBezTo>
                <a:lnTo>
                  <a:pt x="67829" y="627405"/>
                </a:lnTo>
                <a:cubicBezTo>
                  <a:pt x="30368" y="627405"/>
                  <a:pt x="0" y="597037"/>
                  <a:pt x="0" y="559576"/>
                </a:cubicBezTo>
                <a:lnTo>
                  <a:pt x="0" y="67829"/>
                </a:lnTo>
                <a:cubicBezTo>
                  <a:pt x="0" y="30368"/>
                  <a:pt x="30368" y="0"/>
                  <a:pt x="6782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4466973" y="6192653"/>
            <a:ext cx="332354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Population Growth</a:t>
            </a:r>
            <a:endParaRPr b="0" i="0" sz="1600" u="none" cap="none" strike="noStrike"/>
          </a:p>
        </p:txBody>
      </p:sp>
      <p:sp>
        <p:nvSpPr>
          <p:cNvPr id="480" name="Google Shape;480;p12"/>
          <p:cNvSpPr/>
          <p:nvPr/>
        </p:nvSpPr>
        <p:spPr>
          <a:xfrm>
            <a:off x="4466973" y="6430050"/>
            <a:ext cx="3323549" cy="186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2.8%</a:t>
            </a: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annual growth rate (KNBS 2019)</a:t>
            </a:r>
            <a:endParaRPr b="0" i="0" sz="1600" u="none" cap="none" strike="noStrike"/>
          </a:p>
        </p:txBody>
      </p:sp>
      <p:sp>
        <p:nvSpPr>
          <p:cNvPr id="481" name="Google Shape;481;p12"/>
          <p:cNvSpPr/>
          <p:nvPr/>
        </p:nvSpPr>
        <p:spPr>
          <a:xfrm>
            <a:off x="8109948" y="1292115"/>
            <a:ext cx="3737297" cy="4602098"/>
          </a:xfrm>
          <a:custGeom>
            <a:rect b="b" l="l" r="r" t="t"/>
            <a:pathLst>
              <a:path extrusionOk="0" h="4602098" w="3737297">
                <a:moveTo>
                  <a:pt x="67832" y="0"/>
                </a:moveTo>
                <a:lnTo>
                  <a:pt x="3669465" y="0"/>
                </a:lnTo>
                <a:cubicBezTo>
                  <a:pt x="3706928" y="0"/>
                  <a:pt x="3737297" y="30369"/>
                  <a:pt x="3737297" y="67832"/>
                </a:cubicBezTo>
                <a:lnTo>
                  <a:pt x="3737297" y="4534267"/>
                </a:lnTo>
                <a:cubicBezTo>
                  <a:pt x="3737297" y="4571729"/>
                  <a:pt x="3706928" y="4602098"/>
                  <a:pt x="3669465" y="4602098"/>
                </a:cubicBezTo>
                <a:lnTo>
                  <a:pt x="67832" y="4602098"/>
                </a:lnTo>
                <a:cubicBezTo>
                  <a:pt x="30369" y="4602098"/>
                  <a:pt x="0" y="4571729"/>
                  <a:pt x="0" y="4534267"/>
                </a:cubicBezTo>
                <a:lnTo>
                  <a:pt x="0" y="67832"/>
                </a:lnTo>
                <a:cubicBezTo>
                  <a:pt x="0" y="30394"/>
                  <a:pt x="30394" y="0"/>
                  <a:pt x="67832" y="0"/>
                </a:cubicBezTo>
                <a:close/>
              </a:path>
            </a:pathLst>
          </a:custGeom>
          <a:gradFill>
            <a:gsLst>
              <a:gs pos="0">
                <a:srgbClr val="38A169">
                  <a:alpha val="20000"/>
                </a:srgbClr>
              </a:gs>
              <a:gs pos="100000">
                <a:srgbClr val="38A169">
                  <a:alpha val="5098"/>
                </a:srgbClr>
              </a:gs>
            </a:gsLst>
            <a:lin ang="2700000" scaled="0"/>
          </a:gradFill>
          <a:ln cap="flat" cmpd="sng" w="10150">
            <a:solidFill>
              <a:srgbClr val="38A1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8274430" y="1448120"/>
            <a:ext cx="203483" cy="203483"/>
          </a:xfrm>
          <a:custGeom>
            <a:rect b="b" l="l" r="r" t="t"/>
            <a:pathLst>
              <a:path extrusionOk="0" h="203483" w="203483">
                <a:moveTo>
                  <a:pt x="60528" y="23846"/>
                </a:moveTo>
                <a:cubicBezTo>
                  <a:pt x="78889" y="-7949"/>
                  <a:pt x="124792" y="-7949"/>
                  <a:pt x="143153" y="23846"/>
                </a:cubicBezTo>
                <a:lnTo>
                  <a:pt x="157977" y="49519"/>
                </a:lnTo>
                <a:lnTo>
                  <a:pt x="168986" y="43161"/>
                </a:lnTo>
                <a:cubicBezTo>
                  <a:pt x="172324" y="41213"/>
                  <a:pt x="176497" y="41491"/>
                  <a:pt x="179558" y="43836"/>
                </a:cubicBezTo>
                <a:cubicBezTo>
                  <a:pt x="182618" y="46181"/>
                  <a:pt x="183969" y="50155"/>
                  <a:pt x="182975" y="53891"/>
                </a:cubicBezTo>
                <a:lnTo>
                  <a:pt x="173636" y="88626"/>
                </a:lnTo>
                <a:cubicBezTo>
                  <a:pt x="172285" y="93713"/>
                  <a:pt x="167039" y="96734"/>
                  <a:pt x="161951" y="95382"/>
                </a:cubicBezTo>
                <a:lnTo>
                  <a:pt x="127216" y="86083"/>
                </a:lnTo>
                <a:cubicBezTo>
                  <a:pt x="123481" y="85089"/>
                  <a:pt x="120738" y="81949"/>
                  <a:pt x="120222" y="78134"/>
                </a:cubicBezTo>
                <a:cubicBezTo>
                  <a:pt x="119705" y="74319"/>
                  <a:pt x="121573" y="70543"/>
                  <a:pt x="124911" y="68636"/>
                </a:cubicBezTo>
                <a:lnTo>
                  <a:pt x="135920" y="62277"/>
                </a:lnTo>
                <a:lnTo>
                  <a:pt x="121096" y="36603"/>
                </a:lnTo>
                <a:cubicBezTo>
                  <a:pt x="112512" y="21779"/>
                  <a:pt x="91130" y="21779"/>
                  <a:pt x="82546" y="36603"/>
                </a:cubicBezTo>
                <a:lnTo>
                  <a:pt x="80439" y="40220"/>
                </a:lnTo>
                <a:cubicBezTo>
                  <a:pt x="76942" y="46300"/>
                  <a:pt x="69152" y="48367"/>
                  <a:pt x="63072" y="44870"/>
                </a:cubicBezTo>
                <a:cubicBezTo>
                  <a:pt x="56991" y="41372"/>
                  <a:pt x="54924" y="33583"/>
                  <a:pt x="58422" y="27462"/>
                </a:cubicBezTo>
                <a:lnTo>
                  <a:pt x="60528" y="23846"/>
                </a:lnTo>
                <a:close/>
                <a:moveTo>
                  <a:pt x="178723" y="110922"/>
                </a:moveTo>
                <a:cubicBezTo>
                  <a:pt x="184804" y="107425"/>
                  <a:pt x="192593" y="109491"/>
                  <a:pt x="196090" y="115572"/>
                </a:cubicBezTo>
                <a:lnTo>
                  <a:pt x="198197" y="119188"/>
                </a:lnTo>
                <a:cubicBezTo>
                  <a:pt x="216558" y="150983"/>
                  <a:pt x="193626" y="190725"/>
                  <a:pt x="156904" y="190725"/>
                </a:cubicBezTo>
                <a:lnTo>
                  <a:pt x="127256" y="190725"/>
                </a:lnTo>
                <a:lnTo>
                  <a:pt x="127256" y="203443"/>
                </a:lnTo>
                <a:cubicBezTo>
                  <a:pt x="127256" y="207298"/>
                  <a:pt x="124951" y="210795"/>
                  <a:pt x="121374" y="212266"/>
                </a:cubicBezTo>
                <a:cubicBezTo>
                  <a:pt x="117797" y="213736"/>
                  <a:pt x="113704" y="212941"/>
                  <a:pt x="110962" y="210199"/>
                </a:cubicBezTo>
                <a:lnTo>
                  <a:pt x="85526" y="184764"/>
                </a:lnTo>
                <a:cubicBezTo>
                  <a:pt x="81790" y="181028"/>
                  <a:pt x="81790" y="174987"/>
                  <a:pt x="85526" y="171291"/>
                </a:cubicBezTo>
                <a:lnTo>
                  <a:pt x="110962" y="145856"/>
                </a:lnTo>
                <a:cubicBezTo>
                  <a:pt x="113704" y="143113"/>
                  <a:pt x="117797" y="142319"/>
                  <a:pt x="121374" y="143789"/>
                </a:cubicBezTo>
                <a:cubicBezTo>
                  <a:pt x="124951" y="145260"/>
                  <a:pt x="127256" y="148757"/>
                  <a:pt x="127256" y="152612"/>
                </a:cubicBezTo>
                <a:lnTo>
                  <a:pt x="127256" y="165330"/>
                </a:lnTo>
                <a:lnTo>
                  <a:pt x="156904" y="165330"/>
                </a:lnTo>
                <a:cubicBezTo>
                  <a:pt x="174033" y="165330"/>
                  <a:pt x="184764" y="146770"/>
                  <a:pt x="176179" y="131946"/>
                </a:cubicBezTo>
                <a:lnTo>
                  <a:pt x="174073" y="128329"/>
                </a:lnTo>
                <a:cubicBezTo>
                  <a:pt x="170576" y="122249"/>
                  <a:pt x="172642" y="114459"/>
                  <a:pt x="178723" y="110962"/>
                </a:cubicBezTo>
                <a:close/>
                <a:moveTo>
                  <a:pt x="20269" y="93554"/>
                </a:moveTo>
                <a:lnTo>
                  <a:pt x="9260" y="87195"/>
                </a:lnTo>
                <a:cubicBezTo>
                  <a:pt x="5922" y="85248"/>
                  <a:pt x="4054" y="81512"/>
                  <a:pt x="4570" y="77697"/>
                </a:cubicBezTo>
                <a:cubicBezTo>
                  <a:pt x="5087" y="73882"/>
                  <a:pt x="7829" y="70742"/>
                  <a:pt x="11565" y="69748"/>
                </a:cubicBezTo>
                <a:lnTo>
                  <a:pt x="46300" y="60409"/>
                </a:lnTo>
                <a:cubicBezTo>
                  <a:pt x="51387" y="59058"/>
                  <a:pt x="56633" y="62078"/>
                  <a:pt x="57985" y="67165"/>
                </a:cubicBezTo>
                <a:lnTo>
                  <a:pt x="67284" y="101900"/>
                </a:lnTo>
                <a:cubicBezTo>
                  <a:pt x="68278" y="105636"/>
                  <a:pt x="66927" y="109571"/>
                  <a:pt x="63867" y="111955"/>
                </a:cubicBezTo>
                <a:cubicBezTo>
                  <a:pt x="60806" y="114340"/>
                  <a:pt x="56633" y="114578"/>
                  <a:pt x="53295" y="112631"/>
                </a:cubicBezTo>
                <a:lnTo>
                  <a:pt x="42286" y="106272"/>
                </a:lnTo>
                <a:lnTo>
                  <a:pt x="27462" y="131946"/>
                </a:lnTo>
                <a:cubicBezTo>
                  <a:pt x="18878" y="146770"/>
                  <a:pt x="29608" y="165330"/>
                  <a:pt x="46737" y="165330"/>
                </a:cubicBezTo>
                <a:lnTo>
                  <a:pt x="50950" y="165330"/>
                </a:lnTo>
                <a:cubicBezTo>
                  <a:pt x="57985" y="165330"/>
                  <a:pt x="63668" y="171013"/>
                  <a:pt x="63668" y="178047"/>
                </a:cubicBezTo>
                <a:cubicBezTo>
                  <a:pt x="63668" y="185082"/>
                  <a:pt x="57985" y="190765"/>
                  <a:pt x="50950" y="190765"/>
                </a:cubicBezTo>
                <a:lnTo>
                  <a:pt x="46737" y="190765"/>
                </a:lnTo>
                <a:cubicBezTo>
                  <a:pt x="10055" y="190765"/>
                  <a:pt x="-12877" y="151022"/>
                  <a:pt x="5484" y="119228"/>
                </a:cubicBezTo>
                <a:lnTo>
                  <a:pt x="20269" y="93554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8605089" y="1431164"/>
            <a:ext cx="2119611" cy="237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5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Third-Life Battery Logistics</a:t>
            </a:r>
            <a:endParaRPr b="0" i="0" sz="1600" u="none" cap="none" strike="noStrike"/>
          </a:p>
        </p:txBody>
      </p:sp>
      <p:sp>
        <p:nvSpPr>
          <p:cNvPr id="484" name="Google Shape;484;p12"/>
          <p:cNvSpPr/>
          <p:nvPr/>
        </p:nvSpPr>
        <p:spPr>
          <a:xfrm>
            <a:off x="8248994" y="1770301"/>
            <a:ext cx="3459204" cy="813930"/>
          </a:xfrm>
          <a:custGeom>
            <a:rect b="b" l="l" r="r" t="t"/>
            <a:pathLst>
              <a:path extrusionOk="0" h="813930" w="3459204">
                <a:moveTo>
                  <a:pt x="67825" y="0"/>
                </a:moveTo>
                <a:lnTo>
                  <a:pt x="3391380" y="0"/>
                </a:lnTo>
                <a:cubicBezTo>
                  <a:pt x="3428838" y="0"/>
                  <a:pt x="3459204" y="30366"/>
                  <a:pt x="3459204" y="67825"/>
                </a:cubicBezTo>
                <a:lnTo>
                  <a:pt x="3459204" y="746106"/>
                </a:lnTo>
                <a:cubicBezTo>
                  <a:pt x="3459204" y="783564"/>
                  <a:pt x="3428838" y="813930"/>
                  <a:pt x="3391380" y="813930"/>
                </a:cubicBezTo>
                <a:lnTo>
                  <a:pt x="67825" y="813930"/>
                </a:lnTo>
                <a:cubicBezTo>
                  <a:pt x="30391" y="813930"/>
                  <a:pt x="0" y="783539"/>
                  <a:pt x="0" y="746106"/>
                </a:cubicBezTo>
                <a:lnTo>
                  <a:pt x="0" y="67825"/>
                </a:lnTo>
                <a:cubicBezTo>
                  <a:pt x="0" y="30366"/>
                  <a:pt x="30366" y="0"/>
                  <a:pt x="678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8350736" y="1899171"/>
            <a:ext cx="169569" cy="135655"/>
          </a:xfrm>
          <a:custGeom>
            <a:rect b="b" l="l" r="r" t="t"/>
            <a:pathLst>
              <a:path extrusionOk="0" h="135655" w="169569">
                <a:moveTo>
                  <a:pt x="74186" y="4239"/>
                </a:moveTo>
                <a:cubicBezTo>
                  <a:pt x="70663" y="4239"/>
                  <a:pt x="67828" y="7074"/>
                  <a:pt x="67828" y="10598"/>
                </a:cubicBezTo>
                <a:cubicBezTo>
                  <a:pt x="67828" y="14122"/>
                  <a:pt x="70663" y="16957"/>
                  <a:pt x="74186" y="16957"/>
                </a:cubicBezTo>
                <a:lnTo>
                  <a:pt x="89183" y="16957"/>
                </a:lnTo>
                <a:lnTo>
                  <a:pt x="95144" y="29860"/>
                </a:lnTo>
                <a:lnTo>
                  <a:pt x="69947" y="48751"/>
                </a:lnTo>
                <a:cubicBezTo>
                  <a:pt x="61098" y="42101"/>
                  <a:pt x="50076" y="38153"/>
                  <a:pt x="38153" y="38153"/>
                </a:cubicBezTo>
                <a:lnTo>
                  <a:pt x="23316" y="38153"/>
                </a:lnTo>
                <a:cubicBezTo>
                  <a:pt x="19792" y="38153"/>
                  <a:pt x="16957" y="40988"/>
                  <a:pt x="16957" y="44512"/>
                </a:cubicBezTo>
                <a:cubicBezTo>
                  <a:pt x="16957" y="48036"/>
                  <a:pt x="19792" y="50871"/>
                  <a:pt x="23316" y="50871"/>
                </a:cubicBezTo>
                <a:lnTo>
                  <a:pt x="38153" y="50871"/>
                </a:lnTo>
                <a:cubicBezTo>
                  <a:pt x="58952" y="50871"/>
                  <a:pt x="76094" y="66662"/>
                  <a:pt x="78214" y="86904"/>
                </a:cubicBezTo>
                <a:lnTo>
                  <a:pt x="71484" y="86904"/>
                </a:lnTo>
                <a:cubicBezTo>
                  <a:pt x="68516" y="71219"/>
                  <a:pt x="54712" y="59349"/>
                  <a:pt x="38153" y="59349"/>
                </a:cubicBezTo>
                <a:cubicBezTo>
                  <a:pt x="19421" y="59349"/>
                  <a:pt x="4239" y="74531"/>
                  <a:pt x="4239" y="93263"/>
                </a:cubicBezTo>
                <a:cubicBezTo>
                  <a:pt x="4239" y="111995"/>
                  <a:pt x="19421" y="127177"/>
                  <a:pt x="38153" y="127177"/>
                </a:cubicBezTo>
                <a:cubicBezTo>
                  <a:pt x="54712" y="127177"/>
                  <a:pt x="68490" y="115307"/>
                  <a:pt x="71484" y="99622"/>
                </a:cubicBezTo>
                <a:lnTo>
                  <a:pt x="84784" y="99622"/>
                </a:lnTo>
                <a:cubicBezTo>
                  <a:pt x="88308" y="99622"/>
                  <a:pt x="91143" y="96787"/>
                  <a:pt x="91143" y="93263"/>
                </a:cubicBezTo>
                <a:lnTo>
                  <a:pt x="91143" y="87301"/>
                </a:lnTo>
                <a:cubicBezTo>
                  <a:pt x="91143" y="75352"/>
                  <a:pt x="97953" y="64675"/>
                  <a:pt x="108498" y="58766"/>
                </a:cubicBezTo>
                <a:lnTo>
                  <a:pt x="111703" y="65681"/>
                </a:lnTo>
                <a:cubicBezTo>
                  <a:pt x="103119" y="71828"/>
                  <a:pt x="97529" y="81896"/>
                  <a:pt x="97529" y="93263"/>
                </a:cubicBezTo>
                <a:cubicBezTo>
                  <a:pt x="97529" y="111995"/>
                  <a:pt x="112710" y="127177"/>
                  <a:pt x="131442" y="127177"/>
                </a:cubicBezTo>
                <a:cubicBezTo>
                  <a:pt x="150174" y="127177"/>
                  <a:pt x="165356" y="111995"/>
                  <a:pt x="165356" y="93263"/>
                </a:cubicBezTo>
                <a:cubicBezTo>
                  <a:pt x="165356" y="74531"/>
                  <a:pt x="150174" y="59349"/>
                  <a:pt x="131442" y="59349"/>
                </a:cubicBezTo>
                <a:cubicBezTo>
                  <a:pt x="128607" y="59349"/>
                  <a:pt x="125878" y="59694"/>
                  <a:pt x="123255" y="60356"/>
                </a:cubicBezTo>
                <a:lnTo>
                  <a:pt x="114936" y="42392"/>
                </a:lnTo>
                <a:lnTo>
                  <a:pt x="129296" y="42392"/>
                </a:lnTo>
                <a:cubicBezTo>
                  <a:pt x="132820" y="42392"/>
                  <a:pt x="135655" y="39557"/>
                  <a:pt x="135655" y="36033"/>
                </a:cubicBezTo>
                <a:lnTo>
                  <a:pt x="135655" y="23316"/>
                </a:lnTo>
                <a:cubicBezTo>
                  <a:pt x="135655" y="19792"/>
                  <a:pt x="132820" y="16957"/>
                  <a:pt x="129296" y="16957"/>
                </a:cubicBezTo>
                <a:lnTo>
                  <a:pt x="115174" y="16957"/>
                </a:lnTo>
                <a:cubicBezTo>
                  <a:pt x="113346" y="16957"/>
                  <a:pt x="111545" y="17540"/>
                  <a:pt x="110087" y="18653"/>
                </a:cubicBezTo>
                <a:lnTo>
                  <a:pt x="105557" y="22044"/>
                </a:lnTo>
                <a:lnTo>
                  <a:pt x="99039" y="7922"/>
                </a:lnTo>
                <a:cubicBezTo>
                  <a:pt x="98005" y="5670"/>
                  <a:pt x="95753" y="4239"/>
                  <a:pt x="93263" y="4239"/>
                </a:cubicBezTo>
                <a:lnTo>
                  <a:pt x="74186" y="4239"/>
                </a:lnTo>
                <a:close/>
                <a:moveTo>
                  <a:pt x="118115" y="79591"/>
                </a:moveTo>
                <a:lnTo>
                  <a:pt x="125640" y="95912"/>
                </a:lnTo>
                <a:cubicBezTo>
                  <a:pt x="127124" y="99092"/>
                  <a:pt x="130886" y="100496"/>
                  <a:pt x="134065" y="99012"/>
                </a:cubicBezTo>
                <a:cubicBezTo>
                  <a:pt x="137245" y="97529"/>
                  <a:pt x="138649" y="93766"/>
                  <a:pt x="137165" y="90587"/>
                </a:cubicBezTo>
                <a:lnTo>
                  <a:pt x="129614" y="74266"/>
                </a:lnTo>
                <a:cubicBezTo>
                  <a:pt x="130197" y="74213"/>
                  <a:pt x="130780" y="74186"/>
                  <a:pt x="131389" y="74186"/>
                </a:cubicBezTo>
                <a:cubicBezTo>
                  <a:pt x="141934" y="74186"/>
                  <a:pt x="150466" y="82718"/>
                  <a:pt x="150466" y="93263"/>
                </a:cubicBezTo>
                <a:cubicBezTo>
                  <a:pt x="150466" y="103808"/>
                  <a:pt x="141934" y="112339"/>
                  <a:pt x="131389" y="112339"/>
                </a:cubicBezTo>
                <a:cubicBezTo>
                  <a:pt x="120844" y="112339"/>
                  <a:pt x="112313" y="103808"/>
                  <a:pt x="112313" y="93263"/>
                </a:cubicBezTo>
                <a:cubicBezTo>
                  <a:pt x="112313" y="87911"/>
                  <a:pt x="114512" y="83062"/>
                  <a:pt x="118089" y="79591"/>
                </a:cubicBezTo>
                <a:close/>
                <a:moveTo>
                  <a:pt x="38153" y="112339"/>
                </a:moveTo>
                <a:cubicBezTo>
                  <a:pt x="27608" y="112339"/>
                  <a:pt x="19076" y="103808"/>
                  <a:pt x="19076" y="93263"/>
                </a:cubicBezTo>
                <a:cubicBezTo>
                  <a:pt x="19076" y="82718"/>
                  <a:pt x="27608" y="74186"/>
                  <a:pt x="38153" y="74186"/>
                </a:cubicBezTo>
                <a:cubicBezTo>
                  <a:pt x="46446" y="74186"/>
                  <a:pt x="53520" y="79485"/>
                  <a:pt x="56143" y="86904"/>
                </a:cubicBezTo>
                <a:lnTo>
                  <a:pt x="38153" y="86904"/>
                </a:lnTo>
                <a:cubicBezTo>
                  <a:pt x="34629" y="86904"/>
                  <a:pt x="31794" y="89739"/>
                  <a:pt x="31794" y="93263"/>
                </a:cubicBezTo>
                <a:cubicBezTo>
                  <a:pt x="31794" y="96787"/>
                  <a:pt x="34629" y="99622"/>
                  <a:pt x="38153" y="99622"/>
                </a:cubicBezTo>
                <a:lnTo>
                  <a:pt x="56143" y="99622"/>
                </a:lnTo>
                <a:cubicBezTo>
                  <a:pt x="53520" y="107040"/>
                  <a:pt x="46446" y="112339"/>
                  <a:pt x="38153" y="112339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8565586" y="1872043"/>
            <a:ext cx="310869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Spiro Presence</a:t>
            </a:r>
            <a:endParaRPr b="0" i="0" sz="1600" u="none" cap="none" strike="noStrike"/>
          </a:p>
        </p:txBody>
      </p:sp>
      <p:sp>
        <p:nvSpPr>
          <p:cNvPr id="487" name="Google Shape;487;p12"/>
          <p:cNvSpPr/>
          <p:nvPr/>
        </p:nvSpPr>
        <p:spPr>
          <a:xfrm>
            <a:off x="8350736" y="2109439"/>
            <a:ext cx="3323549" cy="373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Operates in </a:t>
            </a: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northern Kenya corridors</a:t>
            </a: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; 80,000+ bikes generates retired battery stream</a:t>
            </a:r>
            <a:endParaRPr b="0" i="0" sz="1600" u="none" cap="none" strike="noStrike"/>
          </a:p>
        </p:txBody>
      </p:sp>
      <p:sp>
        <p:nvSpPr>
          <p:cNvPr id="488" name="Google Shape;488;p12"/>
          <p:cNvSpPr/>
          <p:nvPr/>
        </p:nvSpPr>
        <p:spPr>
          <a:xfrm>
            <a:off x="8248994" y="2685973"/>
            <a:ext cx="3459204" cy="813930"/>
          </a:xfrm>
          <a:custGeom>
            <a:rect b="b" l="l" r="r" t="t"/>
            <a:pathLst>
              <a:path extrusionOk="0" h="813930" w="3459204">
                <a:moveTo>
                  <a:pt x="67825" y="0"/>
                </a:moveTo>
                <a:lnTo>
                  <a:pt x="3391380" y="0"/>
                </a:lnTo>
                <a:cubicBezTo>
                  <a:pt x="3428838" y="0"/>
                  <a:pt x="3459204" y="30366"/>
                  <a:pt x="3459204" y="67825"/>
                </a:cubicBezTo>
                <a:lnTo>
                  <a:pt x="3459204" y="746106"/>
                </a:lnTo>
                <a:cubicBezTo>
                  <a:pt x="3459204" y="783564"/>
                  <a:pt x="3428838" y="813930"/>
                  <a:pt x="3391380" y="813930"/>
                </a:cubicBezTo>
                <a:lnTo>
                  <a:pt x="67825" y="813930"/>
                </a:lnTo>
                <a:cubicBezTo>
                  <a:pt x="30391" y="813930"/>
                  <a:pt x="0" y="783539"/>
                  <a:pt x="0" y="746106"/>
                </a:cubicBezTo>
                <a:lnTo>
                  <a:pt x="0" y="67825"/>
                </a:lnTo>
                <a:cubicBezTo>
                  <a:pt x="0" y="30366"/>
                  <a:pt x="30366" y="0"/>
                  <a:pt x="67825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8376171" y="2814843"/>
            <a:ext cx="118698" cy="135655"/>
          </a:xfrm>
          <a:custGeom>
            <a:rect b="b" l="l" r="r" t="t"/>
            <a:pathLst>
              <a:path extrusionOk="0" h="135655" w="118698">
                <a:moveTo>
                  <a:pt x="25435" y="0"/>
                </a:moveTo>
                <a:cubicBezTo>
                  <a:pt x="11393" y="0"/>
                  <a:pt x="0" y="11393"/>
                  <a:pt x="0" y="25435"/>
                </a:cubicBezTo>
                <a:lnTo>
                  <a:pt x="0" y="101741"/>
                </a:lnTo>
                <a:cubicBezTo>
                  <a:pt x="0" y="109637"/>
                  <a:pt x="5405" y="116287"/>
                  <a:pt x="12718" y="118168"/>
                </a:cubicBezTo>
                <a:lnTo>
                  <a:pt x="12718" y="127177"/>
                </a:lnTo>
                <a:cubicBezTo>
                  <a:pt x="12718" y="131866"/>
                  <a:pt x="16506" y="135655"/>
                  <a:pt x="21196" y="135655"/>
                </a:cubicBezTo>
                <a:lnTo>
                  <a:pt x="25435" y="135655"/>
                </a:lnTo>
                <a:cubicBezTo>
                  <a:pt x="30125" y="135655"/>
                  <a:pt x="33914" y="131866"/>
                  <a:pt x="33914" y="127177"/>
                </a:cubicBezTo>
                <a:lnTo>
                  <a:pt x="33914" y="118698"/>
                </a:lnTo>
                <a:lnTo>
                  <a:pt x="84784" y="118698"/>
                </a:lnTo>
                <a:lnTo>
                  <a:pt x="84784" y="127177"/>
                </a:lnTo>
                <a:cubicBezTo>
                  <a:pt x="84784" y="131866"/>
                  <a:pt x="88573" y="135655"/>
                  <a:pt x="93263" y="135655"/>
                </a:cubicBezTo>
                <a:lnTo>
                  <a:pt x="97502" y="135655"/>
                </a:lnTo>
                <a:cubicBezTo>
                  <a:pt x="102192" y="135655"/>
                  <a:pt x="105981" y="131866"/>
                  <a:pt x="105981" y="127177"/>
                </a:cubicBezTo>
                <a:lnTo>
                  <a:pt x="105981" y="118168"/>
                </a:lnTo>
                <a:cubicBezTo>
                  <a:pt x="113293" y="116287"/>
                  <a:pt x="118698" y="109637"/>
                  <a:pt x="118698" y="101741"/>
                </a:cubicBezTo>
                <a:lnTo>
                  <a:pt x="118698" y="25435"/>
                </a:lnTo>
                <a:cubicBezTo>
                  <a:pt x="118698" y="11393"/>
                  <a:pt x="107305" y="0"/>
                  <a:pt x="93263" y="0"/>
                </a:cubicBezTo>
                <a:lnTo>
                  <a:pt x="25435" y="0"/>
                </a:lnTo>
                <a:close/>
                <a:moveTo>
                  <a:pt x="16957" y="46631"/>
                </a:moveTo>
                <a:cubicBezTo>
                  <a:pt x="16957" y="41942"/>
                  <a:pt x="20746" y="38153"/>
                  <a:pt x="25435" y="38153"/>
                </a:cubicBezTo>
                <a:lnTo>
                  <a:pt x="52990" y="38153"/>
                </a:lnTo>
                <a:lnTo>
                  <a:pt x="52990" y="67828"/>
                </a:lnTo>
                <a:lnTo>
                  <a:pt x="25435" y="67828"/>
                </a:lnTo>
                <a:cubicBezTo>
                  <a:pt x="20746" y="67828"/>
                  <a:pt x="16957" y="64039"/>
                  <a:pt x="16957" y="59349"/>
                </a:cubicBezTo>
                <a:lnTo>
                  <a:pt x="16957" y="46631"/>
                </a:lnTo>
                <a:close/>
                <a:moveTo>
                  <a:pt x="65708" y="67828"/>
                </a:moveTo>
                <a:lnTo>
                  <a:pt x="65708" y="38153"/>
                </a:lnTo>
                <a:lnTo>
                  <a:pt x="93263" y="38153"/>
                </a:lnTo>
                <a:cubicBezTo>
                  <a:pt x="97953" y="38153"/>
                  <a:pt x="101741" y="41942"/>
                  <a:pt x="101741" y="46631"/>
                </a:cubicBezTo>
                <a:lnTo>
                  <a:pt x="101741" y="59349"/>
                </a:lnTo>
                <a:cubicBezTo>
                  <a:pt x="101741" y="64039"/>
                  <a:pt x="97953" y="67828"/>
                  <a:pt x="93263" y="67828"/>
                </a:cubicBezTo>
                <a:lnTo>
                  <a:pt x="65708" y="67828"/>
                </a:lnTo>
                <a:close/>
                <a:moveTo>
                  <a:pt x="25435" y="84784"/>
                </a:moveTo>
                <a:cubicBezTo>
                  <a:pt x="30115" y="84784"/>
                  <a:pt x="33914" y="88583"/>
                  <a:pt x="33914" y="93263"/>
                </a:cubicBezTo>
                <a:cubicBezTo>
                  <a:pt x="33914" y="97942"/>
                  <a:pt x="30115" y="101741"/>
                  <a:pt x="25435" y="101741"/>
                </a:cubicBezTo>
                <a:cubicBezTo>
                  <a:pt x="20756" y="101741"/>
                  <a:pt x="16957" y="97942"/>
                  <a:pt x="16957" y="93263"/>
                </a:cubicBezTo>
                <a:cubicBezTo>
                  <a:pt x="16957" y="88583"/>
                  <a:pt x="20756" y="84784"/>
                  <a:pt x="25435" y="84784"/>
                </a:cubicBezTo>
                <a:close/>
                <a:moveTo>
                  <a:pt x="93263" y="84784"/>
                </a:moveTo>
                <a:cubicBezTo>
                  <a:pt x="97942" y="84784"/>
                  <a:pt x="101741" y="88583"/>
                  <a:pt x="101741" y="93263"/>
                </a:cubicBezTo>
                <a:cubicBezTo>
                  <a:pt x="101741" y="97942"/>
                  <a:pt x="97942" y="101741"/>
                  <a:pt x="93263" y="101741"/>
                </a:cubicBezTo>
                <a:cubicBezTo>
                  <a:pt x="88583" y="101741"/>
                  <a:pt x="84784" y="97942"/>
                  <a:pt x="84784" y="93263"/>
                </a:cubicBezTo>
                <a:cubicBezTo>
                  <a:pt x="84784" y="88583"/>
                  <a:pt x="88583" y="84784"/>
                  <a:pt x="93263" y="84784"/>
                </a:cubicBezTo>
                <a:close/>
                <a:moveTo>
                  <a:pt x="40273" y="19076"/>
                </a:moveTo>
                <a:cubicBezTo>
                  <a:pt x="40273" y="15553"/>
                  <a:pt x="43108" y="12718"/>
                  <a:pt x="46631" y="12718"/>
                </a:cubicBezTo>
                <a:lnTo>
                  <a:pt x="72067" y="12718"/>
                </a:lnTo>
                <a:cubicBezTo>
                  <a:pt x="75591" y="12718"/>
                  <a:pt x="78426" y="15553"/>
                  <a:pt x="78426" y="19076"/>
                </a:cubicBezTo>
                <a:cubicBezTo>
                  <a:pt x="78426" y="22600"/>
                  <a:pt x="75591" y="25435"/>
                  <a:pt x="72067" y="25435"/>
                </a:cubicBezTo>
                <a:lnTo>
                  <a:pt x="46631" y="25435"/>
                </a:lnTo>
                <a:cubicBezTo>
                  <a:pt x="43108" y="25435"/>
                  <a:pt x="40273" y="22600"/>
                  <a:pt x="40273" y="19076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8565586" y="2787714"/>
            <a:ext cx="3108699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Roam Electric</a:t>
            </a:r>
            <a:endParaRPr b="0" i="0" sz="1600" u="none" cap="none" strike="noStrike"/>
          </a:p>
        </p:txBody>
      </p:sp>
      <p:sp>
        <p:nvSpPr>
          <p:cNvPr id="491" name="Google Shape;491;p12"/>
          <p:cNvSpPr/>
          <p:nvPr/>
        </p:nvSpPr>
        <p:spPr>
          <a:xfrm>
            <a:off x="8350736" y="3025111"/>
            <a:ext cx="3323549" cy="373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Nairobi base</a:t>
            </a: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 expanding reach; actively working on battery repurposing</a:t>
            </a:r>
            <a:endParaRPr b="0" i="0" sz="1600" u="none" cap="none" strike="noStrike"/>
          </a:p>
        </p:txBody>
      </p:sp>
      <p:sp>
        <p:nvSpPr>
          <p:cNvPr id="492" name="Google Shape;492;p12"/>
          <p:cNvSpPr/>
          <p:nvPr/>
        </p:nvSpPr>
        <p:spPr>
          <a:xfrm>
            <a:off x="8252386" y="3605036"/>
            <a:ext cx="3457509" cy="820713"/>
          </a:xfrm>
          <a:custGeom>
            <a:rect b="b" l="l" r="r" t="t"/>
            <a:pathLst>
              <a:path extrusionOk="0" h="820713" w="3457509">
                <a:moveTo>
                  <a:pt x="67824" y="0"/>
                </a:moveTo>
                <a:lnTo>
                  <a:pt x="3389685" y="0"/>
                </a:lnTo>
                <a:cubicBezTo>
                  <a:pt x="3427143" y="0"/>
                  <a:pt x="3457509" y="30366"/>
                  <a:pt x="3457509" y="67824"/>
                </a:cubicBezTo>
                <a:lnTo>
                  <a:pt x="3457509" y="752889"/>
                </a:lnTo>
                <a:cubicBezTo>
                  <a:pt x="3457509" y="790347"/>
                  <a:pt x="3427143" y="820713"/>
                  <a:pt x="3389685" y="820713"/>
                </a:cubicBezTo>
                <a:lnTo>
                  <a:pt x="67824" y="820713"/>
                </a:lnTo>
                <a:cubicBezTo>
                  <a:pt x="30366" y="820713"/>
                  <a:pt x="0" y="790347"/>
                  <a:pt x="0" y="752889"/>
                </a:cubicBezTo>
                <a:lnTo>
                  <a:pt x="0" y="67824"/>
                </a:lnTo>
                <a:cubicBezTo>
                  <a:pt x="0" y="30366"/>
                  <a:pt x="30366" y="0"/>
                  <a:pt x="67824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 cap="flat" cmpd="sng" w="10150">
            <a:solidFill>
              <a:srgbClr val="D69E2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8365997" y="3737300"/>
            <a:ext cx="152612" cy="135655"/>
          </a:xfrm>
          <a:custGeom>
            <a:rect b="b" l="l" r="r" t="t"/>
            <a:pathLst>
              <a:path extrusionOk="0" h="135655" w="152612">
                <a:moveTo>
                  <a:pt x="71245" y="22574"/>
                </a:moveTo>
                <a:lnTo>
                  <a:pt x="40352" y="56912"/>
                </a:lnTo>
                <a:cubicBezTo>
                  <a:pt x="39133" y="58263"/>
                  <a:pt x="39186" y="60356"/>
                  <a:pt x="40485" y="61654"/>
                </a:cubicBezTo>
                <a:cubicBezTo>
                  <a:pt x="48566" y="69735"/>
                  <a:pt x="61681" y="69735"/>
                  <a:pt x="69762" y="61654"/>
                </a:cubicBezTo>
                <a:lnTo>
                  <a:pt x="78187" y="53229"/>
                </a:lnTo>
                <a:cubicBezTo>
                  <a:pt x="79300" y="52116"/>
                  <a:pt x="80704" y="51507"/>
                  <a:pt x="82135" y="51401"/>
                </a:cubicBezTo>
                <a:cubicBezTo>
                  <a:pt x="83937" y="51242"/>
                  <a:pt x="85791" y="51851"/>
                  <a:pt x="87169" y="53229"/>
                </a:cubicBezTo>
                <a:lnTo>
                  <a:pt x="133959" y="99622"/>
                </a:lnTo>
                <a:lnTo>
                  <a:pt x="152612" y="84784"/>
                </a:lnTo>
                <a:lnTo>
                  <a:pt x="152612" y="8478"/>
                </a:lnTo>
                <a:lnTo>
                  <a:pt x="122937" y="25435"/>
                </a:lnTo>
                <a:lnTo>
                  <a:pt x="116632" y="21223"/>
                </a:lnTo>
                <a:cubicBezTo>
                  <a:pt x="112445" y="18441"/>
                  <a:pt x="107544" y="16957"/>
                  <a:pt x="102510" y="16957"/>
                </a:cubicBezTo>
                <a:lnTo>
                  <a:pt x="83857" y="16957"/>
                </a:lnTo>
                <a:cubicBezTo>
                  <a:pt x="83566" y="16957"/>
                  <a:pt x="83248" y="16957"/>
                  <a:pt x="82956" y="16983"/>
                </a:cubicBezTo>
                <a:cubicBezTo>
                  <a:pt x="78479" y="17222"/>
                  <a:pt x="74266" y="19235"/>
                  <a:pt x="71245" y="22574"/>
                </a:cubicBezTo>
                <a:close/>
                <a:moveTo>
                  <a:pt x="30893" y="48407"/>
                </a:moveTo>
                <a:lnTo>
                  <a:pt x="59190" y="16957"/>
                </a:lnTo>
                <a:lnTo>
                  <a:pt x="48698" y="16957"/>
                </a:lnTo>
                <a:cubicBezTo>
                  <a:pt x="41942" y="16957"/>
                  <a:pt x="35477" y="19633"/>
                  <a:pt x="30708" y="24402"/>
                </a:cubicBezTo>
                <a:lnTo>
                  <a:pt x="29675" y="25435"/>
                </a:lnTo>
                <a:lnTo>
                  <a:pt x="0" y="8478"/>
                </a:lnTo>
                <a:lnTo>
                  <a:pt x="0" y="84784"/>
                </a:lnTo>
                <a:lnTo>
                  <a:pt x="41438" y="119308"/>
                </a:lnTo>
                <a:cubicBezTo>
                  <a:pt x="47532" y="124395"/>
                  <a:pt x="55216" y="127177"/>
                  <a:pt x="63138" y="127177"/>
                </a:cubicBezTo>
                <a:lnTo>
                  <a:pt x="67298" y="127177"/>
                </a:lnTo>
                <a:lnTo>
                  <a:pt x="65443" y="125322"/>
                </a:lnTo>
                <a:cubicBezTo>
                  <a:pt x="62952" y="122831"/>
                  <a:pt x="62952" y="118804"/>
                  <a:pt x="65443" y="116340"/>
                </a:cubicBezTo>
                <a:cubicBezTo>
                  <a:pt x="67934" y="113876"/>
                  <a:pt x="71961" y="113850"/>
                  <a:pt x="74425" y="116340"/>
                </a:cubicBezTo>
                <a:lnTo>
                  <a:pt x="85288" y="127203"/>
                </a:lnTo>
                <a:lnTo>
                  <a:pt x="87672" y="127203"/>
                </a:lnTo>
                <a:cubicBezTo>
                  <a:pt x="92733" y="127203"/>
                  <a:pt x="97688" y="126064"/>
                  <a:pt x="102192" y="123944"/>
                </a:cubicBezTo>
                <a:lnTo>
                  <a:pt x="95118" y="116844"/>
                </a:lnTo>
                <a:cubicBezTo>
                  <a:pt x="92627" y="114353"/>
                  <a:pt x="92627" y="110326"/>
                  <a:pt x="95118" y="107862"/>
                </a:cubicBezTo>
                <a:cubicBezTo>
                  <a:pt x="97608" y="105398"/>
                  <a:pt x="101635" y="105371"/>
                  <a:pt x="104099" y="107862"/>
                </a:cubicBezTo>
                <a:lnTo>
                  <a:pt x="112578" y="116340"/>
                </a:lnTo>
                <a:lnTo>
                  <a:pt x="117214" y="111703"/>
                </a:lnTo>
                <a:cubicBezTo>
                  <a:pt x="119573" y="109345"/>
                  <a:pt x="120261" y="105928"/>
                  <a:pt x="119228" y="102934"/>
                </a:cubicBezTo>
                <a:lnTo>
                  <a:pt x="82691" y="66688"/>
                </a:lnTo>
                <a:lnTo>
                  <a:pt x="78744" y="70636"/>
                </a:lnTo>
                <a:cubicBezTo>
                  <a:pt x="65681" y="83698"/>
                  <a:pt x="44538" y="83698"/>
                  <a:pt x="31476" y="70636"/>
                </a:cubicBezTo>
                <a:cubicBezTo>
                  <a:pt x="25382" y="64542"/>
                  <a:pt x="25144" y="54765"/>
                  <a:pt x="30893" y="4838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8572368" y="3710167"/>
            <a:ext cx="3100221" cy="203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Partnership Status</a:t>
            </a:r>
            <a:endParaRPr b="0" i="0" sz="1600" u="none" cap="none" strike="noStrike"/>
          </a:p>
        </p:txBody>
      </p:sp>
      <p:sp>
        <p:nvSpPr>
          <p:cNvPr id="495" name="Google Shape;495;p12"/>
          <p:cNvSpPr/>
          <p:nvPr/>
        </p:nvSpPr>
        <p:spPr>
          <a:xfrm>
            <a:off x="8357518" y="3947564"/>
            <a:ext cx="3315071" cy="373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Supply chain </a:t>
            </a: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feasible but needs formal confirmation</a:t>
            </a: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a project deliverable</a:t>
            </a:r>
            <a:endParaRPr b="0" i="0" sz="1600" u="none" cap="none" strike="noStrike"/>
          </a:p>
        </p:txBody>
      </p:sp>
      <p:sp>
        <p:nvSpPr>
          <p:cNvPr id="496" name="Google Shape;496;p12"/>
          <p:cNvSpPr/>
          <p:nvPr/>
        </p:nvSpPr>
        <p:spPr>
          <a:xfrm>
            <a:off x="8123514" y="6029870"/>
            <a:ext cx="3730515" cy="830887"/>
          </a:xfrm>
          <a:custGeom>
            <a:rect b="b" l="l" r="r" t="t"/>
            <a:pathLst>
              <a:path extrusionOk="0" h="830887" w="3730515">
                <a:moveTo>
                  <a:pt x="33914" y="0"/>
                </a:moveTo>
                <a:lnTo>
                  <a:pt x="3662689" y="0"/>
                </a:lnTo>
                <a:cubicBezTo>
                  <a:pt x="3700148" y="0"/>
                  <a:pt x="3730515" y="30366"/>
                  <a:pt x="3730515" y="67825"/>
                </a:cubicBezTo>
                <a:lnTo>
                  <a:pt x="3730515" y="763062"/>
                </a:lnTo>
                <a:cubicBezTo>
                  <a:pt x="3730515" y="800521"/>
                  <a:pt x="3700148" y="830887"/>
                  <a:pt x="3662689" y="830887"/>
                </a:cubicBezTo>
                <a:lnTo>
                  <a:pt x="33914" y="830887"/>
                </a:lnTo>
                <a:cubicBezTo>
                  <a:pt x="15184" y="830887"/>
                  <a:pt x="0" y="815704"/>
                  <a:pt x="0" y="796974"/>
                </a:cubicBezTo>
                <a:lnTo>
                  <a:pt x="0" y="33914"/>
                </a:lnTo>
                <a:cubicBezTo>
                  <a:pt x="0" y="15196"/>
                  <a:pt x="15196" y="0"/>
                  <a:pt x="33914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8123514" y="6029870"/>
            <a:ext cx="33914" cy="830887"/>
          </a:xfrm>
          <a:custGeom>
            <a:rect b="b" l="l" r="r" t="t"/>
            <a:pathLst>
              <a:path extrusionOk="0" h="830887" w="33914">
                <a:moveTo>
                  <a:pt x="33914" y="0"/>
                </a:moveTo>
                <a:lnTo>
                  <a:pt x="33914" y="0"/>
                </a:lnTo>
                <a:lnTo>
                  <a:pt x="33914" y="830887"/>
                </a:lnTo>
                <a:lnTo>
                  <a:pt x="33914" y="830887"/>
                </a:lnTo>
                <a:cubicBezTo>
                  <a:pt x="15184" y="830887"/>
                  <a:pt x="0" y="815704"/>
                  <a:pt x="0" y="796974"/>
                </a:cubicBezTo>
                <a:lnTo>
                  <a:pt x="0" y="33914"/>
                </a:lnTo>
                <a:cubicBezTo>
                  <a:pt x="0" y="15184"/>
                  <a:pt x="15184" y="0"/>
                  <a:pt x="33914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8293082" y="6179091"/>
            <a:ext cx="135655" cy="135655"/>
          </a:xfrm>
          <a:custGeom>
            <a:rect b="b" l="l" r="r" t="t"/>
            <a:pathLst>
              <a:path extrusionOk="0" h="135655" w="135655">
                <a:moveTo>
                  <a:pt x="67828" y="135655"/>
                </a:moveTo>
                <a:cubicBezTo>
                  <a:pt x="105263" y="135655"/>
                  <a:pt x="135655" y="105263"/>
                  <a:pt x="135655" y="67828"/>
                </a:cubicBezTo>
                <a:cubicBezTo>
                  <a:pt x="135655" y="30393"/>
                  <a:pt x="105263" y="0"/>
                  <a:pt x="67828" y="0"/>
                </a:cubicBezTo>
                <a:cubicBezTo>
                  <a:pt x="30393" y="0"/>
                  <a:pt x="0" y="30393"/>
                  <a:pt x="0" y="67828"/>
                </a:cubicBezTo>
                <a:cubicBezTo>
                  <a:pt x="0" y="105263"/>
                  <a:pt x="30393" y="135655"/>
                  <a:pt x="67828" y="135655"/>
                </a:cubicBezTo>
                <a:close/>
                <a:moveTo>
                  <a:pt x="59349" y="42392"/>
                </a:moveTo>
                <a:cubicBezTo>
                  <a:pt x="59349" y="37713"/>
                  <a:pt x="63148" y="33914"/>
                  <a:pt x="67828" y="33914"/>
                </a:cubicBezTo>
                <a:cubicBezTo>
                  <a:pt x="72507" y="33914"/>
                  <a:pt x="76306" y="37713"/>
                  <a:pt x="76306" y="42392"/>
                </a:cubicBezTo>
                <a:cubicBezTo>
                  <a:pt x="76306" y="47072"/>
                  <a:pt x="72507" y="50871"/>
                  <a:pt x="67828" y="50871"/>
                </a:cubicBezTo>
                <a:cubicBezTo>
                  <a:pt x="63148" y="50871"/>
                  <a:pt x="59349" y="47072"/>
                  <a:pt x="59349" y="42392"/>
                </a:cubicBezTo>
                <a:close/>
                <a:moveTo>
                  <a:pt x="57229" y="59349"/>
                </a:moveTo>
                <a:lnTo>
                  <a:pt x="69947" y="59349"/>
                </a:lnTo>
                <a:cubicBezTo>
                  <a:pt x="73471" y="59349"/>
                  <a:pt x="76306" y="62184"/>
                  <a:pt x="76306" y="65708"/>
                </a:cubicBezTo>
                <a:lnTo>
                  <a:pt x="76306" y="89024"/>
                </a:lnTo>
                <a:lnTo>
                  <a:pt x="78426" y="89024"/>
                </a:lnTo>
                <a:cubicBezTo>
                  <a:pt x="81949" y="89024"/>
                  <a:pt x="84784" y="91859"/>
                  <a:pt x="84784" y="95382"/>
                </a:cubicBezTo>
                <a:cubicBezTo>
                  <a:pt x="84784" y="98906"/>
                  <a:pt x="81949" y="101741"/>
                  <a:pt x="78426" y="101741"/>
                </a:cubicBezTo>
                <a:lnTo>
                  <a:pt x="57229" y="101741"/>
                </a:lnTo>
                <a:cubicBezTo>
                  <a:pt x="53706" y="101741"/>
                  <a:pt x="50871" y="98906"/>
                  <a:pt x="50871" y="95382"/>
                </a:cubicBezTo>
                <a:cubicBezTo>
                  <a:pt x="50871" y="91859"/>
                  <a:pt x="53706" y="89024"/>
                  <a:pt x="57229" y="89024"/>
                </a:cubicBezTo>
                <a:lnTo>
                  <a:pt x="63588" y="89024"/>
                </a:lnTo>
                <a:lnTo>
                  <a:pt x="63588" y="72067"/>
                </a:lnTo>
                <a:lnTo>
                  <a:pt x="57229" y="72067"/>
                </a:lnTo>
                <a:cubicBezTo>
                  <a:pt x="53706" y="72067"/>
                  <a:pt x="50871" y="69232"/>
                  <a:pt x="50871" y="65708"/>
                </a:cubicBezTo>
                <a:cubicBezTo>
                  <a:pt x="50871" y="62184"/>
                  <a:pt x="53706" y="59349"/>
                  <a:pt x="57229" y="59349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8490976" y="6165525"/>
            <a:ext cx="3295225" cy="559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Confidence:</a:t>
            </a:r>
            <a:r>
              <a:rPr b="0" i="0" lang="en-US" sz="1068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All parameters confirmed through authoritative sources (NASA POWER, Global Wind Atlas, KNBS census, Isiolo CIDP)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3"/>
          <p:cNvSpPr/>
          <p:nvPr/>
        </p:nvSpPr>
        <p:spPr>
          <a:xfrm>
            <a:off x="317500" y="412750"/>
            <a:ext cx="47625" cy="317500"/>
          </a:xfrm>
          <a:custGeom>
            <a:rect b="b" l="l" r="r" t="t"/>
            <a:pathLst>
              <a:path extrusionOk="0" h="317500" w="47625">
                <a:moveTo>
                  <a:pt x="0" y="0"/>
                </a:moveTo>
                <a:lnTo>
                  <a:pt x="47625" y="0"/>
                </a:lnTo>
                <a:lnTo>
                  <a:pt x="47625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</p:sp>
      <p:sp>
        <p:nvSpPr>
          <p:cNvPr id="506" name="Google Shape;506;p13"/>
          <p:cNvSpPr/>
          <p:nvPr/>
        </p:nvSpPr>
        <p:spPr>
          <a:xfrm>
            <a:off x="460375" y="317500"/>
            <a:ext cx="31353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SECTION 06</a:t>
            </a:r>
            <a:endParaRPr b="0" i="0" sz="1600" u="none" cap="none" strike="noStrike"/>
          </a:p>
        </p:txBody>
      </p:sp>
      <p:sp>
        <p:nvSpPr>
          <p:cNvPr id="507" name="Google Shape;507;p13"/>
          <p:cNvSpPr/>
          <p:nvPr/>
        </p:nvSpPr>
        <p:spPr>
          <a:xfrm>
            <a:off x="460375" y="508000"/>
            <a:ext cx="3214688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Critical Knowledge Gaps</a:t>
            </a:r>
            <a:endParaRPr b="0" i="0" sz="1600" u="none" cap="none" strike="noStrike"/>
          </a:p>
        </p:txBody>
      </p:sp>
      <p:sp>
        <p:nvSpPr>
          <p:cNvPr id="508" name="Google Shape;508;p13"/>
          <p:cNvSpPr/>
          <p:nvPr/>
        </p:nvSpPr>
        <p:spPr>
          <a:xfrm>
            <a:off x="476250" y="889000"/>
            <a:ext cx="1146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we don't yet know — and how the questionnaire addresses each gap</a:t>
            </a:r>
            <a:endParaRPr b="0" i="0" sz="1600" u="none" cap="none" strike="noStrike"/>
          </a:p>
        </p:txBody>
      </p:sp>
      <p:sp>
        <p:nvSpPr>
          <p:cNvPr id="509" name="Google Shape;509;p13"/>
          <p:cNvSpPr/>
          <p:nvPr/>
        </p:nvSpPr>
        <p:spPr>
          <a:xfrm>
            <a:off x="320675" y="1209675"/>
            <a:ext cx="5705475" cy="1816100"/>
          </a:xfrm>
          <a:custGeom>
            <a:rect b="b" l="l" r="r" t="t"/>
            <a:pathLst>
              <a:path extrusionOk="0" h="1816100" w="5705475">
                <a:moveTo>
                  <a:pt x="63509" y="0"/>
                </a:moveTo>
                <a:lnTo>
                  <a:pt x="5641966" y="0"/>
                </a:lnTo>
                <a:cubicBezTo>
                  <a:pt x="5677041" y="0"/>
                  <a:pt x="5705475" y="28434"/>
                  <a:pt x="5705475" y="63509"/>
                </a:cubicBezTo>
                <a:lnTo>
                  <a:pt x="5705475" y="1752591"/>
                </a:lnTo>
                <a:cubicBezTo>
                  <a:pt x="5705475" y="1787666"/>
                  <a:pt x="5677041" y="1816100"/>
                  <a:pt x="5641966" y="1816100"/>
                </a:cubicBezTo>
                <a:lnTo>
                  <a:pt x="63509" y="1816100"/>
                </a:lnTo>
                <a:cubicBezTo>
                  <a:pt x="28434" y="1816100"/>
                  <a:pt x="0" y="1787666"/>
                  <a:pt x="0" y="1752591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480616" y="1371602"/>
            <a:ext cx="138906" cy="158750"/>
          </a:xfrm>
          <a:custGeom>
            <a:rect b="b" l="l" r="r" t="t"/>
            <a:pathLst>
              <a:path extrusionOk="0" h="158750" w="138906">
                <a:moveTo>
                  <a:pt x="105048" y="-3070"/>
                </a:moveTo>
                <a:cubicBezTo>
                  <a:pt x="108738" y="-403"/>
                  <a:pt x="110102" y="4434"/>
                  <a:pt x="108427" y="8651"/>
                </a:cubicBezTo>
                <a:lnTo>
                  <a:pt x="84119" y="69453"/>
                </a:lnTo>
                <a:lnTo>
                  <a:pt x="128984" y="69453"/>
                </a:lnTo>
                <a:cubicBezTo>
                  <a:pt x="133170" y="69453"/>
                  <a:pt x="136891" y="72058"/>
                  <a:pt x="138317" y="75995"/>
                </a:cubicBezTo>
                <a:cubicBezTo>
                  <a:pt x="139743" y="79933"/>
                  <a:pt x="138534" y="84336"/>
                  <a:pt x="135341" y="87002"/>
                </a:cubicBezTo>
                <a:lnTo>
                  <a:pt x="46044" y="161417"/>
                </a:lnTo>
                <a:cubicBezTo>
                  <a:pt x="42540" y="164331"/>
                  <a:pt x="37548" y="164486"/>
                  <a:pt x="33858" y="161820"/>
                </a:cubicBezTo>
                <a:cubicBezTo>
                  <a:pt x="30169" y="159153"/>
                  <a:pt x="28804" y="154316"/>
                  <a:pt x="30479" y="150099"/>
                </a:cubicBezTo>
                <a:lnTo>
                  <a:pt x="54787" y="89297"/>
                </a:lnTo>
                <a:lnTo>
                  <a:pt x="9922" y="89297"/>
                </a:lnTo>
                <a:cubicBezTo>
                  <a:pt x="5736" y="89297"/>
                  <a:pt x="2015" y="86692"/>
                  <a:pt x="589" y="82755"/>
                </a:cubicBezTo>
                <a:cubicBezTo>
                  <a:pt x="-837" y="78817"/>
                  <a:pt x="372" y="74414"/>
                  <a:pt x="3566" y="71748"/>
                </a:cubicBezTo>
                <a:lnTo>
                  <a:pt x="92863" y="-2667"/>
                </a:lnTo>
                <a:cubicBezTo>
                  <a:pt x="96366" y="-5581"/>
                  <a:pt x="101358" y="-5736"/>
                  <a:pt x="105048" y="-307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3"/>
          <p:cNvSpPr/>
          <p:nvPr/>
        </p:nvSpPr>
        <p:spPr>
          <a:xfrm>
            <a:off x="744538" y="1339852"/>
            <a:ext cx="944563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Load Demand</a:t>
            </a:r>
            <a:endParaRPr b="0" i="0" sz="1600" u="none" cap="none" strike="noStrike"/>
          </a:p>
        </p:txBody>
      </p:sp>
      <p:sp>
        <p:nvSpPr>
          <p:cNvPr id="512" name="Google Shape;512;p13"/>
          <p:cNvSpPr/>
          <p:nvPr/>
        </p:nvSpPr>
        <p:spPr>
          <a:xfrm>
            <a:off x="450850" y="1657352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546100" y="1752602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Gap: Actual Load Inventory</a:t>
            </a:r>
            <a:endParaRPr b="0" i="0" sz="1600" u="none" cap="none" strike="noStrike"/>
          </a:p>
        </p:txBody>
      </p:sp>
      <p:sp>
        <p:nvSpPr>
          <p:cNvPr id="514" name="Google Shape;514;p13"/>
          <p:cNvSpPr/>
          <p:nvPr/>
        </p:nvSpPr>
        <p:spPr>
          <a:xfrm>
            <a:off x="546100" y="1974852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 yet confirmed.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Critical for accurate sizing of all components.</a:t>
            </a:r>
            <a:endParaRPr b="0" i="0" sz="1600" u="none" cap="none" strike="noStrike"/>
          </a:p>
        </p:txBody>
      </p:sp>
      <p:sp>
        <p:nvSpPr>
          <p:cNvPr id="515" name="Google Shape;515;p13"/>
          <p:cNvSpPr/>
          <p:nvPr/>
        </p:nvSpPr>
        <p:spPr>
          <a:xfrm>
            <a:off x="466725" y="2308227"/>
            <a:ext cx="5429250" cy="587375"/>
          </a:xfrm>
          <a:custGeom>
            <a:rect b="b" l="l" r="r" t="t"/>
            <a:pathLst>
              <a:path extrusionOk="0" h="587375" w="542925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523874"/>
                </a:lnTo>
                <a:cubicBezTo>
                  <a:pt x="5429250" y="558945"/>
                  <a:pt x="5400820" y="587375"/>
                  <a:pt x="5365749" y="587375"/>
                </a:cubicBezTo>
                <a:lnTo>
                  <a:pt x="31750" y="587375"/>
                </a:lnTo>
                <a:cubicBezTo>
                  <a:pt x="14215" y="587375"/>
                  <a:pt x="0" y="573160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3"/>
          <p:cNvSpPr/>
          <p:nvPr/>
        </p:nvSpPr>
        <p:spPr>
          <a:xfrm>
            <a:off x="466725" y="2308227"/>
            <a:ext cx="31750" cy="587375"/>
          </a:xfrm>
          <a:custGeom>
            <a:rect b="b" l="l" r="r" t="t"/>
            <a:pathLst>
              <a:path extrusionOk="0" h="587375" w="31750">
                <a:moveTo>
                  <a:pt x="31750" y="0"/>
                </a:moveTo>
                <a:lnTo>
                  <a:pt x="31750" y="0"/>
                </a:lnTo>
                <a:lnTo>
                  <a:pt x="31750" y="587375"/>
                </a:lnTo>
                <a:lnTo>
                  <a:pt x="31750" y="587375"/>
                </a:lnTo>
                <a:cubicBezTo>
                  <a:pt x="14227" y="587375"/>
                  <a:pt x="0" y="573148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3"/>
          <p:cNvSpPr/>
          <p:nvPr/>
        </p:nvSpPr>
        <p:spPr>
          <a:xfrm>
            <a:off x="609600" y="2428875"/>
            <a:ext cx="95250" cy="127000"/>
          </a:xfrm>
          <a:custGeom>
            <a:rect b="b" l="l" r="r" t="t"/>
            <a:pathLst>
              <a:path extrusionOk="0" h="127000" w="9525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31750" y="63500"/>
                </a:move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ubicBezTo>
                  <a:pt x="28193" y="71438"/>
                  <a:pt x="31750" y="67881"/>
                  <a:pt x="31750" y="63500"/>
                </a:cubicBezTo>
                <a:close/>
                <a:moveTo>
                  <a:pt x="39688" y="63500"/>
                </a:moveTo>
                <a:cubicBezTo>
                  <a:pt x="39688" y="66799"/>
                  <a:pt x="42342" y="69453"/>
                  <a:pt x="45641" y="69453"/>
                </a:cubicBezTo>
                <a:lnTo>
                  <a:pt x="73422" y="69453"/>
                </a:lnTo>
                <a:cubicBezTo>
                  <a:pt x="76721" y="69453"/>
                  <a:pt x="79375" y="66799"/>
                  <a:pt x="79375" y="63500"/>
                </a:cubicBezTo>
                <a:cubicBezTo>
                  <a:pt x="79375" y="60201"/>
                  <a:pt x="76721" y="57547"/>
                  <a:pt x="73422" y="57547"/>
                </a:cubicBezTo>
                <a:lnTo>
                  <a:pt x="45641" y="57547"/>
                </a:lnTo>
                <a:cubicBezTo>
                  <a:pt x="42342" y="57547"/>
                  <a:pt x="39688" y="60201"/>
                  <a:pt x="39688" y="63500"/>
                </a:cubicBezTo>
                <a:close/>
                <a:moveTo>
                  <a:pt x="39688" y="95250"/>
                </a:moveTo>
                <a:cubicBezTo>
                  <a:pt x="39688" y="98549"/>
                  <a:pt x="42342" y="101203"/>
                  <a:pt x="45641" y="101203"/>
                </a:cubicBezTo>
                <a:lnTo>
                  <a:pt x="73422" y="101203"/>
                </a:lnTo>
                <a:cubicBezTo>
                  <a:pt x="76721" y="101203"/>
                  <a:pt x="79375" y="98549"/>
                  <a:pt x="79375" y="95250"/>
                </a:cubicBezTo>
                <a:cubicBezTo>
                  <a:pt x="79375" y="91951"/>
                  <a:pt x="76721" y="89297"/>
                  <a:pt x="73422" y="89297"/>
                </a:cubicBezTo>
                <a:lnTo>
                  <a:pt x="45641" y="89297"/>
                </a:lnTo>
                <a:cubicBezTo>
                  <a:pt x="42342" y="89297"/>
                  <a:pt x="39688" y="91951"/>
                  <a:pt x="39688" y="95250"/>
                </a:cubicBezTo>
                <a:close/>
                <a:moveTo>
                  <a:pt x="23812" y="103188"/>
                </a:moveTo>
                <a:cubicBezTo>
                  <a:pt x="28193" y="103188"/>
                  <a:pt x="31750" y="99631"/>
                  <a:pt x="31750" y="95250"/>
                </a:cubicBezTo>
                <a:cubicBezTo>
                  <a:pt x="31750" y="90869"/>
                  <a:pt x="28193" y="87313"/>
                  <a:pt x="23812" y="87313"/>
                </a:cubicBezTo>
                <a:cubicBezTo>
                  <a:pt x="19432" y="87313"/>
                  <a:pt x="15875" y="90869"/>
                  <a:pt x="15875" y="95250"/>
                </a:cubicBezTo>
                <a:cubicBezTo>
                  <a:pt x="15875" y="99631"/>
                  <a:pt x="19432" y="103188"/>
                  <a:pt x="23812" y="103188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776288" y="2403477"/>
            <a:ext cx="5087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Questionnaire Section</a:t>
            </a:r>
            <a:endParaRPr b="0" i="0" sz="1600" u="none" cap="none" strike="noStrike"/>
          </a:p>
        </p:txBody>
      </p:sp>
      <p:sp>
        <p:nvSpPr>
          <p:cNvPr id="519" name="Google Shape;519;p13"/>
          <p:cNvSpPr/>
          <p:nvPr/>
        </p:nvSpPr>
        <p:spPr>
          <a:xfrm>
            <a:off x="577850" y="2625727"/>
            <a:ext cx="528637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C: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Load assessment — appliances, usage patterns, peak demand</a:t>
            </a:r>
            <a:endParaRPr b="0" i="0" sz="1600" u="none" cap="none" strike="noStrike"/>
          </a:p>
        </p:txBody>
      </p:sp>
      <p:sp>
        <p:nvSpPr>
          <p:cNvPr id="520" name="Google Shape;520;p13"/>
          <p:cNvSpPr/>
          <p:nvPr/>
        </p:nvSpPr>
        <p:spPr>
          <a:xfrm>
            <a:off x="320675" y="3159126"/>
            <a:ext cx="5705475" cy="1816100"/>
          </a:xfrm>
          <a:custGeom>
            <a:rect b="b" l="l" r="r" t="t"/>
            <a:pathLst>
              <a:path extrusionOk="0" h="1816100" w="5705475">
                <a:moveTo>
                  <a:pt x="63509" y="0"/>
                </a:moveTo>
                <a:lnTo>
                  <a:pt x="5641966" y="0"/>
                </a:lnTo>
                <a:cubicBezTo>
                  <a:pt x="5677041" y="0"/>
                  <a:pt x="5705475" y="28434"/>
                  <a:pt x="5705475" y="63509"/>
                </a:cubicBezTo>
                <a:lnTo>
                  <a:pt x="5705475" y="1752591"/>
                </a:lnTo>
                <a:cubicBezTo>
                  <a:pt x="5705475" y="1787666"/>
                  <a:pt x="5677041" y="1816100"/>
                  <a:pt x="5641966" y="1816100"/>
                </a:cubicBezTo>
                <a:lnTo>
                  <a:pt x="63509" y="1816100"/>
                </a:lnTo>
                <a:cubicBezTo>
                  <a:pt x="28434" y="1816100"/>
                  <a:pt x="0" y="1787666"/>
                  <a:pt x="0" y="1752591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3"/>
          <p:cNvSpPr/>
          <p:nvPr/>
        </p:nvSpPr>
        <p:spPr>
          <a:xfrm>
            <a:off x="490537" y="3321049"/>
            <a:ext cx="119063" cy="158750"/>
          </a:xfrm>
          <a:custGeom>
            <a:rect b="b" l="l" r="r" t="t"/>
            <a:pathLst>
              <a:path extrusionOk="0" h="158750" w="119063">
                <a:moveTo>
                  <a:pt x="59531" y="158750"/>
                </a:moveTo>
                <a:cubicBezTo>
                  <a:pt x="26665" y="158750"/>
                  <a:pt x="0" y="132085"/>
                  <a:pt x="0" y="99219"/>
                </a:cubicBezTo>
                <a:cubicBezTo>
                  <a:pt x="0" y="70941"/>
                  <a:pt x="40370" y="14232"/>
                  <a:pt x="51656" y="-1085"/>
                </a:cubicBezTo>
                <a:cubicBezTo>
                  <a:pt x="53485" y="-3566"/>
                  <a:pt x="56369" y="-4961"/>
                  <a:pt x="59469" y="-4961"/>
                </a:cubicBezTo>
                <a:lnTo>
                  <a:pt x="59593" y="-4961"/>
                </a:lnTo>
                <a:cubicBezTo>
                  <a:pt x="62694" y="-4961"/>
                  <a:pt x="65577" y="-3566"/>
                  <a:pt x="67407" y="-1085"/>
                </a:cubicBezTo>
                <a:cubicBezTo>
                  <a:pt x="78693" y="14232"/>
                  <a:pt x="119062" y="70941"/>
                  <a:pt x="119062" y="99219"/>
                </a:cubicBezTo>
                <a:cubicBezTo>
                  <a:pt x="119062" y="132085"/>
                  <a:pt x="92397" y="158750"/>
                  <a:pt x="59531" y="158750"/>
                </a:cubicBezTo>
                <a:close/>
                <a:moveTo>
                  <a:pt x="34727" y="96738"/>
                </a:moveTo>
                <a:cubicBezTo>
                  <a:pt x="34727" y="92615"/>
                  <a:pt x="31409" y="89297"/>
                  <a:pt x="27285" y="89297"/>
                </a:cubicBezTo>
                <a:cubicBezTo>
                  <a:pt x="23161" y="89297"/>
                  <a:pt x="19844" y="92615"/>
                  <a:pt x="19844" y="96738"/>
                </a:cubicBezTo>
                <a:cubicBezTo>
                  <a:pt x="19844" y="120024"/>
                  <a:pt x="38726" y="138906"/>
                  <a:pt x="62012" y="138906"/>
                </a:cubicBezTo>
                <a:cubicBezTo>
                  <a:pt x="66135" y="138906"/>
                  <a:pt x="69453" y="135589"/>
                  <a:pt x="69453" y="131465"/>
                </a:cubicBezTo>
                <a:cubicBezTo>
                  <a:pt x="69453" y="127341"/>
                  <a:pt x="66135" y="124023"/>
                  <a:pt x="62012" y="124023"/>
                </a:cubicBezTo>
                <a:cubicBezTo>
                  <a:pt x="46943" y="124023"/>
                  <a:pt x="34727" y="111807"/>
                  <a:pt x="34727" y="96738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3"/>
          <p:cNvSpPr/>
          <p:nvPr/>
        </p:nvSpPr>
        <p:spPr>
          <a:xfrm>
            <a:off x="744538" y="3289299"/>
            <a:ext cx="13493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Water Infrastructure</a:t>
            </a:r>
            <a:endParaRPr b="0" i="0" sz="1600" u="none" cap="none" strike="noStrike"/>
          </a:p>
        </p:txBody>
      </p:sp>
      <p:sp>
        <p:nvSpPr>
          <p:cNvPr id="523" name="Google Shape;523;p13"/>
          <p:cNvSpPr/>
          <p:nvPr/>
        </p:nvSpPr>
        <p:spPr>
          <a:xfrm>
            <a:off x="450850" y="3606799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546100" y="3702049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Gap: Borehole Data</a:t>
            </a:r>
            <a:endParaRPr b="0" i="0" sz="1600" u="none" cap="none" strike="noStrike"/>
          </a:p>
        </p:txBody>
      </p:sp>
      <p:sp>
        <p:nvSpPr>
          <p:cNvPr id="525" name="Google Shape;525;p13"/>
          <p:cNvSpPr/>
          <p:nvPr/>
        </p:nvSpPr>
        <p:spPr>
          <a:xfrm>
            <a:off x="546100" y="3924299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Boreholes exist but </a:t>
            </a: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unquantified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water quality, yield, depth unknown</a:t>
            </a:r>
            <a:endParaRPr b="0" i="0" sz="1600" u="none" cap="none" strike="noStrike"/>
          </a:p>
        </p:txBody>
      </p:sp>
      <p:sp>
        <p:nvSpPr>
          <p:cNvPr id="526" name="Google Shape;526;p13"/>
          <p:cNvSpPr/>
          <p:nvPr/>
        </p:nvSpPr>
        <p:spPr>
          <a:xfrm>
            <a:off x="466725" y="4257674"/>
            <a:ext cx="5429250" cy="587375"/>
          </a:xfrm>
          <a:custGeom>
            <a:rect b="b" l="l" r="r" t="t"/>
            <a:pathLst>
              <a:path extrusionOk="0" h="587375" w="542925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523874"/>
                </a:lnTo>
                <a:cubicBezTo>
                  <a:pt x="5429250" y="558945"/>
                  <a:pt x="5400820" y="587375"/>
                  <a:pt x="5365749" y="587375"/>
                </a:cubicBezTo>
                <a:lnTo>
                  <a:pt x="31750" y="587375"/>
                </a:lnTo>
                <a:cubicBezTo>
                  <a:pt x="14215" y="587375"/>
                  <a:pt x="0" y="573160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466725" y="4257674"/>
            <a:ext cx="31750" cy="587375"/>
          </a:xfrm>
          <a:custGeom>
            <a:rect b="b" l="l" r="r" t="t"/>
            <a:pathLst>
              <a:path extrusionOk="0" h="587375" w="31750">
                <a:moveTo>
                  <a:pt x="31750" y="0"/>
                </a:moveTo>
                <a:lnTo>
                  <a:pt x="31750" y="0"/>
                </a:lnTo>
                <a:lnTo>
                  <a:pt x="31750" y="587375"/>
                </a:lnTo>
                <a:lnTo>
                  <a:pt x="31750" y="587375"/>
                </a:lnTo>
                <a:cubicBezTo>
                  <a:pt x="14227" y="587375"/>
                  <a:pt x="0" y="573148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609600" y="4378326"/>
            <a:ext cx="95250" cy="127000"/>
          </a:xfrm>
          <a:custGeom>
            <a:rect b="b" l="l" r="r" t="t"/>
            <a:pathLst>
              <a:path extrusionOk="0" h="127000" w="9525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31750" y="63500"/>
                </a:move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ubicBezTo>
                  <a:pt x="28193" y="71438"/>
                  <a:pt x="31750" y="67881"/>
                  <a:pt x="31750" y="63500"/>
                </a:cubicBezTo>
                <a:close/>
                <a:moveTo>
                  <a:pt x="39688" y="63500"/>
                </a:moveTo>
                <a:cubicBezTo>
                  <a:pt x="39688" y="66799"/>
                  <a:pt x="42342" y="69453"/>
                  <a:pt x="45641" y="69453"/>
                </a:cubicBezTo>
                <a:lnTo>
                  <a:pt x="73422" y="69453"/>
                </a:lnTo>
                <a:cubicBezTo>
                  <a:pt x="76721" y="69453"/>
                  <a:pt x="79375" y="66799"/>
                  <a:pt x="79375" y="63500"/>
                </a:cubicBezTo>
                <a:cubicBezTo>
                  <a:pt x="79375" y="60201"/>
                  <a:pt x="76721" y="57547"/>
                  <a:pt x="73422" y="57547"/>
                </a:cubicBezTo>
                <a:lnTo>
                  <a:pt x="45641" y="57547"/>
                </a:lnTo>
                <a:cubicBezTo>
                  <a:pt x="42342" y="57547"/>
                  <a:pt x="39688" y="60201"/>
                  <a:pt x="39688" y="63500"/>
                </a:cubicBezTo>
                <a:close/>
                <a:moveTo>
                  <a:pt x="39688" y="95250"/>
                </a:moveTo>
                <a:cubicBezTo>
                  <a:pt x="39688" y="98549"/>
                  <a:pt x="42342" y="101203"/>
                  <a:pt x="45641" y="101203"/>
                </a:cubicBezTo>
                <a:lnTo>
                  <a:pt x="73422" y="101203"/>
                </a:lnTo>
                <a:cubicBezTo>
                  <a:pt x="76721" y="101203"/>
                  <a:pt x="79375" y="98549"/>
                  <a:pt x="79375" y="95250"/>
                </a:cubicBezTo>
                <a:cubicBezTo>
                  <a:pt x="79375" y="91951"/>
                  <a:pt x="76721" y="89297"/>
                  <a:pt x="73422" y="89297"/>
                </a:cubicBezTo>
                <a:lnTo>
                  <a:pt x="45641" y="89297"/>
                </a:lnTo>
                <a:cubicBezTo>
                  <a:pt x="42342" y="89297"/>
                  <a:pt x="39688" y="91951"/>
                  <a:pt x="39688" y="95250"/>
                </a:cubicBezTo>
                <a:close/>
                <a:moveTo>
                  <a:pt x="23812" y="103188"/>
                </a:moveTo>
                <a:cubicBezTo>
                  <a:pt x="28193" y="103188"/>
                  <a:pt x="31750" y="99631"/>
                  <a:pt x="31750" y="95250"/>
                </a:cubicBezTo>
                <a:cubicBezTo>
                  <a:pt x="31750" y="90869"/>
                  <a:pt x="28193" y="87313"/>
                  <a:pt x="23812" y="87313"/>
                </a:cubicBezTo>
                <a:cubicBezTo>
                  <a:pt x="19432" y="87313"/>
                  <a:pt x="15875" y="90869"/>
                  <a:pt x="15875" y="95250"/>
                </a:cubicBezTo>
                <a:cubicBezTo>
                  <a:pt x="15875" y="99631"/>
                  <a:pt x="19432" y="103188"/>
                  <a:pt x="23812" y="103188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776288" y="4352924"/>
            <a:ext cx="5087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Questionnaire Section</a:t>
            </a:r>
            <a:endParaRPr b="0" i="0" sz="1600" u="none" cap="none" strike="noStrike"/>
          </a:p>
        </p:txBody>
      </p:sp>
      <p:sp>
        <p:nvSpPr>
          <p:cNvPr id="530" name="Google Shape;530;p13"/>
          <p:cNvSpPr/>
          <p:nvPr/>
        </p:nvSpPr>
        <p:spPr>
          <a:xfrm>
            <a:off x="577850" y="4575174"/>
            <a:ext cx="528637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G: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Water sources, quality, seasonal availability</a:t>
            </a:r>
            <a:endParaRPr b="0" i="0" sz="1600" u="none" cap="none" strike="noStrike"/>
          </a:p>
        </p:txBody>
      </p:sp>
      <p:sp>
        <p:nvSpPr>
          <p:cNvPr id="531" name="Google Shape;531;p13"/>
          <p:cNvSpPr/>
          <p:nvPr/>
        </p:nvSpPr>
        <p:spPr>
          <a:xfrm>
            <a:off x="320675" y="5108577"/>
            <a:ext cx="5705475" cy="1816100"/>
          </a:xfrm>
          <a:custGeom>
            <a:rect b="b" l="l" r="r" t="t"/>
            <a:pathLst>
              <a:path extrusionOk="0" h="1816100" w="5705475">
                <a:moveTo>
                  <a:pt x="63509" y="0"/>
                </a:moveTo>
                <a:lnTo>
                  <a:pt x="5641966" y="0"/>
                </a:lnTo>
                <a:cubicBezTo>
                  <a:pt x="5677041" y="0"/>
                  <a:pt x="5705475" y="28434"/>
                  <a:pt x="5705475" y="63509"/>
                </a:cubicBezTo>
                <a:lnTo>
                  <a:pt x="5705475" y="1752591"/>
                </a:lnTo>
                <a:cubicBezTo>
                  <a:pt x="5705475" y="1787666"/>
                  <a:pt x="5677041" y="1816100"/>
                  <a:pt x="5641966" y="1816100"/>
                </a:cubicBezTo>
                <a:lnTo>
                  <a:pt x="63509" y="1816100"/>
                </a:lnTo>
                <a:cubicBezTo>
                  <a:pt x="28434" y="1816100"/>
                  <a:pt x="0" y="1787666"/>
                  <a:pt x="0" y="1752591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500459" y="5270500"/>
            <a:ext cx="99219" cy="158750"/>
          </a:xfrm>
          <a:custGeom>
            <a:rect b="b" l="l" r="r" t="t"/>
            <a:pathLst>
              <a:path extrusionOk="0" h="158750" w="99219">
                <a:moveTo>
                  <a:pt x="42168" y="7441"/>
                </a:moveTo>
                <a:cubicBezTo>
                  <a:pt x="42168" y="3318"/>
                  <a:pt x="45486" y="0"/>
                  <a:pt x="49609" y="0"/>
                </a:cubicBezTo>
                <a:cubicBezTo>
                  <a:pt x="53733" y="0"/>
                  <a:pt x="57051" y="3318"/>
                  <a:pt x="57051" y="7441"/>
                </a:cubicBezTo>
                <a:lnTo>
                  <a:pt x="57051" y="19844"/>
                </a:lnTo>
                <a:lnTo>
                  <a:pt x="74414" y="19844"/>
                </a:lnTo>
                <a:cubicBezTo>
                  <a:pt x="79902" y="19844"/>
                  <a:pt x="84336" y="24278"/>
                  <a:pt x="84336" y="29766"/>
                </a:cubicBezTo>
                <a:cubicBezTo>
                  <a:pt x="84336" y="35254"/>
                  <a:pt x="79902" y="39688"/>
                  <a:pt x="74414" y="39688"/>
                </a:cubicBezTo>
                <a:lnTo>
                  <a:pt x="38788" y="39688"/>
                </a:lnTo>
                <a:cubicBezTo>
                  <a:pt x="31068" y="39688"/>
                  <a:pt x="24805" y="45951"/>
                  <a:pt x="24805" y="53671"/>
                </a:cubicBezTo>
                <a:cubicBezTo>
                  <a:pt x="24805" y="60647"/>
                  <a:pt x="29921" y="66539"/>
                  <a:pt x="36804" y="67531"/>
                </a:cubicBezTo>
                <a:lnTo>
                  <a:pt x="65205" y="71593"/>
                </a:lnTo>
                <a:cubicBezTo>
                  <a:pt x="81886" y="73980"/>
                  <a:pt x="94258" y="88243"/>
                  <a:pt x="94258" y="105079"/>
                </a:cubicBezTo>
                <a:cubicBezTo>
                  <a:pt x="94258" y="123775"/>
                  <a:pt x="79096" y="138906"/>
                  <a:pt x="60430" y="138906"/>
                </a:cubicBezTo>
                <a:lnTo>
                  <a:pt x="57051" y="138906"/>
                </a:lnTo>
                <a:lnTo>
                  <a:pt x="57051" y="151309"/>
                </a:lnTo>
                <a:cubicBezTo>
                  <a:pt x="57051" y="155432"/>
                  <a:pt x="53733" y="158750"/>
                  <a:pt x="49609" y="158750"/>
                </a:cubicBezTo>
                <a:cubicBezTo>
                  <a:pt x="45486" y="158750"/>
                  <a:pt x="42168" y="155432"/>
                  <a:pt x="42168" y="151309"/>
                </a:cubicBezTo>
                <a:lnTo>
                  <a:pt x="42168" y="138906"/>
                </a:lnTo>
                <a:lnTo>
                  <a:pt x="19844" y="138906"/>
                </a:lnTo>
                <a:cubicBezTo>
                  <a:pt x="14356" y="138906"/>
                  <a:pt x="9922" y="134472"/>
                  <a:pt x="9922" y="128984"/>
                </a:cubicBezTo>
                <a:cubicBezTo>
                  <a:pt x="9922" y="123496"/>
                  <a:pt x="14356" y="119062"/>
                  <a:pt x="19844" y="119062"/>
                </a:cubicBezTo>
                <a:lnTo>
                  <a:pt x="60430" y="119062"/>
                </a:lnTo>
                <a:cubicBezTo>
                  <a:pt x="68151" y="119062"/>
                  <a:pt x="74414" y="112799"/>
                  <a:pt x="74414" y="105079"/>
                </a:cubicBezTo>
                <a:cubicBezTo>
                  <a:pt x="74414" y="98103"/>
                  <a:pt x="69298" y="92211"/>
                  <a:pt x="62415" y="91219"/>
                </a:cubicBezTo>
                <a:lnTo>
                  <a:pt x="34013" y="87157"/>
                </a:lnTo>
                <a:cubicBezTo>
                  <a:pt x="17332" y="84801"/>
                  <a:pt x="4961" y="70507"/>
                  <a:pt x="4961" y="53671"/>
                </a:cubicBezTo>
                <a:cubicBezTo>
                  <a:pt x="4961" y="35006"/>
                  <a:pt x="20123" y="19844"/>
                  <a:pt x="38788" y="19844"/>
                </a:cubicBezTo>
                <a:lnTo>
                  <a:pt x="42168" y="19844"/>
                </a:lnTo>
                <a:lnTo>
                  <a:pt x="42168" y="7441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"/>
          <p:cNvSpPr/>
          <p:nvPr/>
        </p:nvSpPr>
        <p:spPr>
          <a:xfrm>
            <a:off x="744538" y="5238750"/>
            <a:ext cx="149225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Governance &amp; Finance</a:t>
            </a:r>
            <a:endParaRPr b="0" i="0" sz="1600" u="none" cap="none" strike="noStrike"/>
          </a:p>
        </p:txBody>
      </p:sp>
      <p:sp>
        <p:nvSpPr>
          <p:cNvPr id="534" name="Google Shape;534;p13"/>
          <p:cNvSpPr/>
          <p:nvPr/>
        </p:nvSpPr>
        <p:spPr>
          <a:xfrm>
            <a:off x="450850" y="5556250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3"/>
          <p:cNvSpPr/>
          <p:nvPr/>
        </p:nvSpPr>
        <p:spPr>
          <a:xfrm>
            <a:off x="546100" y="5651500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Gap: Economic Parameters</a:t>
            </a:r>
            <a:endParaRPr b="0" i="0" sz="1600" u="none" cap="none" strike="noStrike"/>
          </a:p>
        </p:txBody>
      </p:sp>
      <p:sp>
        <p:nvSpPr>
          <p:cNvPr id="536" name="Google Shape;536;p13"/>
          <p:cNvSpPr/>
          <p:nvPr/>
        </p:nvSpPr>
        <p:spPr>
          <a:xfrm>
            <a:off x="546100" y="5873750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WTP, tariff structure, mobile money readiness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all unconfirmed</a:t>
            </a:r>
            <a:endParaRPr b="0" i="0" sz="1600" u="none" cap="none" strike="noStrike"/>
          </a:p>
        </p:txBody>
      </p:sp>
      <p:sp>
        <p:nvSpPr>
          <p:cNvPr id="537" name="Google Shape;537;p13"/>
          <p:cNvSpPr/>
          <p:nvPr/>
        </p:nvSpPr>
        <p:spPr>
          <a:xfrm>
            <a:off x="466725" y="6207125"/>
            <a:ext cx="5429250" cy="587375"/>
          </a:xfrm>
          <a:custGeom>
            <a:rect b="b" l="l" r="r" t="t"/>
            <a:pathLst>
              <a:path extrusionOk="0" h="587375" w="542925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523874"/>
                </a:lnTo>
                <a:cubicBezTo>
                  <a:pt x="5429250" y="558945"/>
                  <a:pt x="5400820" y="587375"/>
                  <a:pt x="5365749" y="587375"/>
                </a:cubicBezTo>
                <a:lnTo>
                  <a:pt x="31750" y="587375"/>
                </a:lnTo>
                <a:cubicBezTo>
                  <a:pt x="14215" y="587375"/>
                  <a:pt x="0" y="573160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466725" y="6207125"/>
            <a:ext cx="31750" cy="587375"/>
          </a:xfrm>
          <a:custGeom>
            <a:rect b="b" l="l" r="r" t="t"/>
            <a:pathLst>
              <a:path extrusionOk="0" h="587375" w="31750">
                <a:moveTo>
                  <a:pt x="31750" y="0"/>
                </a:moveTo>
                <a:lnTo>
                  <a:pt x="31750" y="0"/>
                </a:lnTo>
                <a:lnTo>
                  <a:pt x="31750" y="587375"/>
                </a:lnTo>
                <a:lnTo>
                  <a:pt x="31750" y="587375"/>
                </a:lnTo>
                <a:cubicBezTo>
                  <a:pt x="14227" y="587375"/>
                  <a:pt x="0" y="573148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3"/>
          <p:cNvSpPr/>
          <p:nvPr/>
        </p:nvSpPr>
        <p:spPr>
          <a:xfrm>
            <a:off x="609600" y="6327777"/>
            <a:ext cx="95250" cy="127000"/>
          </a:xfrm>
          <a:custGeom>
            <a:rect b="b" l="l" r="r" t="t"/>
            <a:pathLst>
              <a:path extrusionOk="0" h="127000" w="9525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31750" y="63500"/>
                </a:move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ubicBezTo>
                  <a:pt x="28193" y="71438"/>
                  <a:pt x="31750" y="67881"/>
                  <a:pt x="31750" y="63500"/>
                </a:cubicBezTo>
                <a:close/>
                <a:moveTo>
                  <a:pt x="39688" y="63500"/>
                </a:moveTo>
                <a:cubicBezTo>
                  <a:pt x="39688" y="66799"/>
                  <a:pt x="42342" y="69453"/>
                  <a:pt x="45641" y="69453"/>
                </a:cubicBezTo>
                <a:lnTo>
                  <a:pt x="73422" y="69453"/>
                </a:lnTo>
                <a:cubicBezTo>
                  <a:pt x="76721" y="69453"/>
                  <a:pt x="79375" y="66799"/>
                  <a:pt x="79375" y="63500"/>
                </a:cubicBezTo>
                <a:cubicBezTo>
                  <a:pt x="79375" y="60201"/>
                  <a:pt x="76721" y="57547"/>
                  <a:pt x="73422" y="57547"/>
                </a:cubicBezTo>
                <a:lnTo>
                  <a:pt x="45641" y="57547"/>
                </a:lnTo>
                <a:cubicBezTo>
                  <a:pt x="42342" y="57547"/>
                  <a:pt x="39688" y="60201"/>
                  <a:pt x="39688" y="63500"/>
                </a:cubicBezTo>
                <a:close/>
                <a:moveTo>
                  <a:pt x="39688" y="95250"/>
                </a:moveTo>
                <a:cubicBezTo>
                  <a:pt x="39688" y="98549"/>
                  <a:pt x="42342" y="101203"/>
                  <a:pt x="45641" y="101203"/>
                </a:cubicBezTo>
                <a:lnTo>
                  <a:pt x="73422" y="101203"/>
                </a:lnTo>
                <a:cubicBezTo>
                  <a:pt x="76721" y="101203"/>
                  <a:pt x="79375" y="98549"/>
                  <a:pt x="79375" y="95250"/>
                </a:cubicBezTo>
                <a:cubicBezTo>
                  <a:pt x="79375" y="91951"/>
                  <a:pt x="76721" y="89297"/>
                  <a:pt x="73422" y="89297"/>
                </a:cubicBezTo>
                <a:lnTo>
                  <a:pt x="45641" y="89297"/>
                </a:lnTo>
                <a:cubicBezTo>
                  <a:pt x="42342" y="89297"/>
                  <a:pt x="39688" y="91951"/>
                  <a:pt x="39688" y="95250"/>
                </a:cubicBezTo>
                <a:close/>
                <a:moveTo>
                  <a:pt x="23812" y="103188"/>
                </a:moveTo>
                <a:cubicBezTo>
                  <a:pt x="28193" y="103188"/>
                  <a:pt x="31750" y="99631"/>
                  <a:pt x="31750" y="95250"/>
                </a:cubicBezTo>
                <a:cubicBezTo>
                  <a:pt x="31750" y="90869"/>
                  <a:pt x="28193" y="87313"/>
                  <a:pt x="23812" y="87313"/>
                </a:cubicBezTo>
                <a:cubicBezTo>
                  <a:pt x="19432" y="87313"/>
                  <a:pt x="15875" y="90869"/>
                  <a:pt x="15875" y="95250"/>
                </a:cubicBezTo>
                <a:cubicBezTo>
                  <a:pt x="15875" y="99631"/>
                  <a:pt x="19432" y="103188"/>
                  <a:pt x="23812" y="103188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776288" y="6302375"/>
            <a:ext cx="5087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Questionnaire Section</a:t>
            </a:r>
            <a:endParaRPr b="0" i="0" sz="1600" u="none" cap="none" strike="noStrike"/>
          </a:p>
        </p:txBody>
      </p:sp>
      <p:sp>
        <p:nvSpPr>
          <p:cNvPr id="541" name="Google Shape;541;p13"/>
          <p:cNvSpPr/>
          <p:nvPr/>
        </p:nvSpPr>
        <p:spPr>
          <a:xfrm>
            <a:off x="577850" y="6524625"/>
            <a:ext cx="528637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E: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Willingness-to-pay, payment mechanisms</a:t>
            </a:r>
            <a:endParaRPr b="0" i="0" sz="1600" u="none" cap="none" strike="noStrike"/>
          </a:p>
        </p:txBody>
      </p:sp>
      <p:sp>
        <p:nvSpPr>
          <p:cNvPr id="542" name="Google Shape;542;p13"/>
          <p:cNvSpPr/>
          <p:nvPr/>
        </p:nvSpPr>
        <p:spPr>
          <a:xfrm>
            <a:off x="6162675" y="1209675"/>
            <a:ext cx="5705475" cy="1816100"/>
          </a:xfrm>
          <a:custGeom>
            <a:rect b="b" l="l" r="r" t="t"/>
            <a:pathLst>
              <a:path extrusionOk="0" h="1816100" w="5705475">
                <a:moveTo>
                  <a:pt x="63509" y="0"/>
                </a:moveTo>
                <a:lnTo>
                  <a:pt x="5641966" y="0"/>
                </a:lnTo>
                <a:cubicBezTo>
                  <a:pt x="5677041" y="0"/>
                  <a:pt x="5705475" y="28434"/>
                  <a:pt x="5705475" y="63509"/>
                </a:cubicBezTo>
                <a:lnTo>
                  <a:pt x="5705475" y="1752591"/>
                </a:lnTo>
                <a:cubicBezTo>
                  <a:pt x="5705475" y="1787666"/>
                  <a:pt x="5677041" y="1816100"/>
                  <a:pt x="5641966" y="1816100"/>
                </a:cubicBezTo>
                <a:lnTo>
                  <a:pt x="63509" y="1816100"/>
                </a:lnTo>
                <a:cubicBezTo>
                  <a:pt x="28434" y="1816100"/>
                  <a:pt x="0" y="1787666"/>
                  <a:pt x="0" y="1752591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6302772" y="1371602"/>
            <a:ext cx="178594" cy="158750"/>
          </a:xfrm>
          <a:custGeom>
            <a:rect b="b" l="l" r="r" t="t"/>
            <a:pathLst>
              <a:path extrusionOk="0" h="158750" w="178594">
                <a:moveTo>
                  <a:pt x="99219" y="9922"/>
                </a:moveTo>
                <a:cubicBezTo>
                  <a:pt x="99219" y="4434"/>
                  <a:pt x="94785" y="0"/>
                  <a:pt x="89297" y="0"/>
                </a:cubicBezTo>
                <a:cubicBezTo>
                  <a:pt x="83809" y="0"/>
                  <a:pt x="79375" y="4434"/>
                  <a:pt x="79375" y="9922"/>
                </a:cubicBezTo>
                <a:lnTo>
                  <a:pt x="79375" y="53919"/>
                </a:lnTo>
                <a:lnTo>
                  <a:pt x="69453" y="59872"/>
                </a:lnTo>
                <a:lnTo>
                  <a:pt x="69453" y="23688"/>
                </a:lnTo>
                <a:cubicBezTo>
                  <a:pt x="69453" y="16092"/>
                  <a:pt x="63283" y="9922"/>
                  <a:pt x="55687" y="9922"/>
                </a:cubicBezTo>
                <a:cubicBezTo>
                  <a:pt x="51811" y="9922"/>
                  <a:pt x="48121" y="11565"/>
                  <a:pt x="45517" y="14418"/>
                </a:cubicBezTo>
                <a:lnTo>
                  <a:pt x="37331" y="23409"/>
                </a:lnTo>
                <a:cubicBezTo>
                  <a:pt x="13302" y="49857"/>
                  <a:pt x="0" y="84274"/>
                  <a:pt x="0" y="119993"/>
                </a:cubicBezTo>
                <a:lnTo>
                  <a:pt x="0" y="129449"/>
                </a:lnTo>
                <a:cubicBezTo>
                  <a:pt x="0" y="145635"/>
                  <a:pt x="13115" y="158750"/>
                  <a:pt x="29301" y="158750"/>
                </a:cubicBezTo>
                <a:cubicBezTo>
                  <a:pt x="36122" y="158750"/>
                  <a:pt x="42850" y="157169"/>
                  <a:pt x="48958" y="154099"/>
                </a:cubicBezTo>
                <a:lnTo>
                  <a:pt x="50509" y="153324"/>
                </a:lnTo>
                <a:cubicBezTo>
                  <a:pt x="62105" y="147526"/>
                  <a:pt x="69422" y="135682"/>
                  <a:pt x="69422" y="122690"/>
                </a:cubicBezTo>
                <a:lnTo>
                  <a:pt x="69422" y="83003"/>
                </a:lnTo>
                <a:lnTo>
                  <a:pt x="89266" y="71096"/>
                </a:lnTo>
                <a:lnTo>
                  <a:pt x="109110" y="83003"/>
                </a:lnTo>
                <a:lnTo>
                  <a:pt x="109110" y="122690"/>
                </a:lnTo>
                <a:cubicBezTo>
                  <a:pt x="109110" y="135651"/>
                  <a:pt x="116427" y="147526"/>
                  <a:pt x="128023" y="153324"/>
                </a:cubicBezTo>
                <a:lnTo>
                  <a:pt x="129573" y="154099"/>
                </a:lnTo>
                <a:cubicBezTo>
                  <a:pt x="135682" y="157138"/>
                  <a:pt x="142410" y="158750"/>
                  <a:pt x="149231" y="158750"/>
                </a:cubicBezTo>
                <a:cubicBezTo>
                  <a:pt x="165416" y="158750"/>
                  <a:pt x="178532" y="145635"/>
                  <a:pt x="178532" y="129449"/>
                </a:cubicBezTo>
                <a:lnTo>
                  <a:pt x="178532" y="127527"/>
                </a:lnTo>
                <a:cubicBezTo>
                  <a:pt x="178532" y="93080"/>
                  <a:pt x="167153" y="59624"/>
                  <a:pt x="146162" y="32339"/>
                </a:cubicBezTo>
                <a:lnTo>
                  <a:pt x="132984" y="15100"/>
                </a:lnTo>
                <a:cubicBezTo>
                  <a:pt x="130473" y="11813"/>
                  <a:pt x="126566" y="9922"/>
                  <a:pt x="122442" y="9922"/>
                </a:cubicBezTo>
                <a:cubicBezTo>
                  <a:pt x="115094" y="9922"/>
                  <a:pt x="109141" y="15875"/>
                  <a:pt x="109141" y="23223"/>
                </a:cubicBezTo>
                <a:lnTo>
                  <a:pt x="109141" y="59872"/>
                </a:lnTo>
                <a:lnTo>
                  <a:pt x="99219" y="53919"/>
                </a:lnTo>
                <a:lnTo>
                  <a:pt x="99219" y="9922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6586537" y="1339852"/>
            <a:ext cx="1881187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Medical Oxygen Opportunity</a:t>
            </a:r>
            <a:endParaRPr b="0" i="0" sz="1600" u="none" cap="none" strike="noStrike"/>
          </a:p>
        </p:txBody>
      </p:sp>
      <p:sp>
        <p:nvSpPr>
          <p:cNvPr id="545" name="Google Shape;545;p13"/>
          <p:cNvSpPr/>
          <p:nvPr/>
        </p:nvSpPr>
        <p:spPr>
          <a:xfrm>
            <a:off x="6292850" y="1657352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6388100" y="1752602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Gap: Health Facility Demand</a:t>
            </a:r>
            <a:endParaRPr b="0" i="0" sz="1600" u="none" cap="none" strike="noStrike"/>
          </a:p>
        </p:txBody>
      </p:sp>
      <p:sp>
        <p:nvSpPr>
          <p:cNvPr id="547" name="Google Shape;547;p13"/>
          <p:cNvSpPr/>
          <p:nvPr/>
        </p:nvSpPr>
        <p:spPr>
          <a:xfrm>
            <a:off x="6388100" y="1974852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Electrolyzer produces O₂ as byproduct. </a:t>
            </a: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Health facility oxygen demand not assessed.</a:t>
            </a:r>
            <a:endParaRPr b="0" i="0" sz="1600" u="none" cap="none" strike="noStrike"/>
          </a:p>
        </p:txBody>
      </p:sp>
      <p:sp>
        <p:nvSpPr>
          <p:cNvPr id="548" name="Google Shape;548;p13"/>
          <p:cNvSpPr/>
          <p:nvPr/>
        </p:nvSpPr>
        <p:spPr>
          <a:xfrm>
            <a:off x="6308725" y="2308227"/>
            <a:ext cx="5429250" cy="587375"/>
          </a:xfrm>
          <a:custGeom>
            <a:rect b="b" l="l" r="r" t="t"/>
            <a:pathLst>
              <a:path extrusionOk="0" h="587375" w="542925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523874"/>
                </a:lnTo>
                <a:cubicBezTo>
                  <a:pt x="5429250" y="558945"/>
                  <a:pt x="5400820" y="587375"/>
                  <a:pt x="5365749" y="587375"/>
                </a:cubicBezTo>
                <a:lnTo>
                  <a:pt x="31750" y="587375"/>
                </a:lnTo>
                <a:cubicBezTo>
                  <a:pt x="14215" y="587375"/>
                  <a:pt x="0" y="573160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6308725" y="2308227"/>
            <a:ext cx="31750" cy="587375"/>
          </a:xfrm>
          <a:custGeom>
            <a:rect b="b" l="l" r="r" t="t"/>
            <a:pathLst>
              <a:path extrusionOk="0" h="587375" w="31750">
                <a:moveTo>
                  <a:pt x="31750" y="0"/>
                </a:moveTo>
                <a:lnTo>
                  <a:pt x="31750" y="0"/>
                </a:lnTo>
                <a:lnTo>
                  <a:pt x="31750" y="587375"/>
                </a:lnTo>
                <a:lnTo>
                  <a:pt x="31750" y="587375"/>
                </a:lnTo>
                <a:cubicBezTo>
                  <a:pt x="14227" y="587375"/>
                  <a:pt x="0" y="573148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6451600" y="2428875"/>
            <a:ext cx="95250" cy="127000"/>
          </a:xfrm>
          <a:custGeom>
            <a:rect b="b" l="l" r="r" t="t"/>
            <a:pathLst>
              <a:path extrusionOk="0" h="127000" w="9525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31750" y="63500"/>
                </a:move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ubicBezTo>
                  <a:pt x="28193" y="71438"/>
                  <a:pt x="31750" y="67881"/>
                  <a:pt x="31750" y="63500"/>
                </a:cubicBezTo>
                <a:close/>
                <a:moveTo>
                  <a:pt x="39688" y="63500"/>
                </a:moveTo>
                <a:cubicBezTo>
                  <a:pt x="39688" y="66799"/>
                  <a:pt x="42342" y="69453"/>
                  <a:pt x="45641" y="69453"/>
                </a:cubicBezTo>
                <a:lnTo>
                  <a:pt x="73422" y="69453"/>
                </a:lnTo>
                <a:cubicBezTo>
                  <a:pt x="76721" y="69453"/>
                  <a:pt x="79375" y="66799"/>
                  <a:pt x="79375" y="63500"/>
                </a:cubicBezTo>
                <a:cubicBezTo>
                  <a:pt x="79375" y="60201"/>
                  <a:pt x="76721" y="57547"/>
                  <a:pt x="73422" y="57547"/>
                </a:cubicBezTo>
                <a:lnTo>
                  <a:pt x="45641" y="57547"/>
                </a:lnTo>
                <a:cubicBezTo>
                  <a:pt x="42342" y="57547"/>
                  <a:pt x="39688" y="60201"/>
                  <a:pt x="39688" y="63500"/>
                </a:cubicBezTo>
                <a:close/>
                <a:moveTo>
                  <a:pt x="39688" y="95250"/>
                </a:moveTo>
                <a:cubicBezTo>
                  <a:pt x="39688" y="98549"/>
                  <a:pt x="42342" y="101203"/>
                  <a:pt x="45641" y="101203"/>
                </a:cubicBezTo>
                <a:lnTo>
                  <a:pt x="73422" y="101203"/>
                </a:lnTo>
                <a:cubicBezTo>
                  <a:pt x="76721" y="101203"/>
                  <a:pt x="79375" y="98549"/>
                  <a:pt x="79375" y="95250"/>
                </a:cubicBezTo>
                <a:cubicBezTo>
                  <a:pt x="79375" y="91951"/>
                  <a:pt x="76721" y="89297"/>
                  <a:pt x="73422" y="89297"/>
                </a:cubicBezTo>
                <a:lnTo>
                  <a:pt x="45641" y="89297"/>
                </a:lnTo>
                <a:cubicBezTo>
                  <a:pt x="42342" y="89297"/>
                  <a:pt x="39688" y="91951"/>
                  <a:pt x="39688" y="95250"/>
                </a:cubicBezTo>
                <a:close/>
                <a:moveTo>
                  <a:pt x="23812" y="103188"/>
                </a:moveTo>
                <a:cubicBezTo>
                  <a:pt x="28193" y="103188"/>
                  <a:pt x="31750" y="99631"/>
                  <a:pt x="31750" y="95250"/>
                </a:cubicBezTo>
                <a:cubicBezTo>
                  <a:pt x="31750" y="90869"/>
                  <a:pt x="28193" y="87313"/>
                  <a:pt x="23812" y="87313"/>
                </a:cubicBezTo>
                <a:cubicBezTo>
                  <a:pt x="19432" y="87313"/>
                  <a:pt x="15875" y="90869"/>
                  <a:pt x="15875" y="95250"/>
                </a:cubicBezTo>
                <a:cubicBezTo>
                  <a:pt x="15875" y="99631"/>
                  <a:pt x="19432" y="103188"/>
                  <a:pt x="23812" y="103188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6618287" y="2403477"/>
            <a:ext cx="5087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Questionnaire Section</a:t>
            </a:r>
            <a:endParaRPr b="0" i="0" sz="1600" u="none" cap="none" strike="noStrike"/>
          </a:p>
        </p:txBody>
      </p:sp>
      <p:sp>
        <p:nvSpPr>
          <p:cNvPr id="552" name="Google Shape;552;p13"/>
          <p:cNvSpPr/>
          <p:nvPr/>
        </p:nvSpPr>
        <p:spPr>
          <a:xfrm>
            <a:off x="6419850" y="2625727"/>
            <a:ext cx="528637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D: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Health infrastructure, medical equipment, oxygen needs</a:t>
            </a:r>
            <a:endParaRPr b="0" i="0" sz="1600" u="none" cap="none" strike="noStrike"/>
          </a:p>
        </p:txBody>
      </p:sp>
      <p:sp>
        <p:nvSpPr>
          <p:cNvPr id="553" name="Google Shape;553;p13"/>
          <p:cNvSpPr/>
          <p:nvPr/>
        </p:nvSpPr>
        <p:spPr>
          <a:xfrm>
            <a:off x="6162675" y="3159126"/>
            <a:ext cx="5705475" cy="1816100"/>
          </a:xfrm>
          <a:custGeom>
            <a:rect b="b" l="l" r="r" t="t"/>
            <a:pathLst>
              <a:path extrusionOk="0" h="1816100" w="5705475">
                <a:moveTo>
                  <a:pt x="63509" y="0"/>
                </a:moveTo>
                <a:lnTo>
                  <a:pt x="5641966" y="0"/>
                </a:lnTo>
                <a:cubicBezTo>
                  <a:pt x="5677041" y="0"/>
                  <a:pt x="5705475" y="28434"/>
                  <a:pt x="5705475" y="63509"/>
                </a:cubicBezTo>
                <a:lnTo>
                  <a:pt x="5705475" y="1752591"/>
                </a:lnTo>
                <a:cubicBezTo>
                  <a:pt x="5705475" y="1787666"/>
                  <a:pt x="5677041" y="1816100"/>
                  <a:pt x="5641966" y="1816100"/>
                </a:cubicBezTo>
                <a:lnTo>
                  <a:pt x="63509" y="1816100"/>
                </a:lnTo>
                <a:cubicBezTo>
                  <a:pt x="28434" y="1816100"/>
                  <a:pt x="0" y="1787666"/>
                  <a:pt x="0" y="1752591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6312694" y="3321049"/>
            <a:ext cx="158750" cy="158750"/>
          </a:xfrm>
          <a:custGeom>
            <a:rect b="b" l="l" r="r" t="t"/>
            <a:pathLst>
              <a:path extrusionOk="0" h="158750" w="158750">
                <a:moveTo>
                  <a:pt x="158750" y="14883"/>
                </a:moveTo>
                <a:cubicBezTo>
                  <a:pt x="158750" y="11441"/>
                  <a:pt x="156983" y="8248"/>
                  <a:pt x="154037" y="6449"/>
                </a:cubicBezTo>
                <a:cubicBezTo>
                  <a:pt x="151092" y="4651"/>
                  <a:pt x="147464" y="4465"/>
                  <a:pt x="144394" y="6015"/>
                </a:cubicBezTo>
                <a:lnTo>
                  <a:pt x="108365" y="24030"/>
                </a:lnTo>
                <a:lnTo>
                  <a:pt x="52741" y="5457"/>
                </a:lnTo>
                <a:cubicBezTo>
                  <a:pt x="50229" y="4620"/>
                  <a:pt x="47532" y="4806"/>
                  <a:pt x="45176" y="5984"/>
                </a:cubicBezTo>
                <a:lnTo>
                  <a:pt x="5488" y="25828"/>
                </a:lnTo>
                <a:cubicBezTo>
                  <a:pt x="2108" y="27533"/>
                  <a:pt x="0" y="30975"/>
                  <a:pt x="0" y="34727"/>
                </a:cubicBezTo>
                <a:lnTo>
                  <a:pt x="0" y="143867"/>
                </a:lnTo>
                <a:cubicBezTo>
                  <a:pt x="0" y="147309"/>
                  <a:pt x="1767" y="150502"/>
                  <a:pt x="4713" y="152301"/>
                </a:cubicBezTo>
                <a:cubicBezTo>
                  <a:pt x="7658" y="154099"/>
                  <a:pt x="11286" y="154285"/>
                  <a:pt x="14356" y="152735"/>
                </a:cubicBezTo>
                <a:lnTo>
                  <a:pt x="50354" y="134720"/>
                </a:lnTo>
                <a:lnTo>
                  <a:pt x="105978" y="153262"/>
                </a:lnTo>
                <a:cubicBezTo>
                  <a:pt x="108490" y="154099"/>
                  <a:pt x="111187" y="153913"/>
                  <a:pt x="113543" y="152735"/>
                </a:cubicBezTo>
                <a:lnTo>
                  <a:pt x="153231" y="132891"/>
                </a:lnTo>
                <a:cubicBezTo>
                  <a:pt x="156580" y="131217"/>
                  <a:pt x="158719" y="127775"/>
                  <a:pt x="158719" y="124023"/>
                </a:cubicBezTo>
                <a:lnTo>
                  <a:pt x="158719" y="14883"/>
                </a:lnTo>
                <a:close/>
                <a:moveTo>
                  <a:pt x="59531" y="116861"/>
                </a:moveTo>
                <a:lnTo>
                  <a:pt x="59531" y="28649"/>
                </a:lnTo>
                <a:lnTo>
                  <a:pt x="99219" y="41889"/>
                </a:lnTo>
                <a:lnTo>
                  <a:pt x="99219" y="130101"/>
                </a:lnTo>
                <a:lnTo>
                  <a:pt x="59531" y="116861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6586537" y="3289299"/>
            <a:ext cx="10318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Site Availability</a:t>
            </a:r>
            <a:endParaRPr b="0" i="0" sz="1600" u="none" cap="none" strike="noStrike"/>
          </a:p>
        </p:txBody>
      </p:sp>
      <p:sp>
        <p:nvSpPr>
          <p:cNvPr id="556" name="Google Shape;556;p13"/>
          <p:cNvSpPr/>
          <p:nvPr/>
        </p:nvSpPr>
        <p:spPr>
          <a:xfrm>
            <a:off x="6292850" y="3606799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6388100" y="3702049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Gap: Land &amp; Tenure</a:t>
            </a:r>
            <a:endParaRPr b="0" i="0" sz="1600" u="none" cap="none" strike="noStrike"/>
          </a:p>
        </p:txBody>
      </p:sp>
      <p:sp>
        <p:nvSpPr>
          <p:cNvPr id="558" name="Google Shape;558;p13"/>
          <p:cNvSpPr/>
          <p:nvPr/>
        </p:nvSpPr>
        <p:spPr>
          <a:xfrm>
            <a:off x="6388100" y="3924299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Land availability and tenure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infrastructure not confirmed</a:t>
            </a:r>
            <a:endParaRPr b="0" i="0" sz="1600" u="none" cap="none" strike="noStrike"/>
          </a:p>
        </p:txBody>
      </p:sp>
      <p:sp>
        <p:nvSpPr>
          <p:cNvPr id="559" name="Google Shape;559;p13"/>
          <p:cNvSpPr/>
          <p:nvPr/>
        </p:nvSpPr>
        <p:spPr>
          <a:xfrm>
            <a:off x="6308725" y="4257674"/>
            <a:ext cx="5429250" cy="587375"/>
          </a:xfrm>
          <a:custGeom>
            <a:rect b="b" l="l" r="r" t="t"/>
            <a:pathLst>
              <a:path extrusionOk="0" h="587375" w="542925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523874"/>
                </a:lnTo>
                <a:cubicBezTo>
                  <a:pt x="5429250" y="558945"/>
                  <a:pt x="5400820" y="587375"/>
                  <a:pt x="5365749" y="587375"/>
                </a:cubicBezTo>
                <a:lnTo>
                  <a:pt x="31750" y="587375"/>
                </a:lnTo>
                <a:cubicBezTo>
                  <a:pt x="14215" y="587375"/>
                  <a:pt x="0" y="573160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6308725" y="4257674"/>
            <a:ext cx="31750" cy="587375"/>
          </a:xfrm>
          <a:custGeom>
            <a:rect b="b" l="l" r="r" t="t"/>
            <a:pathLst>
              <a:path extrusionOk="0" h="587375" w="31750">
                <a:moveTo>
                  <a:pt x="31750" y="0"/>
                </a:moveTo>
                <a:lnTo>
                  <a:pt x="31750" y="0"/>
                </a:lnTo>
                <a:lnTo>
                  <a:pt x="31750" y="587375"/>
                </a:lnTo>
                <a:lnTo>
                  <a:pt x="31750" y="587375"/>
                </a:lnTo>
                <a:cubicBezTo>
                  <a:pt x="14227" y="587375"/>
                  <a:pt x="0" y="573148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>
            <a:off x="6451600" y="4378326"/>
            <a:ext cx="95250" cy="127000"/>
          </a:xfrm>
          <a:custGeom>
            <a:rect b="b" l="l" r="r" t="t"/>
            <a:pathLst>
              <a:path extrusionOk="0" h="127000" w="9525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31750" y="63500"/>
                </a:move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ubicBezTo>
                  <a:pt x="28193" y="71438"/>
                  <a:pt x="31750" y="67881"/>
                  <a:pt x="31750" y="63500"/>
                </a:cubicBezTo>
                <a:close/>
                <a:moveTo>
                  <a:pt x="39688" y="63500"/>
                </a:moveTo>
                <a:cubicBezTo>
                  <a:pt x="39688" y="66799"/>
                  <a:pt x="42342" y="69453"/>
                  <a:pt x="45641" y="69453"/>
                </a:cubicBezTo>
                <a:lnTo>
                  <a:pt x="73422" y="69453"/>
                </a:lnTo>
                <a:cubicBezTo>
                  <a:pt x="76721" y="69453"/>
                  <a:pt x="79375" y="66799"/>
                  <a:pt x="79375" y="63500"/>
                </a:cubicBezTo>
                <a:cubicBezTo>
                  <a:pt x="79375" y="60201"/>
                  <a:pt x="76721" y="57547"/>
                  <a:pt x="73422" y="57547"/>
                </a:cubicBezTo>
                <a:lnTo>
                  <a:pt x="45641" y="57547"/>
                </a:lnTo>
                <a:cubicBezTo>
                  <a:pt x="42342" y="57547"/>
                  <a:pt x="39688" y="60201"/>
                  <a:pt x="39688" y="63500"/>
                </a:cubicBezTo>
                <a:close/>
                <a:moveTo>
                  <a:pt x="39688" y="95250"/>
                </a:moveTo>
                <a:cubicBezTo>
                  <a:pt x="39688" y="98549"/>
                  <a:pt x="42342" y="101203"/>
                  <a:pt x="45641" y="101203"/>
                </a:cubicBezTo>
                <a:lnTo>
                  <a:pt x="73422" y="101203"/>
                </a:lnTo>
                <a:cubicBezTo>
                  <a:pt x="76721" y="101203"/>
                  <a:pt x="79375" y="98549"/>
                  <a:pt x="79375" y="95250"/>
                </a:cubicBezTo>
                <a:cubicBezTo>
                  <a:pt x="79375" y="91951"/>
                  <a:pt x="76721" y="89297"/>
                  <a:pt x="73422" y="89297"/>
                </a:cubicBezTo>
                <a:lnTo>
                  <a:pt x="45641" y="89297"/>
                </a:lnTo>
                <a:cubicBezTo>
                  <a:pt x="42342" y="89297"/>
                  <a:pt x="39688" y="91951"/>
                  <a:pt x="39688" y="95250"/>
                </a:cubicBezTo>
                <a:close/>
                <a:moveTo>
                  <a:pt x="23812" y="103188"/>
                </a:moveTo>
                <a:cubicBezTo>
                  <a:pt x="28193" y="103188"/>
                  <a:pt x="31750" y="99631"/>
                  <a:pt x="31750" y="95250"/>
                </a:cubicBezTo>
                <a:cubicBezTo>
                  <a:pt x="31750" y="90869"/>
                  <a:pt x="28193" y="87313"/>
                  <a:pt x="23812" y="87313"/>
                </a:cubicBezTo>
                <a:cubicBezTo>
                  <a:pt x="19432" y="87313"/>
                  <a:pt x="15875" y="90869"/>
                  <a:pt x="15875" y="95250"/>
                </a:cubicBezTo>
                <a:cubicBezTo>
                  <a:pt x="15875" y="99631"/>
                  <a:pt x="19432" y="103188"/>
                  <a:pt x="23812" y="103188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6618287" y="4352924"/>
            <a:ext cx="5087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Questionnaire Section</a:t>
            </a:r>
            <a:endParaRPr b="0" i="0" sz="1600" u="none" cap="none" strike="noStrike"/>
          </a:p>
        </p:txBody>
      </p:sp>
      <p:sp>
        <p:nvSpPr>
          <p:cNvPr id="563" name="Google Shape;563;p13"/>
          <p:cNvSpPr/>
          <p:nvPr/>
        </p:nvSpPr>
        <p:spPr>
          <a:xfrm>
            <a:off x="6419850" y="4575174"/>
            <a:ext cx="528637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B: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Land ownership, availability, community consent</a:t>
            </a:r>
            <a:endParaRPr b="0" i="0" sz="1600" u="none" cap="none" strike="noStrike"/>
          </a:p>
        </p:txBody>
      </p:sp>
      <p:sp>
        <p:nvSpPr>
          <p:cNvPr id="564" name="Google Shape;564;p13"/>
          <p:cNvSpPr/>
          <p:nvPr/>
        </p:nvSpPr>
        <p:spPr>
          <a:xfrm>
            <a:off x="6162675" y="5108577"/>
            <a:ext cx="5705475" cy="1816100"/>
          </a:xfrm>
          <a:custGeom>
            <a:rect b="b" l="l" r="r" t="t"/>
            <a:pathLst>
              <a:path extrusionOk="0" h="1816100" w="5705475">
                <a:moveTo>
                  <a:pt x="63509" y="0"/>
                </a:moveTo>
                <a:lnTo>
                  <a:pt x="5641966" y="0"/>
                </a:lnTo>
                <a:cubicBezTo>
                  <a:pt x="5677041" y="0"/>
                  <a:pt x="5705475" y="28434"/>
                  <a:pt x="5705475" y="63509"/>
                </a:cubicBezTo>
                <a:lnTo>
                  <a:pt x="5705475" y="1752591"/>
                </a:lnTo>
                <a:cubicBezTo>
                  <a:pt x="5705475" y="1787666"/>
                  <a:pt x="5677041" y="1816100"/>
                  <a:pt x="5641966" y="1816100"/>
                </a:cubicBezTo>
                <a:lnTo>
                  <a:pt x="63509" y="1816100"/>
                </a:lnTo>
                <a:cubicBezTo>
                  <a:pt x="28434" y="1816100"/>
                  <a:pt x="0" y="1787666"/>
                  <a:pt x="0" y="1752591"/>
                </a:cubicBezTo>
                <a:lnTo>
                  <a:pt x="0" y="63509"/>
                </a:lnTo>
                <a:cubicBezTo>
                  <a:pt x="0" y="28457"/>
                  <a:pt x="28457" y="0"/>
                  <a:pt x="63509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6312694" y="5270500"/>
            <a:ext cx="158750" cy="158750"/>
          </a:xfrm>
          <a:custGeom>
            <a:rect b="b" l="l" r="r" t="t"/>
            <a:pathLst>
              <a:path extrusionOk="0" h="158750" w="158750">
                <a:moveTo>
                  <a:pt x="47222" y="18604"/>
                </a:moveTo>
                <a:cubicBezTo>
                  <a:pt x="61547" y="-6201"/>
                  <a:pt x="97358" y="-6201"/>
                  <a:pt x="111683" y="18604"/>
                </a:cubicBezTo>
                <a:lnTo>
                  <a:pt x="123248" y="38633"/>
                </a:lnTo>
                <a:lnTo>
                  <a:pt x="131837" y="33672"/>
                </a:lnTo>
                <a:cubicBezTo>
                  <a:pt x="134441" y="32153"/>
                  <a:pt x="137697" y="32370"/>
                  <a:pt x="140084" y="34199"/>
                </a:cubicBezTo>
                <a:cubicBezTo>
                  <a:pt x="142472" y="36029"/>
                  <a:pt x="143526" y="39129"/>
                  <a:pt x="142751" y="42044"/>
                </a:cubicBezTo>
                <a:lnTo>
                  <a:pt x="135465" y="69143"/>
                </a:lnTo>
                <a:cubicBezTo>
                  <a:pt x="134410" y="73112"/>
                  <a:pt x="130318" y="75468"/>
                  <a:pt x="126349" y="74414"/>
                </a:cubicBezTo>
                <a:lnTo>
                  <a:pt x="99250" y="67159"/>
                </a:lnTo>
                <a:cubicBezTo>
                  <a:pt x="96335" y="66384"/>
                  <a:pt x="94196" y="63934"/>
                  <a:pt x="93793" y="60958"/>
                </a:cubicBezTo>
                <a:cubicBezTo>
                  <a:pt x="93390" y="57981"/>
                  <a:pt x="94847" y="55035"/>
                  <a:pt x="97451" y="53547"/>
                </a:cubicBezTo>
                <a:lnTo>
                  <a:pt x="106040" y="48586"/>
                </a:lnTo>
                <a:lnTo>
                  <a:pt x="94475" y="28556"/>
                </a:lnTo>
                <a:cubicBezTo>
                  <a:pt x="87778" y="16991"/>
                  <a:pt x="71096" y="16991"/>
                  <a:pt x="64399" y="28556"/>
                </a:cubicBezTo>
                <a:lnTo>
                  <a:pt x="62756" y="31378"/>
                </a:lnTo>
                <a:cubicBezTo>
                  <a:pt x="60027" y="36122"/>
                  <a:pt x="53950" y="37734"/>
                  <a:pt x="49206" y="35006"/>
                </a:cubicBezTo>
                <a:cubicBezTo>
                  <a:pt x="44462" y="32277"/>
                  <a:pt x="42850" y="26200"/>
                  <a:pt x="45579" y="21425"/>
                </a:cubicBezTo>
                <a:lnTo>
                  <a:pt x="47222" y="18604"/>
                </a:lnTo>
                <a:close/>
                <a:moveTo>
                  <a:pt x="139433" y="86537"/>
                </a:moveTo>
                <a:cubicBezTo>
                  <a:pt x="144177" y="83809"/>
                  <a:pt x="150254" y="85421"/>
                  <a:pt x="152983" y="90165"/>
                </a:cubicBezTo>
                <a:lnTo>
                  <a:pt x="154626" y="92987"/>
                </a:lnTo>
                <a:cubicBezTo>
                  <a:pt x="168951" y="117791"/>
                  <a:pt x="151061" y="148797"/>
                  <a:pt x="122411" y="148797"/>
                </a:cubicBezTo>
                <a:lnTo>
                  <a:pt x="99281" y="148797"/>
                </a:lnTo>
                <a:lnTo>
                  <a:pt x="99281" y="158719"/>
                </a:lnTo>
                <a:cubicBezTo>
                  <a:pt x="99281" y="161727"/>
                  <a:pt x="97482" y="164455"/>
                  <a:pt x="94692" y="165602"/>
                </a:cubicBezTo>
                <a:cubicBezTo>
                  <a:pt x="91901" y="166750"/>
                  <a:pt x="88708" y="166129"/>
                  <a:pt x="86568" y="163990"/>
                </a:cubicBezTo>
                <a:lnTo>
                  <a:pt x="66725" y="144146"/>
                </a:lnTo>
                <a:cubicBezTo>
                  <a:pt x="63810" y="141232"/>
                  <a:pt x="63810" y="136519"/>
                  <a:pt x="66725" y="133635"/>
                </a:cubicBezTo>
                <a:lnTo>
                  <a:pt x="86568" y="113792"/>
                </a:lnTo>
                <a:cubicBezTo>
                  <a:pt x="88708" y="111652"/>
                  <a:pt x="91901" y="111032"/>
                  <a:pt x="94692" y="112179"/>
                </a:cubicBezTo>
                <a:cubicBezTo>
                  <a:pt x="97482" y="113326"/>
                  <a:pt x="99281" y="116055"/>
                  <a:pt x="99281" y="119062"/>
                </a:cubicBezTo>
                <a:lnTo>
                  <a:pt x="99281" y="128984"/>
                </a:lnTo>
                <a:lnTo>
                  <a:pt x="122411" y="128984"/>
                </a:lnTo>
                <a:cubicBezTo>
                  <a:pt x="135775" y="128984"/>
                  <a:pt x="144146" y="114505"/>
                  <a:pt x="137449" y="102939"/>
                </a:cubicBezTo>
                <a:lnTo>
                  <a:pt x="135806" y="100118"/>
                </a:lnTo>
                <a:cubicBezTo>
                  <a:pt x="133077" y="95374"/>
                  <a:pt x="134689" y="89297"/>
                  <a:pt x="139433" y="86568"/>
                </a:cubicBezTo>
                <a:close/>
                <a:moveTo>
                  <a:pt x="15813" y="72988"/>
                </a:moveTo>
                <a:lnTo>
                  <a:pt x="7224" y="68027"/>
                </a:lnTo>
                <a:cubicBezTo>
                  <a:pt x="4620" y="66508"/>
                  <a:pt x="3163" y="63593"/>
                  <a:pt x="3566" y="60616"/>
                </a:cubicBezTo>
                <a:cubicBezTo>
                  <a:pt x="3969" y="57640"/>
                  <a:pt x="6108" y="55190"/>
                  <a:pt x="9023" y="54415"/>
                </a:cubicBezTo>
                <a:lnTo>
                  <a:pt x="36122" y="47129"/>
                </a:lnTo>
                <a:cubicBezTo>
                  <a:pt x="40091" y="46075"/>
                  <a:pt x="44183" y="48431"/>
                  <a:pt x="45238" y="52400"/>
                </a:cubicBezTo>
                <a:lnTo>
                  <a:pt x="52493" y="79499"/>
                </a:lnTo>
                <a:cubicBezTo>
                  <a:pt x="53268" y="82414"/>
                  <a:pt x="52214" y="85483"/>
                  <a:pt x="49826" y="87344"/>
                </a:cubicBezTo>
                <a:cubicBezTo>
                  <a:pt x="47439" y="89204"/>
                  <a:pt x="44183" y="89390"/>
                  <a:pt x="41579" y="87871"/>
                </a:cubicBezTo>
                <a:lnTo>
                  <a:pt x="32990" y="82910"/>
                </a:lnTo>
                <a:lnTo>
                  <a:pt x="21425" y="102939"/>
                </a:lnTo>
                <a:cubicBezTo>
                  <a:pt x="14728" y="114505"/>
                  <a:pt x="23099" y="128984"/>
                  <a:pt x="36463" y="128984"/>
                </a:cubicBezTo>
                <a:lnTo>
                  <a:pt x="39750" y="128984"/>
                </a:lnTo>
                <a:cubicBezTo>
                  <a:pt x="45238" y="128984"/>
                  <a:pt x="49671" y="133418"/>
                  <a:pt x="49671" y="138906"/>
                </a:cubicBezTo>
                <a:cubicBezTo>
                  <a:pt x="49671" y="144394"/>
                  <a:pt x="45238" y="148828"/>
                  <a:pt x="39750" y="148828"/>
                </a:cubicBezTo>
                <a:lnTo>
                  <a:pt x="36463" y="148828"/>
                </a:lnTo>
                <a:cubicBezTo>
                  <a:pt x="7844" y="148828"/>
                  <a:pt x="-10046" y="117822"/>
                  <a:pt x="4279" y="93018"/>
                </a:cubicBezTo>
                <a:lnTo>
                  <a:pt x="15813" y="72988"/>
                </a:ln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6586537" y="5238750"/>
            <a:ext cx="118268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Circular Economy</a:t>
            </a:r>
            <a:endParaRPr b="0" i="0" sz="1600" u="none" cap="none" strike="noStrike"/>
          </a:p>
        </p:txBody>
      </p:sp>
      <p:sp>
        <p:nvSpPr>
          <p:cNvPr id="567" name="Google Shape;567;p13"/>
          <p:cNvSpPr/>
          <p:nvPr/>
        </p:nvSpPr>
        <p:spPr>
          <a:xfrm>
            <a:off x="6292850" y="5556250"/>
            <a:ext cx="5445125" cy="587375"/>
          </a:xfrm>
          <a:custGeom>
            <a:rect b="b" l="l" r="r" t="t"/>
            <a:pathLst>
              <a:path extrusionOk="0" h="587375" w="5445125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523874"/>
                </a:lnTo>
                <a:cubicBezTo>
                  <a:pt x="5445125" y="558945"/>
                  <a:pt x="5416695" y="587375"/>
                  <a:pt x="5381624" y="587375"/>
                </a:cubicBezTo>
                <a:lnTo>
                  <a:pt x="63501" y="587375"/>
                </a:lnTo>
                <a:cubicBezTo>
                  <a:pt x="28430" y="587375"/>
                  <a:pt x="0" y="558945"/>
                  <a:pt x="0" y="523874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6388100" y="5651500"/>
            <a:ext cx="5318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D69E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Gap: Local Reconditioning</a:t>
            </a:r>
            <a:endParaRPr b="0" i="0" sz="1600" u="none" cap="none" strike="noStrike"/>
          </a:p>
        </p:txBody>
      </p:sp>
      <p:sp>
        <p:nvSpPr>
          <p:cNvPr id="569" name="Google Shape;569;p13"/>
          <p:cNvSpPr/>
          <p:nvPr/>
        </p:nvSpPr>
        <p:spPr>
          <a:xfrm>
            <a:off x="6388100" y="5873750"/>
            <a:ext cx="531812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battery reconditioning capacity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in/near Merti unknown</a:t>
            </a:r>
            <a:endParaRPr b="0" i="0" sz="1600" u="none" cap="none" strike="noStrike"/>
          </a:p>
        </p:txBody>
      </p:sp>
      <p:sp>
        <p:nvSpPr>
          <p:cNvPr id="570" name="Google Shape;570;p13"/>
          <p:cNvSpPr/>
          <p:nvPr/>
        </p:nvSpPr>
        <p:spPr>
          <a:xfrm>
            <a:off x="6308725" y="6207125"/>
            <a:ext cx="5429250" cy="587375"/>
          </a:xfrm>
          <a:custGeom>
            <a:rect b="b" l="l" r="r" t="t"/>
            <a:pathLst>
              <a:path extrusionOk="0" h="587375" w="542925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523874"/>
                </a:lnTo>
                <a:cubicBezTo>
                  <a:pt x="5429250" y="558945"/>
                  <a:pt x="5400820" y="587375"/>
                  <a:pt x="5365749" y="587375"/>
                </a:cubicBezTo>
                <a:lnTo>
                  <a:pt x="31750" y="587375"/>
                </a:lnTo>
                <a:cubicBezTo>
                  <a:pt x="14215" y="587375"/>
                  <a:pt x="0" y="573160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6308725" y="6207125"/>
            <a:ext cx="31750" cy="587375"/>
          </a:xfrm>
          <a:custGeom>
            <a:rect b="b" l="l" r="r" t="t"/>
            <a:pathLst>
              <a:path extrusionOk="0" h="587375" w="31750">
                <a:moveTo>
                  <a:pt x="31750" y="0"/>
                </a:moveTo>
                <a:lnTo>
                  <a:pt x="31750" y="0"/>
                </a:lnTo>
                <a:lnTo>
                  <a:pt x="31750" y="587375"/>
                </a:lnTo>
                <a:lnTo>
                  <a:pt x="31750" y="587375"/>
                </a:lnTo>
                <a:cubicBezTo>
                  <a:pt x="14227" y="587375"/>
                  <a:pt x="0" y="573148"/>
                  <a:pt x="0" y="555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6451600" y="6327777"/>
            <a:ext cx="95250" cy="127000"/>
          </a:xfrm>
          <a:custGeom>
            <a:rect b="b" l="l" r="r" t="t"/>
            <a:pathLst>
              <a:path extrusionOk="0" h="127000" w="9525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31750" y="63500"/>
                </a:move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ubicBezTo>
                  <a:pt x="28193" y="71438"/>
                  <a:pt x="31750" y="67881"/>
                  <a:pt x="31750" y="63500"/>
                </a:cubicBezTo>
                <a:close/>
                <a:moveTo>
                  <a:pt x="39688" y="63500"/>
                </a:moveTo>
                <a:cubicBezTo>
                  <a:pt x="39688" y="66799"/>
                  <a:pt x="42342" y="69453"/>
                  <a:pt x="45641" y="69453"/>
                </a:cubicBezTo>
                <a:lnTo>
                  <a:pt x="73422" y="69453"/>
                </a:lnTo>
                <a:cubicBezTo>
                  <a:pt x="76721" y="69453"/>
                  <a:pt x="79375" y="66799"/>
                  <a:pt x="79375" y="63500"/>
                </a:cubicBezTo>
                <a:cubicBezTo>
                  <a:pt x="79375" y="60201"/>
                  <a:pt x="76721" y="57547"/>
                  <a:pt x="73422" y="57547"/>
                </a:cubicBezTo>
                <a:lnTo>
                  <a:pt x="45641" y="57547"/>
                </a:lnTo>
                <a:cubicBezTo>
                  <a:pt x="42342" y="57547"/>
                  <a:pt x="39688" y="60201"/>
                  <a:pt x="39688" y="63500"/>
                </a:cubicBezTo>
                <a:close/>
                <a:moveTo>
                  <a:pt x="39688" y="95250"/>
                </a:moveTo>
                <a:cubicBezTo>
                  <a:pt x="39688" y="98549"/>
                  <a:pt x="42342" y="101203"/>
                  <a:pt x="45641" y="101203"/>
                </a:cubicBezTo>
                <a:lnTo>
                  <a:pt x="73422" y="101203"/>
                </a:lnTo>
                <a:cubicBezTo>
                  <a:pt x="76721" y="101203"/>
                  <a:pt x="79375" y="98549"/>
                  <a:pt x="79375" y="95250"/>
                </a:cubicBezTo>
                <a:cubicBezTo>
                  <a:pt x="79375" y="91951"/>
                  <a:pt x="76721" y="89297"/>
                  <a:pt x="73422" y="89297"/>
                </a:cubicBezTo>
                <a:lnTo>
                  <a:pt x="45641" y="89297"/>
                </a:lnTo>
                <a:cubicBezTo>
                  <a:pt x="42342" y="89297"/>
                  <a:pt x="39688" y="91951"/>
                  <a:pt x="39688" y="95250"/>
                </a:cubicBezTo>
                <a:close/>
                <a:moveTo>
                  <a:pt x="23812" y="103188"/>
                </a:moveTo>
                <a:cubicBezTo>
                  <a:pt x="28193" y="103188"/>
                  <a:pt x="31750" y="99631"/>
                  <a:pt x="31750" y="95250"/>
                </a:cubicBezTo>
                <a:cubicBezTo>
                  <a:pt x="31750" y="90869"/>
                  <a:pt x="28193" y="87313"/>
                  <a:pt x="23812" y="87313"/>
                </a:cubicBezTo>
                <a:cubicBezTo>
                  <a:pt x="19432" y="87313"/>
                  <a:pt x="15875" y="90869"/>
                  <a:pt x="15875" y="95250"/>
                </a:cubicBezTo>
                <a:cubicBezTo>
                  <a:pt x="15875" y="99631"/>
                  <a:pt x="19432" y="103188"/>
                  <a:pt x="23812" y="103188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6618287" y="6302375"/>
            <a:ext cx="5087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A1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Questionnaire Section</a:t>
            </a:r>
            <a:endParaRPr b="0" i="0" sz="1600" u="none" cap="none" strike="noStrike"/>
          </a:p>
        </p:txBody>
      </p:sp>
      <p:sp>
        <p:nvSpPr>
          <p:cNvPr id="574" name="Google Shape;574;p13"/>
          <p:cNvSpPr/>
          <p:nvPr/>
        </p:nvSpPr>
        <p:spPr>
          <a:xfrm>
            <a:off x="6419850" y="6524625"/>
            <a:ext cx="5286375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Section I: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Local SMEs, artisans, technical capacity</a:t>
            </a:r>
            <a:endParaRPr b="0" i="0" sz="1600" u="none" cap="none" strike="noStrike"/>
          </a:p>
        </p:txBody>
      </p:sp>
      <p:sp>
        <p:nvSpPr>
          <p:cNvPr id="575" name="Google Shape;575;p13"/>
          <p:cNvSpPr/>
          <p:nvPr/>
        </p:nvSpPr>
        <p:spPr>
          <a:xfrm>
            <a:off x="333375" y="7023098"/>
            <a:ext cx="11541125" cy="365125"/>
          </a:xfrm>
          <a:custGeom>
            <a:rect b="b" l="l" r="r" t="t"/>
            <a:pathLst>
              <a:path extrusionOk="0" h="365125" w="11541125">
                <a:moveTo>
                  <a:pt x="31750" y="0"/>
                </a:moveTo>
                <a:lnTo>
                  <a:pt x="11477626" y="0"/>
                </a:lnTo>
                <a:cubicBezTo>
                  <a:pt x="11512696" y="0"/>
                  <a:pt x="11541125" y="28429"/>
                  <a:pt x="11541125" y="63499"/>
                </a:cubicBezTo>
                <a:lnTo>
                  <a:pt x="11541125" y="301626"/>
                </a:lnTo>
                <a:cubicBezTo>
                  <a:pt x="11541125" y="336696"/>
                  <a:pt x="11512696" y="365125"/>
                  <a:pt x="11477626" y="365125"/>
                </a:cubicBezTo>
                <a:lnTo>
                  <a:pt x="31750" y="365125"/>
                </a:lnTo>
                <a:cubicBezTo>
                  <a:pt x="14227" y="365125"/>
                  <a:pt x="0" y="350898"/>
                  <a:pt x="0" y="333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333375" y="7023098"/>
            <a:ext cx="31750" cy="365125"/>
          </a:xfrm>
          <a:custGeom>
            <a:rect b="b" l="l" r="r" t="t"/>
            <a:pathLst>
              <a:path extrusionOk="0" h="365125" w="31750">
                <a:moveTo>
                  <a:pt x="31750" y="0"/>
                </a:moveTo>
                <a:lnTo>
                  <a:pt x="31750" y="0"/>
                </a:lnTo>
                <a:lnTo>
                  <a:pt x="31750" y="365125"/>
                </a:lnTo>
                <a:lnTo>
                  <a:pt x="31750" y="365125"/>
                </a:lnTo>
                <a:cubicBezTo>
                  <a:pt x="14227" y="365125"/>
                  <a:pt x="0" y="350898"/>
                  <a:pt x="0" y="333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"/>
          <p:cNvSpPr/>
          <p:nvPr/>
        </p:nvSpPr>
        <p:spPr>
          <a:xfrm>
            <a:off x="460375" y="7131053"/>
            <a:ext cx="127000" cy="127000"/>
          </a:xfrm>
          <a:custGeom>
            <a:rect b="b" l="l" r="r" t="t"/>
            <a:pathLst>
              <a:path extrusionOk="0" h="127000" w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33734"/>
                </a:moveTo>
                <a:cubicBezTo>
                  <a:pt x="66799" y="33734"/>
                  <a:pt x="69453" y="36388"/>
                  <a:pt x="69453" y="39688"/>
                </a:cubicBezTo>
                <a:lnTo>
                  <a:pt x="69453" y="67469"/>
                </a:lnTo>
                <a:cubicBezTo>
                  <a:pt x="69453" y="70768"/>
                  <a:pt x="66799" y="73422"/>
                  <a:pt x="63500" y="73422"/>
                </a:cubicBezTo>
                <a:cubicBezTo>
                  <a:pt x="60201" y="73422"/>
                  <a:pt x="57547" y="70768"/>
                  <a:pt x="57547" y="67469"/>
                </a:cubicBezTo>
                <a:lnTo>
                  <a:pt x="57547" y="39688"/>
                </a:lnTo>
                <a:cubicBezTo>
                  <a:pt x="57547" y="36388"/>
                  <a:pt x="60201" y="33734"/>
                  <a:pt x="63500" y="33734"/>
                </a:cubicBezTo>
                <a:close/>
                <a:moveTo>
                  <a:pt x="56877" y="87313"/>
                </a:moveTo>
                <a:cubicBezTo>
                  <a:pt x="56726" y="84854"/>
                  <a:pt x="57952" y="82515"/>
                  <a:pt x="60060" y="81241"/>
                </a:cubicBezTo>
                <a:cubicBezTo>
                  <a:pt x="62167" y="79966"/>
                  <a:pt x="64808" y="79966"/>
                  <a:pt x="66915" y="81241"/>
                </a:cubicBezTo>
                <a:cubicBezTo>
                  <a:pt x="69023" y="82515"/>
                  <a:pt x="70249" y="84854"/>
                  <a:pt x="70098" y="87313"/>
                </a:cubicBezTo>
                <a:cubicBezTo>
                  <a:pt x="70249" y="89771"/>
                  <a:pt x="69023" y="92110"/>
                  <a:pt x="66915" y="93384"/>
                </a:cubicBezTo>
                <a:cubicBezTo>
                  <a:pt x="64808" y="94659"/>
                  <a:pt x="62167" y="94659"/>
                  <a:pt x="60060" y="93384"/>
                </a:cubicBezTo>
                <a:cubicBezTo>
                  <a:pt x="57952" y="92110"/>
                  <a:pt x="56726" y="89771"/>
                  <a:pt x="56877" y="87313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642938" y="7118348"/>
            <a:ext cx="111998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Critical Path:</a:t>
            </a:r>
            <a:r>
              <a:rPr b="0" i="0" lang="en-US" sz="10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Each gap directly impacts component sizing and system economics. The questionnaire is designed to systematically address all unknowns, enabling evidence-based design.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4"/>
          <p:cNvSpPr/>
          <p:nvPr/>
        </p:nvSpPr>
        <p:spPr>
          <a:xfrm>
            <a:off x="350849" y="456104"/>
            <a:ext cx="52627" cy="350849"/>
          </a:xfrm>
          <a:custGeom>
            <a:rect b="b" l="l" r="r" t="t"/>
            <a:pathLst>
              <a:path extrusionOk="0" h="350849" w="52627">
                <a:moveTo>
                  <a:pt x="0" y="0"/>
                </a:moveTo>
                <a:lnTo>
                  <a:pt x="52627" y="0"/>
                </a:lnTo>
                <a:lnTo>
                  <a:pt x="52627" y="350849"/>
                </a:lnTo>
                <a:lnTo>
                  <a:pt x="0" y="350849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585" name="Google Shape;585;p14"/>
          <p:cNvSpPr/>
          <p:nvPr/>
        </p:nvSpPr>
        <p:spPr>
          <a:xfrm>
            <a:off x="508731" y="350849"/>
            <a:ext cx="4183873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07 — FUNDING CONTEXT</a:t>
            </a:r>
            <a:endParaRPr b="0" i="0" sz="1600" u="none" cap="none" strike="noStrike"/>
          </a:p>
        </p:txBody>
      </p:sp>
      <p:sp>
        <p:nvSpPr>
          <p:cNvPr id="586" name="Google Shape;586;p14"/>
          <p:cNvSpPr/>
          <p:nvPr/>
        </p:nvSpPr>
        <p:spPr>
          <a:xfrm>
            <a:off x="508731" y="561358"/>
            <a:ext cx="4271586" cy="35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86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EU Horizon Europe Alignment</a:t>
            </a:r>
            <a:endParaRPr b="0" i="0" sz="1600" u="none" cap="none" strike="noStrike"/>
          </a:p>
        </p:txBody>
      </p:sp>
      <p:sp>
        <p:nvSpPr>
          <p:cNvPr id="587" name="Google Shape;587;p14"/>
          <p:cNvSpPr/>
          <p:nvPr/>
        </p:nvSpPr>
        <p:spPr>
          <a:xfrm>
            <a:off x="526273" y="982377"/>
            <a:ext cx="1138504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4A55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SHEPA's strategic fit with the Renewable Energy Valleys in Africa call</a:t>
            </a:r>
            <a:endParaRPr b="0" i="0" sz="1600" u="none" cap="none" strike="noStrike"/>
          </a:p>
        </p:txBody>
      </p:sp>
      <p:sp>
        <p:nvSpPr>
          <p:cNvPr id="588" name="Google Shape;588;p14"/>
          <p:cNvSpPr/>
          <p:nvPr/>
        </p:nvSpPr>
        <p:spPr>
          <a:xfrm>
            <a:off x="354357" y="1336734"/>
            <a:ext cx="5673227" cy="3550591"/>
          </a:xfrm>
          <a:custGeom>
            <a:rect b="b" l="l" r="r" t="t"/>
            <a:pathLst>
              <a:path extrusionOk="0" h="3550591" w="5673227">
                <a:moveTo>
                  <a:pt x="70160" y="0"/>
                </a:moveTo>
                <a:lnTo>
                  <a:pt x="5603067" y="0"/>
                </a:lnTo>
                <a:cubicBezTo>
                  <a:pt x="5641815" y="0"/>
                  <a:pt x="5673227" y="31412"/>
                  <a:pt x="5673227" y="70160"/>
                </a:cubicBezTo>
                <a:lnTo>
                  <a:pt x="5673227" y="3480431"/>
                </a:lnTo>
                <a:cubicBezTo>
                  <a:pt x="5673227" y="3519180"/>
                  <a:pt x="5641815" y="3550591"/>
                  <a:pt x="5603067" y="3550591"/>
                </a:cubicBezTo>
                <a:lnTo>
                  <a:pt x="70160" y="3550591"/>
                </a:lnTo>
                <a:cubicBezTo>
                  <a:pt x="31412" y="3550591"/>
                  <a:pt x="0" y="3519180"/>
                  <a:pt x="0" y="3480431"/>
                </a:cubicBezTo>
                <a:lnTo>
                  <a:pt x="0" y="70160"/>
                </a:lnTo>
                <a:cubicBezTo>
                  <a:pt x="0" y="31437"/>
                  <a:pt x="31437" y="0"/>
                  <a:pt x="70160" y="0"/>
                </a:cubicBezTo>
                <a:close/>
              </a:path>
            </a:pathLst>
          </a:custGeom>
          <a:gradFill>
            <a:gsLst>
              <a:gs pos="0">
                <a:srgbClr val="38A169">
                  <a:alpha val="20000"/>
                </a:srgbClr>
              </a:gs>
              <a:gs pos="100000">
                <a:srgbClr val="38A169">
                  <a:alpha val="5098"/>
                </a:srgbClr>
              </a:gs>
            </a:gsLst>
            <a:lin ang="2700000" scaled="0"/>
          </a:gradFill>
          <a:ln cap="flat" cmpd="sng" w="10150">
            <a:solidFill>
              <a:srgbClr val="38A16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537676" y="1498123"/>
            <a:ext cx="184196" cy="210509"/>
          </a:xfrm>
          <a:custGeom>
            <a:rect b="b" l="l" r="r" t="t"/>
            <a:pathLst>
              <a:path extrusionOk="0" h="210509" w="184196">
                <a:moveTo>
                  <a:pt x="26314" y="13157"/>
                </a:moveTo>
                <a:cubicBezTo>
                  <a:pt x="26314" y="5879"/>
                  <a:pt x="20434" y="0"/>
                  <a:pt x="13157" y="0"/>
                </a:cubicBezTo>
                <a:cubicBezTo>
                  <a:pt x="5879" y="0"/>
                  <a:pt x="0" y="5879"/>
                  <a:pt x="0" y="13157"/>
                </a:cubicBezTo>
                <a:lnTo>
                  <a:pt x="0" y="197353"/>
                </a:lnTo>
                <a:cubicBezTo>
                  <a:pt x="0" y="204630"/>
                  <a:pt x="5879" y="210509"/>
                  <a:pt x="13157" y="210509"/>
                </a:cubicBezTo>
                <a:cubicBezTo>
                  <a:pt x="20434" y="210509"/>
                  <a:pt x="26314" y="204630"/>
                  <a:pt x="26314" y="197353"/>
                </a:cubicBezTo>
                <a:lnTo>
                  <a:pt x="26314" y="147357"/>
                </a:lnTo>
                <a:lnTo>
                  <a:pt x="52093" y="139627"/>
                </a:lnTo>
                <a:cubicBezTo>
                  <a:pt x="69320" y="134446"/>
                  <a:pt x="87904" y="136050"/>
                  <a:pt x="103980" y="144108"/>
                </a:cubicBezTo>
                <a:cubicBezTo>
                  <a:pt x="121536" y="152907"/>
                  <a:pt x="142012" y="153976"/>
                  <a:pt x="160390" y="147069"/>
                </a:cubicBezTo>
                <a:lnTo>
                  <a:pt x="175644" y="141354"/>
                </a:lnTo>
                <a:cubicBezTo>
                  <a:pt x="180783" y="139421"/>
                  <a:pt x="184196" y="134529"/>
                  <a:pt x="184196" y="129019"/>
                </a:cubicBezTo>
                <a:lnTo>
                  <a:pt x="184196" y="27177"/>
                </a:lnTo>
                <a:cubicBezTo>
                  <a:pt x="184196" y="17721"/>
                  <a:pt x="174246" y="11553"/>
                  <a:pt x="165776" y="15788"/>
                </a:cubicBezTo>
                <a:lnTo>
                  <a:pt x="160925" y="18214"/>
                </a:lnTo>
                <a:cubicBezTo>
                  <a:pt x="142464" y="27465"/>
                  <a:pt x="120714" y="27465"/>
                  <a:pt x="102212" y="18214"/>
                </a:cubicBezTo>
                <a:cubicBezTo>
                  <a:pt x="87246" y="10731"/>
                  <a:pt x="70019" y="9251"/>
                  <a:pt x="54025" y="14061"/>
                </a:cubicBezTo>
                <a:lnTo>
                  <a:pt x="26314" y="22367"/>
                </a:lnTo>
                <a:lnTo>
                  <a:pt x="26314" y="13157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866597" y="1480581"/>
            <a:ext cx="929750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1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Target Call</a:t>
            </a:r>
            <a:endParaRPr b="0" i="0" sz="1600" u="none" cap="none" strike="noStrike"/>
          </a:p>
        </p:txBody>
      </p:sp>
      <p:sp>
        <p:nvSpPr>
          <p:cNvPr id="591" name="Google Shape;591;p14"/>
          <p:cNvSpPr/>
          <p:nvPr/>
        </p:nvSpPr>
        <p:spPr>
          <a:xfrm>
            <a:off x="498205" y="1831430"/>
            <a:ext cx="5385531" cy="877122"/>
          </a:xfrm>
          <a:custGeom>
            <a:rect b="b" l="l" r="r" t="t"/>
            <a:pathLst>
              <a:path extrusionOk="0" h="877122" w="5385531">
                <a:moveTo>
                  <a:pt x="70170" y="0"/>
                </a:moveTo>
                <a:lnTo>
                  <a:pt x="5315361" y="0"/>
                </a:lnTo>
                <a:cubicBezTo>
                  <a:pt x="5354115" y="0"/>
                  <a:pt x="5385531" y="31416"/>
                  <a:pt x="5385531" y="70170"/>
                </a:cubicBezTo>
                <a:lnTo>
                  <a:pt x="5385531" y="806953"/>
                </a:lnTo>
                <a:cubicBezTo>
                  <a:pt x="5385531" y="845706"/>
                  <a:pt x="5354115" y="877122"/>
                  <a:pt x="5315361" y="877122"/>
                </a:cubicBezTo>
                <a:lnTo>
                  <a:pt x="70170" y="877122"/>
                </a:lnTo>
                <a:cubicBezTo>
                  <a:pt x="31416" y="877122"/>
                  <a:pt x="0" y="845706"/>
                  <a:pt x="0" y="806953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603460" y="1936684"/>
            <a:ext cx="5253963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3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HORIZON-CL5-2027-02-D3-10</a:t>
            </a:r>
            <a:endParaRPr b="0" i="0" sz="1600" u="none" cap="none" strike="noStrike"/>
          </a:p>
        </p:txBody>
      </p:sp>
      <p:sp>
        <p:nvSpPr>
          <p:cNvPr id="593" name="Google Shape;593;p14"/>
          <p:cNvSpPr/>
          <p:nvPr/>
        </p:nvSpPr>
        <p:spPr>
          <a:xfrm>
            <a:off x="603460" y="2217363"/>
            <a:ext cx="5245191" cy="385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Renewable Energy Valleys in Africa to increase energy security and energy access in Africa</a:t>
            </a:r>
            <a:endParaRPr b="0" i="0" sz="1600" u="none" cap="none" strike="noStrike"/>
          </a:p>
        </p:txBody>
      </p:sp>
      <p:sp>
        <p:nvSpPr>
          <p:cNvPr id="594" name="Google Shape;594;p14"/>
          <p:cNvSpPr/>
          <p:nvPr/>
        </p:nvSpPr>
        <p:spPr>
          <a:xfrm>
            <a:off x="530001" y="2848892"/>
            <a:ext cx="138147" cy="157882"/>
          </a:xfrm>
          <a:custGeom>
            <a:rect b="b" l="l" r="r" t="t"/>
            <a:pathLst>
              <a:path extrusionOk="0" h="157882" w="138147">
                <a:moveTo>
                  <a:pt x="22603" y="59206"/>
                </a:moveTo>
                <a:cubicBezTo>
                  <a:pt x="31083" y="30682"/>
                  <a:pt x="57510" y="9868"/>
                  <a:pt x="88809" y="9868"/>
                </a:cubicBezTo>
                <a:lnTo>
                  <a:pt x="108544" y="9868"/>
                </a:lnTo>
                <a:cubicBezTo>
                  <a:pt x="114002" y="9868"/>
                  <a:pt x="118412" y="14277"/>
                  <a:pt x="118412" y="19735"/>
                </a:cubicBezTo>
                <a:cubicBezTo>
                  <a:pt x="118412" y="25193"/>
                  <a:pt x="114002" y="29603"/>
                  <a:pt x="108544" y="29603"/>
                </a:cubicBezTo>
                <a:lnTo>
                  <a:pt x="88809" y="29603"/>
                </a:lnTo>
                <a:cubicBezTo>
                  <a:pt x="68580" y="29603"/>
                  <a:pt x="51188" y="41783"/>
                  <a:pt x="43572" y="59206"/>
                </a:cubicBezTo>
                <a:lnTo>
                  <a:pt x="83875" y="59206"/>
                </a:lnTo>
                <a:cubicBezTo>
                  <a:pt x="87976" y="59206"/>
                  <a:pt x="91276" y="62505"/>
                  <a:pt x="91276" y="66606"/>
                </a:cubicBezTo>
                <a:cubicBezTo>
                  <a:pt x="91276" y="70708"/>
                  <a:pt x="87976" y="74007"/>
                  <a:pt x="83875" y="74007"/>
                </a:cubicBezTo>
                <a:lnTo>
                  <a:pt x="39717" y="74007"/>
                </a:lnTo>
                <a:cubicBezTo>
                  <a:pt x="39563" y="75642"/>
                  <a:pt x="39471" y="77276"/>
                  <a:pt x="39471" y="78941"/>
                </a:cubicBezTo>
                <a:cubicBezTo>
                  <a:pt x="39471" y="80606"/>
                  <a:pt x="39563" y="82240"/>
                  <a:pt x="39717" y="83875"/>
                </a:cubicBezTo>
                <a:lnTo>
                  <a:pt x="83875" y="83875"/>
                </a:lnTo>
                <a:cubicBezTo>
                  <a:pt x="87976" y="83875"/>
                  <a:pt x="91276" y="87174"/>
                  <a:pt x="91276" y="91276"/>
                </a:cubicBezTo>
                <a:cubicBezTo>
                  <a:pt x="91276" y="95377"/>
                  <a:pt x="87976" y="98676"/>
                  <a:pt x="83875" y="98676"/>
                </a:cubicBezTo>
                <a:lnTo>
                  <a:pt x="43572" y="98676"/>
                </a:lnTo>
                <a:cubicBezTo>
                  <a:pt x="51188" y="116099"/>
                  <a:pt x="68580" y="128279"/>
                  <a:pt x="88809" y="128279"/>
                </a:cubicBezTo>
                <a:lnTo>
                  <a:pt x="108544" y="128279"/>
                </a:lnTo>
                <a:cubicBezTo>
                  <a:pt x="114002" y="128279"/>
                  <a:pt x="118412" y="132689"/>
                  <a:pt x="118412" y="138147"/>
                </a:cubicBezTo>
                <a:cubicBezTo>
                  <a:pt x="118412" y="143605"/>
                  <a:pt x="114002" y="148014"/>
                  <a:pt x="108544" y="148014"/>
                </a:cubicBezTo>
                <a:lnTo>
                  <a:pt x="88809" y="148014"/>
                </a:lnTo>
                <a:cubicBezTo>
                  <a:pt x="57510" y="148014"/>
                  <a:pt x="31083" y="127200"/>
                  <a:pt x="22603" y="98676"/>
                </a:cubicBezTo>
                <a:lnTo>
                  <a:pt x="12335" y="98676"/>
                </a:lnTo>
                <a:cubicBezTo>
                  <a:pt x="8233" y="98676"/>
                  <a:pt x="4934" y="95377"/>
                  <a:pt x="4934" y="91276"/>
                </a:cubicBezTo>
                <a:cubicBezTo>
                  <a:pt x="4934" y="87174"/>
                  <a:pt x="8233" y="83875"/>
                  <a:pt x="12335" y="83875"/>
                </a:cubicBezTo>
                <a:lnTo>
                  <a:pt x="19920" y="83875"/>
                </a:lnTo>
                <a:cubicBezTo>
                  <a:pt x="19704" y="80637"/>
                  <a:pt x="19704" y="77245"/>
                  <a:pt x="19920" y="74007"/>
                </a:cubicBezTo>
                <a:lnTo>
                  <a:pt x="12335" y="74007"/>
                </a:lnTo>
                <a:cubicBezTo>
                  <a:pt x="8233" y="74007"/>
                  <a:pt x="4934" y="70708"/>
                  <a:pt x="4934" y="66606"/>
                </a:cubicBezTo>
                <a:cubicBezTo>
                  <a:pt x="4934" y="62505"/>
                  <a:pt x="8233" y="59206"/>
                  <a:pt x="12335" y="59206"/>
                </a:cubicBezTo>
                <a:lnTo>
                  <a:pt x="22603" y="59206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800813" y="2813807"/>
            <a:ext cx="263136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Funding Amount</a:t>
            </a:r>
            <a:endParaRPr b="0" i="0" sz="1600" u="none" cap="none" strike="noStrike"/>
          </a:p>
        </p:txBody>
      </p:sp>
      <p:sp>
        <p:nvSpPr>
          <p:cNvPr id="596" name="Google Shape;596;p14"/>
          <p:cNvSpPr/>
          <p:nvPr/>
        </p:nvSpPr>
        <p:spPr>
          <a:xfrm>
            <a:off x="800813" y="3024316"/>
            <a:ext cx="2631367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€4.5 million per project (70% funding rate)</a:t>
            </a:r>
            <a:endParaRPr b="0" i="0" sz="1600" u="none" cap="none" strike="noStrike"/>
          </a:p>
        </p:txBody>
      </p:sp>
      <p:sp>
        <p:nvSpPr>
          <p:cNvPr id="597" name="Google Shape;597;p14"/>
          <p:cNvSpPr/>
          <p:nvPr/>
        </p:nvSpPr>
        <p:spPr>
          <a:xfrm>
            <a:off x="530001" y="3340080"/>
            <a:ext cx="138147" cy="157882"/>
          </a:xfrm>
          <a:custGeom>
            <a:rect b="b" l="l" r="r" t="t"/>
            <a:pathLst>
              <a:path extrusionOk="0" h="157882" w="138147">
                <a:moveTo>
                  <a:pt x="39471" y="0"/>
                </a:moveTo>
                <a:cubicBezTo>
                  <a:pt x="44929" y="0"/>
                  <a:pt x="49338" y="4410"/>
                  <a:pt x="49338" y="9868"/>
                </a:cubicBezTo>
                <a:lnTo>
                  <a:pt x="49338" y="19735"/>
                </a:lnTo>
                <a:lnTo>
                  <a:pt x="88809" y="19735"/>
                </a:lnTo>
                <a:lnTo>
                  <a:pt x="88809" y="9868"/>
                </a:lnTo>
                <a:cubicBezTo>
                  <a:pt x="88809" y="4410"/>
                  <a:pt x="93218" y="0"/>
                  <a:pt x="98676" y="0"/>
                </a:cubicBezTo>
                <a:cubicBezTo>
                  <a:pt x="104134" y="0"/>
                  <a:pt x="108544" y="4410"/>
                  <a:pt x="108544" y="9868"/>
                </a:cubicBezTo>
                <a:lnTo>
                  <a:pt x="108544" y="19735"/>
                </a:lnTo>
                <a:lnTo>
                  <a:pt x="118412" y="19735"/>
                </a:lnTo>
                <a:cubicBezTo>
                  <a:pt x="129297" y="19735"/>
                  <a:pt x="138147" y="28585"/>
                  <a:pt x="138147" y="39471"/>
                </a:cubicBezTo>
                <a:lnTo>
                  <a:pt x="138147" y="128279"/>
                </a:lnTo>
                <a:cubicBezTo>
                  <a:pt x="138147" y="139164"/>
                  <a:pt x="129297" y="148014"/>
                  <a:pt x="118412" y="148014"/>
                </a:cubicBezTo>
                <a:lnTo>
                  <a:pt x="19735" y="148014"/>
                </a:lnTo>
                <a:cubicBezTo>
                  <a:pt x="8850" y="148014"/>
                  <a:pt x="0" y="139164"/>
                  <a:pt x="0" y="128279"/>
                </a:cubicBezTo>
                <a:lnTo>
                  <a:pt x="0" y="39471"/>
                </a:lnTo>
                <a:cubicBezTo>
                  <a:pt x="0" y="28585"/>
                  <a:pt x="8850" y="19735"/>
                  <a:pt x="19735" y="19735"/>
                </a:cubicBezTo>
                <a:lnTo>
                  <a:pt x="29603" y="19735"/>
                </a:lnTo>
                <a:lnTo>
                  <a:pt x="29603" y="9868"/>
                </a:lnTo>
                <a:cubicBezTo>
                  <a:pt x="29603" y="4410"/>
                  <a:pt x="34012" y="0"/>
                  <a:pt x="39471" y="0"/>
                </a:cubicBezTo>
                <a:close/>
                <a:moveTo>
                  <a:pt x="19735" y="74007"/>
                </a:moveTo>
                <a:lnTo>
                  <a:pt x="19735" y="83875"/>
                </a:lnTo>
                <a:cubicBezTo>
                  <a:pt x="19735" y="86588"/>
                  <a:pt x="21955" y="88809"/>
                  <a:pt x="24669" y="88809"/>
                </a:cubicBezTo>
                <a:lnTo>
                  <a:pt x="34537" y="88809"/>
                </a:lnTo>
                <a:cubicBezTo>
                  <a:pt x="37250" y="88809"/>
                  <a:pt x="39471" y="86588"/>
                  <a:pt x="39471" y="83875"/>
                </a:cubicBezTo>
                <a:lnTo>
                  <a:pt x="39471" y="74007"/>
                </a:lnTo>
                <a:cubicBezTo>
                  <a:pt x="39471" y="71294"/>
                  <a:pt x="37250" y="69073"/>
                  <a:pt x="34537" y="69073"/>
                </a:cubicBezTo>
                <a:lnTo>
                  <a:pt x="24669" y="69073"/>
                </a:lnTo>
                <a:cubicBezTo>
                  <a:pt x="21955" y="69073"/>
                  <a:pt x="19735" y="71294"/>
                  <a:pt x="19735" y="74007"/>
                </a:cubicBezTo>
                <a:close/>
                <a:moveTo>
                  <a:pt x="59206" y="74007"/>
                </a:moveTo>
                <a:lnTo>
                  <a:pt x="59206" y="83875"/>
                </a:lnTo>
                <a:cubicBezTo>
                  <a:pt x="59206" y="86588"/>
                  <a:pt x="61426" y="88809"/>
                  <a:pt x="64140" y="88809"/>
                </a:cubicBezTo>
                <a:lnTo>
                  <a:pt x="74007" y="88809"/>
                </a:lnTo>
                <a:cubicBezTo>
                  <a:pt x="76721" y="88809"/>
                  <a:pt x="78941" y="86588"/>
                  <a:pt x="78941" y="83875"/>
                </a:cubicBezTo>
                <a:lnTo>
                  <a:pt x="78941" y="74007"/>
                </a:lnTo>
                <a:cubicBezTo>
                  <a:pt x="78941" y="71294"/>
                  <a:pt x="76721" y="69073"/>
                  <a:pt x="74007" y="69073"/>
                </a:cubicBezTo>
                <a:lnTo>
                  <a:pt x="64140" y="69073"/>
                </a:lnTo>
                <a:cubicBezTo>
                  <a:pt x="61426" y="69073"/>
                  <a:pt x="59206" y="71294"/>
                  <a:pt x="59206" y="74007"/>
                </a:cubicBezTo>
                <a:close/>
                <a:moveTo>
                  <a:pt x="103610" y="69073"/>
                </a:moveTo>
                <a:cubicBezTo>
                  <a:pt x="100896" y="69073"/>
                  <a:pt x="98676" y="71294"/>
                  <a:pt x="98676" y="74007"/>
                </a:cubicBezTo>
                <a:lnTo>
                  <a:pt x="98676" y="83875"/>
                </a:lnTo>
                <a:cubicBezTo>
                  <a:pt x="98676" y="86588"/>
                  <a:pt x="100896" y="88809"/>
                  <a:pt x="103610" y="88809"/>
                </a:cubicBezTo>
                <a:lnTo>
                  <a:pt x="113478" y="88809"/>
                </a:lnTo>
                <a:cubicBezTo>
                  <a:pt x="116191" y="88809"/>
                  <a:pt x="118412" y="86588"/>
                  <a:pt x="118412" y="83875"/>
                </a:cubicBezTo>
                <a:lnTo>
                  <a:pt x="118412" y="74007"/>
                </a:lnTo>
                <a:cubicBezTo>
                  <a:pt x="118412" y="71294"/>
                  <a:pt x="116191" y="69073"/>
                  <a:pt x="113478" y="69073"/>
                </a:cubicBezTo>
                <a:lnTo>
                  <a:pt x="103610" y="69073"/>
                </a:lnTo>
                <a:close/>
                <a:moveTo>
                  <a:pt x="19735" y="113478"/>
                </a:moveTo>
                <a:lnTo>
                  <a:pt x="19735" y="123345"/>
                </a:lnTo>
                <a:cubicBezTo>
                  <a:pt x="19735" y="126059"/>
                  <a:pt x="21955" y="128279"/>
                  <a:pt x="24669" y="128279"/>
                </a:cubicBezTo>
                <a:lnTo>
                  <a:pt x="34537" y="128279"/>
                </a:lnTo>
                <a:cubicBezTo>
                  <a:pt x="37250" y="128279"/>
                  <a:pt x="39471" y="126059"/>
                  <a:pt x="39471" y="123345"/>
                </a:cubicBezTo>
                <a:lnTo>
                  <a:pt x="39471" y="113478"/>
                </a:lnTo>
                <a:cubicBezTo>
                  <a:pt x="39471" y="110764"/>
                  <a:pt x="37250" y="108544"/>
                  <a:pt x="34537" y="108544"/>
                </a:cubicBezTo>
                <a:lnTo>
                  <a:pt x="24669" y="108544"/>
                </a:lnTo>
                <a:cubicBezTo>
                  <a:pt x="21955" y="108544"/>
                  <a:pt x="19735" y="110764"/>
                  <a:pt x="19735" y="113478"/>
                </a:cubicBezTo>
                <a:close/>
                <a:moveTo>
                  <a:pt x="64140" y="108544"/>
                </a:moveTo>
                <a:cubicBezTo>
                  <a:pt x="61426" y="108544"/>
                  <a:pt x="59206" y="110764"/>
                  <a:pt x="59206" y="113478"/>
                </a:cubicBezTo>
                <a:lnTo>
                  <a:pt x="59206" y="123345"/>
                </a:lnTo>
                <a:cubicBezTo>
                  <a:pt x="59206" y="126059"/>
                  <a:pt x="61426" y="128279"/>
                  <a:pt x="64140" y="128279"/>
                </a:cubicBezTo>
                <a:lnTo>
                  <a:pt x="74007" y="128279"/>
                </a:lnTo>
                <a:cubicBezTo>
                  <a:pt x="76721" y="128279"/>
                  <a:pt x="78941" y="126059"/>
                  <a:pt x="78941" y="123345"/>
                </a:cubicBezTo>
                <a:lnTo>
                  <a:pt x="78941" y="113478"/>
                </a:lnTo>
                <a:cubicBezTo>
                  <a:pt x="78941" y="110764"/>
                  <a:pt x="76721" y="108544"/>
                  <a:pt x="74007" y="108544"/>
                </a:cubicBezTo>
                <a:lnTo>
                  <a:pt x="64140" y="108544"/>
                </a:lnTo>
                <a:close/>
                <a:moveTo>
                  <a:pt x="98676" y="113478"/>
                </a:moveTo>
                <a:lnTo>
                  <a:pt x="98676" y="123345"/>
                </a:lnTo>
                <a:cubicBezTo>
                  <a:pt x="98676" y="126059"/>
                  <a:pt x="100896" y="128279"/>
                  <a:pt x="103610" y="128279"/>
                </a:cubicBezTo>
                <a:lnTo>
                  <a:pt x="113478" y="128279"/>
                </a:lnTo>
                <a:cubicBezTo>
                  <a:pt x="116191" y="128279"/>
                  <a:pt x="118412" y="126059"/>
                  <a:pt x="118412" y="123345"/>
                </a:cubicBezTo>
                <a:lnTo>
                  <a:pt x="118412" y="113478"/>
                </a:lnTo>
                <a:cubicBezTo>
                  <a:pt x="118412" y="110764"/>
                  <a:pt x="116191" y="108544"/>
                  <a:pt x="113478" y="108544"/>
                </a:cubicBezTo>
                <a:lnTo>
                  <a:pt x="103610" y="108544"/>
                </a:lnTo>
                <a:cubicBezTo>
                  <a:pt x="100896" y="108544"/>
                  <a:pt x="98676" y="110764"/>
                  <a:pt x="98676" y="113478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4"/>
          <p:cNvSpPr/>
          <p:nvPr/>
        </p:nvSpPr>
        <p:spPr>
          <a:xfrm>
            <a:off x="800813" y="3304995"/>
            <a:ext cx="2254204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Deadline</a:t>
            </a:r>
            <a:endParaRPr b="0" i="0" sz="1600" u="none" cap="none" strike="noStrike"/>
          </a:p>
        </p:txBody>
      </p:sp>
      <p:sp>
        <p:nvSpPr>
          <p:cNvPr id="599" name="Google Shape;599;p14"/>
          <p:cNvSpPr/>
          <p:nvPr/>
        </p:nvSpPr>
        <p:spPr>
          <a:xfrm>
            <a:off x="800813" y="3515504"/>
            <a:ext cx="2254204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 31, 2027 (17:00 Brussels time)</a:t>
            </a:r>
            <a:endParaRPr b="0" i="0" sz="1600" u="none" cap="none" strike="noStrike"/>
          </a:p>
        </p:txBody>
      </p:sp>
      <p:sp>
        <p:nvSpPr>
          <p:cNvPr id="600" name="Google Shape;600;p14"/>
          <p:cNvSpPr/>
          <p:nvPr/>
        </p:nvSpPr>
        <p:spPr>
          <a:xfrm>
            <a:off x="500398" y="3831269"/>
            <a:ext cx="197353" cy="157882"/>
          </a:xfrm>
          <a:custGeom>
            <a:rect b="b" l="l" r="r" t="t"/>
            <a:pathLst>
              <a:path extrusionOk="0" h="157882" w="197353">
                <a:moveTo>
                  <a:pt x="98676" y="4934"/>
                </a:moveTo>
                <a:cubicBezTo>
                  <a:pt x="116376" y="4934"/>
                  <a:pt x="130746" y="19304"/>
                  <a:pt x="130746" y="37004"/>
                </a:cubicBezTo>
                <a:cubicBezTo>
                  <a:pt x="130746" y="54703"/>
                  <a:pt x="116376" y="69073"/>
                  <a:pt x="98676" y="69073"/>
                </a:cubicBezTo>
                <a:cubicBezTo>
                  <a:pt x="80976" y="69073"/>
                  <a:pt x="66606" y="54703"/>
                  <a:pt x="66606" y="37004"/>
                </a:cubicBezTo>
                <a:cubicBezTo>
                  <a:pt x="66606" y="19304"/>
                  <a:pt x="80976" y="4934"/>
                  <a:pt x="98676" y="4934"/>
                </a:cubicBezTo>
                <a:close/>
                <a:moveTo>
                  <a:pt x="29603" y="27136"/>
                </a:moveTo>
                <a:cubicBezTo>
                  <a:pt x="41857" y="27136"/>
                  <a:pt x="51805" y="37084"/>
                  <a:pt x="51805" y="49338"/>
                </a:cubicBezTo>
                <a:cubicBezTo>
                  <a:pt x="51805" y="61592"/>
                  <a:pt x="41857" y="71540"/>
                  <a:pt x="29603" y="71540"/>
                </a:cubicBezTo>
                <a:cubicBezTo>
                  <a:pt x="17349" y="71540"/>
                  <a:pt x="7401" y="61592"/>
                  <a:pt x="7401" y="49338"/>
                </a:cubicBezTo>
                <a:cubicBezTo>
                  <a:pt x="7401" y="37084"/>
                  <a:pt x="17349" y="27136"/>
                  <a:pt x="29603" y="27136"/>
                </a:cubicBezTo>
                <a:close/>
                <a:moveTo>
                  <a:pt x="0" y="128279"/>
                </a:moveTo>
                <a:cubicBezTo>
                  <a:pt x="0" y="106478"/>
                  <a:pt x="17669" y="88809"/>
                  <a:pt x="39471" y="88809"/>
                </a:cubicBezTo>
                <a:cubicBezTo>
                  <a:pt x="43418" y="88809"/>
                  <a:pt x="47241" y="89395"/>
                  <a:pt x="50849" y="90474"/>
                </a:cubicBezTo>
                <a:cubicBezTo>
                  <a:pt x="40704" y="101822"/>
                  <a:pt x="34537" y="116808"/>
                  <a:pt x="34537" y="133213"/>
                </a:cubicBezTo>
                <a:lnTo>
                  <a:pt x="34537" y="138147"/>
                </a:lnTo>
                <a:cubicBezTo>
                  <a:pt x="34537" y="141662"/>
                  <a:pt x="35277" y="144992"/>
                  <a:pt x="36603" y="148014"/>
                </a:cubicBezTo>
                <a:lnTo>
                  <a:pt x="9868" y="148014"/>
                </a:lnTo>
                <a:cubicBezTo>
                  <a:pt x="4410" y="148014"/>
                  <a:pt x="0" y="143605"/>
                  <a:pt x="0" y="138147"/>
                </a:cubicBezTo>
                <a:lnTo>
                  <a:pt x="0" y="128279"/>
                </a:lnTo>
                <a:close/>
                <a:moveTo>
                  <a:pt x="160750" y="148014"/>
                </a:moveTo>
                <a:cubicBezTo>
                  <a:pt x="162076" y="144992"/>
                  <a:pt x="162816" y="141662"/>
                  <a:pt x="162816" y="138147"/>
                </a:cubicBezTo>
                <a:lnTo>
                  <a:pt x="162816" y="133213"/>
                </a:lnTo>
                <a:cubicBezTo>
                  <a:pt x="162816" y="116808"/>
                  <a:pt x="156649" y="101822"/>
                  <a:pt x="146503" y="90474"/>
                </a:cubicBezTo>
                <a:cubicBezTo>
                  <a:pt x="150111" y="89395"/>
                  <a:pt x="153935" y="88809"/>
                  <a:pt x="157882" y="88809"/>
                </a:cubicBezTo>
                <a:cubicBezTo>
                  <a:pt x="179683" y="88809"/>
                  <a:pt x="197353" y="106478"/>
                  <a:pt x="197353" y="128279"/>
                </a:cubicBezTo>
                <a:lnTo>
                  <a:pt x="197353" y="138147"/>
                </a:lnTo>
                <a:cubicBezTo>
                  <a:pt x="197353" y="143605"/>
                  <a:pt x="192943" y="148014"/>
                  <a:pt x="187485" y="148014"/>
                </a:cubicBezTo>
                <a:lnTo>
                  <a:pt x="160750" y="148014"/>
                </a:lnTo>
                <a:close/>
                <a:moveTo>
                  <a:pt x="145547" y="49338"/>
                </a:moveTo>
                <a:cubicBezTo>
                  <a:pt x="145547" y="37084"/>
                  <a:pt x="155496" y="27136"/>
                  <a:pt x="167750" y="27136"/>
                </a:cubicBezTo>
                <a:cubicBezTo>
                  <a:pt x="180003" y="27136"/>
                  <a:pt x="189952" y="37084"/>
                  <a:pt x="189952" y="49338"/>
                </a:cubicBezTo>
                <a:cubicBezTo>
                  <a:pt x="189952" y="61592"/>
                  <a:pt x="180003" y="71540"/>
                  <a:pt x="167750" y="71540"/>
                </a:cubicBezTo>
                <a:cubicBezTo>
                  <a:pt x="155496" y="71540"/>
                  <a:pt x="145547" y="61592"/>
                  <a:pt x="145547" y="49338"/>
                </a:cubicBezTo>
                <a:close/>
                <a:moveTo>
                  <a:pt x="49338" y="133213"/>
                </a:moveTo>
                <a:cubicBezTo>
                  <a:pt x="49338" y="105954"/>
                  <a:pt x="71417" y="83875"/>
                  <a:pt x="98676" y="83875"/>
                </a:cubicBezTo>
                <a:cubicBezTo>
                  <a:pt x="125936" y="83875"/>
                  <a:pt x="148014" y="105954"/>
                  <a:pt x="148014" y="133213"/>
                </a:cubicBezTo>
                <a:lnTo>
                  <a:pt x="148014" y="138147"/>
                </a:lnTo>
                <a:cubicBezTo>
                  <a:pt x="148014" y="143605"/>
                  <a:pt x="143605" y="148014"/>
                  <a:pt x="138147" y="148014"/>
                </a:cubicBezTo>
                <a:lnTo>
                  <a:pt x="59206" y="148014"/>
                </a:lnTo>
                <a:cubicBezTo>
                  <a:pt x="53748" y="148014"/>
                  <a:pt x="49338" y="143605"/>
                  <a:pt x="49338" y="138147"/>
                </a:cubicBezTo>
                <a:lnTo>
                  <a:pt x="49338" y="133213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800813" y="3796184"/>
            <a:ext cx="4368069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Consortium Requirement</a:t>
            </a:r>
            <a:endParaRPr b="0" i="0" sz="1600" u="none" cap="none" strike="noStrike"/>
          </a:p>
        </p:txBody>
      </p:sp>
      <p:sp>
        <p:nvSpPr>
          <p:cNvPr id="602" name="Google Shape;602;p14"/>
          <p:cNvSpPr/>
          <p:nvPr/>
        </p:nvSpPr>
        <p:spPr>
          <a:xfrm>
            <a:off x="800813" y="4006693"/>
            <a:ext cx="4368069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Minimum 2 independent legal entities from different AU member states</a:t>
            </a:r>
            <a:endParaRPr b="0" i="0" sz="1600" u="none" cap="none" strike="noStrike"/>
          </a:p>
        </p:txBody>
      </p:sp>
      <p:sp>
        <p:nvSpPr>
          <p:cNvPr id="603" name="Google Shape;603;p14"/>
          <p:cNvSpPr/>
          <p:nvPr/>
        </p:nvSpPr>
        <p:spPr>
          <a:xfrm>
            <a:off x="354357" y="5038191"/>
            <a:ext cx="5673227" cy="1620922"/>
          </a:xfrm>
          <a:custGeom>
            <a:rect b="b" l="l" r="r" t="t"/>
            <a:pathLst>
              <a:path extrusionOk="0" h="1620922" w="5673227">
                <a:moveTo>
                  <a:pt x="70170" y="0"/>
                </a:moveTo>
                <a:lnTo>
                  <a:pt x="5603057" y="0"/>
                </a:lnTo>
                <a:cubicBezTo>
                  <a:pt x="5641811" y="0"/>
                  <a:pt x="5673227" y="31416"/>
                  <a:pt x="5673227" y="70170"/>
                </a:cubicBezTo>
                <a:lnTo>
                  <a:pt x="5673227" y="1550752"/>
                </a:lnTo>
                <a:cubicBezTo>
                  <a:pt x="5673227" y="1589506"/>
                  <a:pt x="5641811" y="1620922"/>
                  <a:pt x="5603057" y="1620922"/>
                </a:cubicBezTo>
                <a:lnTo>
                  <a:pt x="70170" y="1620922"/>
                </a:lnTo>
                <a:cubicBezTo>
                  <a:pt x="31416" y="1620922"/>
                  <a:pt x="0" y="1589506"/>
                  <a:pt x="0" y="1550752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2D3748">
              <a:alpha val="5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498205" y="5182037"/>
            <a:ext cx="5464472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3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Call Objectives</a:t>
            </a:r>
            <a:endParaRPr b="0" i="0" sz="1600" u="none" cap="none" strike="noStrike"/>
          </a:p>
        </p:txBody>
      </p:sp>
      <p:sp>
        <p:nvSpPr>
          <p:cNvPr id="605" name="Google Shape;605;p14"/>
          <p:cNvSpPr/>
          <p:nvPr/>
        </p:nvSpPr>
        <p:spPr>
          <a:xfrm>
            <a:off x="524519" y="5567971"/>
            <a:ext cx="122797" cy="140340"/>
          </a:xfrm>
          <a:custGeom>
            <a:rect b="b" l="l" r="r" t="t"/>
            <a:pathLst>
              <a:path extrusionOk="0" h="140340" w="122797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4"/>
          <p:cNvSpPr/>
          <p:nvPr/>
        </p:nvSpPr>
        <p:spPr>
          <a:xfrm>
            <a:off x="743800" y="5532886"/>
            <a:ext cx="4525951" cy="192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Demonstrate decentralized renewable energy systems in African contexts</a:t>
            </a:r>
            <a:endParaRPr b="0" i="0" sz="1600" u="none" cap="none" strike="noStrike"/>
          </a:p>
        </p:txBody>
      </p:sp>
      <p:sp>
        <p:nvSpPr>
          <p:cNvPr id="607" name="Google Shape;607;p14"/>
          <p:cNvSpPr/>
          <p:nvPr/>
        </p:nvSpPr>
        <p:spPr>
          <a:xfrm>
            <a:off x="524519" y="5831107"/>
            <a:ext cx="122797" cy="140340"/>
          </a:xfrm>
          <a:custGeom>
            <a:rect b="b" l="l" r="r" t="t"/>
            <a:pathLst>
              <a:path extrusionOk="0" h="140340" w="122797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4"/>
          <p:cNvSpPr/>
          <p:nvPr/>
        </p:nvSpPr>
        <p:spPr>
          <a:xfrm>
            <a:off x="743800" y="5796022"/>
            <a:ext cx="3833024" cy="192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Increase energy security and access in urban and rural regions</a:t>
            </a:r>
            <a:endParaRPr b="0" i="0" sz="1600" u="none" cap="none" strike="noStrike"/>
          </a:p>
        </p:txBody>
      </p:sp>
      <p:sp>
        <p:nvSpPr>
          <p:cNvPr id="609" name="Google Shape;609;p14"/>
          <p:cNvSpPr/>
          <p:nvPr/>
        </p:nvSpPr>
        <p:spPr>
          <a:xfrm>
            <a:off x="524519" y="6094244"/>
            <a:ext cx="122797" cy="140340"/>
          </a:xfrm>
          <a:custGeom>
            <a:rect b="b" l="l" r="r" t="t"/>
            <a:pathLst>
              <a:path extrusionOk="0" h="140340" w="122797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4"/>
          <p:cNvSpPr/>
          <p:nvPr/>
        </p:nvSpPr>
        <p:spPr>
          <a:xfrm>
            <a:off x="743800" y="6059159"/>
            <a:ext cx="2701537" cy="192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Promote local value chains and job creation</a:t>
            </a:r>
            <a:endParaRPr b="0" i="0" sz="1600" u="none" cap="none" strike="noStrike"/>
          </a:p>
        </p:txBody>
      </p:sp>
      <p:sp>
        <p:nvSpPr>
          <p:cNvPr id="611" name="Google Shape;611;p14"/>
          <p:cNvSpPr/>
          <p:nvPr/>
        </p:nvSpPr>
        <p:spPr>
          <a:xfrm>
            <a:off x="524519" y="6357381"/>
            <a:ext cx="122797" cy="140340"/>
          </a:xfrm>
          <a:custGeom>
            <a:rect b="b" l="l" r="r" t="t"/>
            <a:pathLst>
              <a:path extrusionOk="0" h="140340" w="122797">
                <a:moveTo>
                  <a:pt x="119179" y="19214"/>
                </a:moveTo>
                <a:cubicBezTo>
                  <a:pt x="123099" y="22065"/>
                  <a:pt x="123976" y="27547"/>
                  <a:pt x="121125" y="31467"/>
                </a:cubicBezTo>
                <a:lnTo>
                  <a:pt x="50955" y="127950"/>
                </a:lnTo>
                <a:cubicBezTo>
                  <a:pt x="49448" y="130033"/>
                  <a:pt x="47118" y="131322"/>
                  <a:pt x="44541" y="131541"/>
                </a:cubicBezTo>
                <a:cubicBezTo>
                  <a:pt x="41965" y="131760"/>
                  <a:pt x="39471" y="130801"/>
                  <a:pt x="37661" y="128992"/>
                </a:cubicBezTo>
                <a:lnTo>
                  <a:pt x="2577" y="93907"/>
                </a:lnTo>
                <a:cubicBezTo>
                  <a:pt x="-850" y="90481"/>
                  <a:pt x="-850" y="84916"/>
                  <a:pt x="2577" y="81490"/>
                </a:cubicBezTo>
                <a:cubicBezTo>
                  <a:pt x="6003" y="78064"/>
                  <a:pt x="11567" y="78064"/>
                  <a:pt x="14993" y="81490"/>
                </a:cubicBezTo>
                <a:lnTo>
                  <a:pt x="42815" y="109311"/>
                </a:lnTo>
                <a:lnTo>
                  <a:pt x="106954" y="21133"/>
                </a:lnTo>
                <a:cubicBezTo>
                  <a:pt x="109805" y="17214"/>
                  <a:pt x="115287" y="16336"/>
                  <a:pt x="119206" y="19187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4"/>
          <p:cNvSpPr/>
          <p:nvPr/>
        </p:nvSpPr>
        <p:spPr>
          <a:xfrm>
            <a:off x="743800" y="6322296"/>
            <a:ext cx="3219039" cy="192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Apply WEFE Nexus and circular economy principles</a:t>
            </a:r>
            <a:endParaRPr b="0" i="0" sz="1600" u="none" cap="none" strike="noStrike"/>
          </a:p>
        </p:txBody>
      </p:sp>
      <p:sp>
        <p:nvSpPr>
          <p:cNvPr id="613" name="Google Shape;613;p14"/>
          <p:cNvSpPr/>
          <p:nvPr/>
        </p:nvSpPr>
        <p:spPr>
          <a:xfrm>
            <a:off x="6170556" y="1336734"/>
            <a:ext cx="5673227" cy="4269831"/>
          </a:xfrm>
          <a:custGeom>
            <a:rect b="b" l="l" r="r" t="t"/>
            <a:pathLst>
              <a:path extrusionOk="0" h="4269831" w="5673227">
                <a:moveTo>
                  <a:pt x="70153" y="0"/>
                </a:moveTo>
                <a:lnTo>
                  <a:pt x="5603074" y="0"/>
                </a:lnTo>
                <a:cubicBezTo>
                  <a:pt x="5641818" y="0"/>
                  <a:pt x="5673227" y="31409"/>
                  <a:pt x="5673227" y="70153"/>
                </a:cubicBezTo>
                <a:lnTo>
                  <a:pt x="5673227" y="4199678"/>
                </a:lnTo>
                <a:cubicBezTo>
                  <a:pt x="5673227" y="4238423"/>
                  <a:pt x="5641818" y="4269831"/>
                  <a:pt x="5603074" y="4269831"/>
                </a:cubicBezTo>
                <a:lnTo>
                  <a:pt x="70153" y="4269831"/>
                </a:lnTo>
                <a:cubicBezTo>
                  <a:pt x="31409" y="4269831"/>
                  <a:pt x="0" y="4238423"/>
                  <a:pt x="0" y="4199678"/>
                </a:cubicBezTo>
                <a:lnTo>
                  <a:pt x="0" y="70153"/>
                </a:lnTo>
                <a:cubicBezTo>
                  <a:pt x="0" y="31435"/>
                  <a:pt x="31435" y="0"/>
                  <a:pt x="70153" y="0"/>
                </a:cubicBezTo>
                <a:close/>
              </a:path>
            </a:pathLst>
          </a:custGeom>
          <a:gradFill>
            <a:gsLst>
              <a:gs pos="0">
                <a:srgbClr val="D69E2E">
                  <a:alpha val="20000"/>
                </a:srgbClr>
              </a:gs>
              <a:gs pos="100000">
                <a:srgbClr val="D69E2E">
                  <a:alpha val="5098"/>
                </a:srgbClr>
              </a:gs>
            </a:gsLst>
            <a:lin ang="2700000" scaled="0"/>
          </a:gradFill>
          <a:ln cap="flat" cmpd="sng" w="10150">
            <a:solidFill>
              <a:srgbClr val="D69E2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4"/>
          <p:cNvSpPr/>
          <p:nvPr/>
        </p:nvSpPr>
        <p:spPr>
          <a:xfrm>
            <a:off x="6340717" y="1498123"/>
            <a:ext cx="210509" cy="210509"/>
          </a:xfrm>
          <a:custGeom>
            <a:rect b="b" l="l" r="r" t="t"/>
            <a:pathLst>
              <a:path extrusionOk="0" h="210509" w="210509">
                <a:moveTo>
                  <a:pt x="184196" y="105255"/>
                </a:moveTo>
                <a:cubicBezTo>
                  <a:pt x="184196" y="61686"/>
                  <a:pt x="148823" y="26314"/>
                  <a:pt x="105255" y="26314"/>
                </a:cubicBezTo>
                <a:cubicBezTo>
                  <a:pt x="61686" y="26314"/>
                  <a:pt x="26314" y="61686"/>
                  <a:pt x="26314" y="105255"/>
                </a:cubicBezTo>
                <a:cubicBezTo>
                  <a:pt x="26314" y="148823"/>
                  <a:pt x="61686" y="184196"/>
                  <a:pt x="105255" y="184196"/>
                </a:cubicBezTo>
                <a:cubicBezTo>
                  <a:pt x="148823" y="184196"/>
                  <a:pt x="184196" y="148823"/>
                  <a:pt x="184196" y="105255"/>
                </a:cubicBezTo>
                <a:close/>
                <a:moveTo>
                  <a:pt x="0" y="105255"/>
                </a:moveTo>
                <a:cubicBezTo>
                  <a:pt x="0" y="47163"/>
                  <a:pt x="47163" y="0"/>
                  <a:pt x="105255" y="0"/>
                </a:cubicBezTo>
                <a:cubicBezTo>
                  <a:pt x="163346" y="0"/>
                  <a:pt x="210509" y="47163"/>
                  <a:pt x="210509" y="105255"/>
                </a:cubicBezTo>
                <a:cubicBezTo>
                  <a:pt x="210509" y="163346"/>
                  <a:pt x="163346" y="210509"/>
                  <a:pt x="105255" y="210509"/>
                </a:cubicBezTo>
                <a:cubicBezTo>
                  <a:pt x="47163" y="210509"/>
                  <a:pt x="0" y="163346"/>
                  <a:pt x="0" y="105255"/>
                </a:cubicBezTo>
                <a:close/>
                <a:moveTo>
                  <a:pt x="105255" y="138147"/>
                </a:moveTo>
                <a:cubicBezTo>
                  <a:pt x="123408" y="138147"/>
                  <a:pt x="138147" y="123408"/>
                  <a:pt x="138147" y="105255"/>
                </a:cubicBezTo>
                <a:cubicBezTo>
                  <a:pt x="138147" y="87101"/>
                  <a:pt x="123408" y="72363"/>
                  <a:pt x="105255" y="72363"/>
                </a:cubicBezTo>
                <a:cubicBezTo>
                  <a:pt x="87101" y="72363"/>
                  <a:pt x="72363" y="87101"/>
                  <a:pt x="72363" y="105255"/>
                </a:cubicBezTo>
                <a:cubicBezTo>
                  <a:pt x="72363" y="123408"/>
                  <a:pt x="87101" y="138147"/>
                  <a:pt x="105255" y="138147"/>
                </a:cubicBezTo>
                <a:close/>
                <a:moveTo>
                  <a:pt x="105255" y="46049"/>
                </a:moveTo>
                <a:cubicBezTo>
                  <a:pt x="137931" y="46049"/>
                  <a:pt x="164460" y="72578"/>
                  <a:pt x="164460" y="105255"/>
                </a:cubicBezTo>
                <a:cubicBezTo>
                  <a:pt x="164460" y="137931"/>
                  <a:pt x="137931" y="164460"/>
                  <a:pt x="105255" y="164460"/>
                </a:cubicBezTo>
                <a:cubicBezTo>
                  <a:pt x="72578" y="164460"/>
                  <a:pt x="46049" y="137931"/>
                  <a:pt x="46049" y="105255"/>
                </a:cubicBezTo>
                <a:cubicBezTo>
                  <a:pt x="46049" y="72578"/>
                  <a:pt x="72578" y="46049"/>
                  <a:pt x="105255" y="46049"/>
                </a:cubicBezTo>
                <a:close/>
                <a:moveTo>
                  <a:pt x="92098" y="105255"/>
                </a:moveTo>
                <a:cubicBezTo>
                  <a:pt x="92098" y="97993"/>
                  <a:pt x="97993" y="92098"/>
                  <a:pt x="105255" y="92098"/>
                </a:cubicBezTo>
                <a:cubicBezTo>
                  <a:pt x="112516" y="92098"/>
                  <a:pt x="118412" y="97993"/>
                  <a:pt x="118412" y="105255"/>
                </a:cubicBezTo>
                <a:cubicBezTo>
                  <a:pt x="118412" y="112516"/>
                  <a:pt x="112516" y="118412"/>
                  <a:pt x="105255" y="118412"/>
                </a:cubicBezTo>
                <a:cubicBezTo>
                  <a:pt x="97993" y="118412"/>
                  <a:pt x="92098" y="112516"/>
                  <a:pt x="92098" y="105255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6682795" y="1480581"/>
            <a:ext cx="1447252" cy="245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1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SHEPA Response</a:t>
            </a:r>
            <a:endParaRPr b="0" i="0" sz="1600" u="none" cap="none" strike="noStrike"/>
          </a:p>
        </p:txBody>
      </p:sp>
      <p:sp>
        <p:nvSpPr>
          <p:cNvPr id="616" name="Google Shape;616;p14"/>
          <p:cNvSpPr/>
          <p:nvPr/>
        </p:nvSpPr>
        <p:spPr>
          <a:xfrm>
            <a:off x="6314404" y="1831430"/>
            <a:ext cx="5385531" cy="877122"/>
          </a:xfrm>
          <a:custGeom>
            <a:rect b="b" l="l" r="r" t="t"/>
            <a:pathLst>
              <a:path extrusionOk="0" h="877122" w="5385531">
                <a:moveTo>
                  <a:pt x="70170" y="0"/>
                </a:moveTo>
                <a:lnTo>
                  <a:pt x="5315361" y="0"/>
                </a:lnTo>
                <a:cubicBezTo>
                  <a:pt x="5354115" y="0"/>
                  <a:pt x="5385531" y="31416"/>
                  <a:pt x="5385531" y="70170"/>
                </a:cubicBezTo>
                <a:lnTo>
                  <a:pt x="5385531" y="806953"/>
                </a:lnTo>
                <a:cubicBezTo>
                  <a:pt x="5385531" y="845706"/>
                  <a:pt x="5354115" y="877122"/>
                  <a:pt x="5315361" y="877122"/>
                </a:cubicBezTo>
                <a:lnTo>
                  <a:pt x="70170" y="877122"/>
                </a:lnTo>
                <a:cubicBezTo>
                  <a:pt x="31416" y="877122"/>
                  <a:pt x="0" y="845706"/>
                  <a:pt x="0" y="806953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6431719" y="1962998"/>
            <a:ext cx="177617" cy="157882"/>
          </a:xfrm>
          <a:custGeom>
            <a:rect b="b" l="l" r="r" t="t"/>
            <a:pathLst>
              <a:path extrusionOk="0" h="157882" w="177617">
                <a:moveTo>
                  <a:pt x="37559" y="9868"/>
                </a:moveTo>
                <a:cubicBezTo>
                  <a:pt x="28308" y="9868"/>
                  <a:pt x="20290" y="16282"/>
                  <a:pt x="18286" y="25317"/>
                </a:cubicBezTo>
                <a:lnTo>
                  <a:pt x="2960" y="94390"/>
                </a:lnTo>
                <a:cubicBezTo>
                  <a:pt x="216" y="106725"/>
                  <a:pt x="9590" y="118412"/>
                  <a:pt x="22202" y="118412"/>
                </a:cubicBezTo>
                <a:lnTo>
                  <a:pt x="78972" y="118412"/>
                </a:lnTo>
                <a:lnTo>
                  <a:pt x="78972" y="138147"/>
                </a:lnTo>
                <a:lnTo>
                  <a:pt x="59237" y="138147"/>
                </a:lnTo>
                <a:cubicBezTo>
                  <a:pt x="53779" y="138147"/>
                  <a:pt x="49369" y="142556"/>
                  <a:pt x="49369" y="148014"/>
                </a:cubicBezTo>
                <a:cubicBezTo>
                  <a:pt x="49369" y="153472"/>
                  <a:pt x="53779" y="157882"/>
                  <a:pt x="59237" y="157882"/>
                </a:cubicBezTo>
                <a:lnTo>
                  <a:pt x="118442" y="157882"/>
                </a:lnTo>
                <a:cubicBezTo>
                  <a:pt x="123900" y="157882"/>
                  <a:pt x="128310" y="153472"/>
                  <a:pt x="128310" y="148014"/>
                </a:cubicBezTo>
                <a:cubicBezTo>
                  <a:pt x="128310" y="142556"/>
                  <a:pt x="123900" y="138147"/>
                  <a:pt x="118442" y="138147"/>
                </a:cubicBezTo>
                <a:lnTo>
                  <a:pt x="98707" y="138147"/>
                </a:lnTo>
                <a:lnTo>
                  <a:pt x="98707" y="118412"/>
                </a:lnTo>
                <a:lnTo>
                  <a:pt x="155477" y="118412"/>
                </a:lnTo>
                <a:cubicBezTo>
                  <a:pt x="168089" y="118412"/>
                  <a:pt x="177494" y="106725"/>
                  <a:pt x="174749" y="94390"/>
                </a:cubicBezTo>
                <a:lnTo>
                  <a:pt x="159393" y="25317"/>
                </a:lnTo>
                <a:cubicBezTo>
                  <a:pt x="157389" y="16282"/>
                  <a:pt x="149402" y="9868"/>
                  <a:pt x="140151" y="9868"/>
                </a:cubicBezTo>
                <a:lnTo>
                  <a:pt x="37559" y="9868"/>
                </a:lnTo>
                <a:close/>
                <a:moveTo>
                  <a:pt x="75734" y="29603"/>
                </a:moveTo>
                <a:lnTo>
                  <a:pt x="102007" y="29603"/>
                </a:lnTo>
                <a:lnTo>
                  <a:pt x="104258" y="56739"/>
                </a:lnTo>
                <a:lnTo>
                  <a:pt x="73483" y="56739"/>
                </a:lnTo>
                <a:lnTo>
                  <a:pt x="75734" y="29603"/>
                </a:lnTo>
                <a:close/>
                <a:moveTo>
                  <a:pt x="58620" y="56739"/>
                </a:moveTo>
                <a:lnTo>
                  <a:pt x="31546" y="56739"/>
                </a:lnTo>
                <a:lnTo>
                  <a:pt x="37589" y="29603"/>
                </a:lnTo>
                <a:lnTo>
                  <a:pt x="60902" y="29603"/>
                </a:lnTo>
                <a:lnTo>
                  <a:pt x="58651" y="56739"/>
                </a:lnTo>
                <a:close/>
                <a:moveTo>
                  <a:pt x="28246" y="71540"/>
                </a:moveTo>
                <a:lnTo>
                  <a:pt x="57386" y="71540"/>
                </a:lnTo>
                <a:lnTo>
                  <a:pt x="55135" y="98676"/>
                </a:lnTo>
                <a:lnTo>
                  <a:pt x="22233" y="98676"/>
                </a:lnTo>
                <a:lnTo>
                  <a:pt x="28277" y="71540"/>
                </a:lnTo>
                <a:close/>
                <a:moveTo>
                  <a:pt x="72219" y="71540"/>
                </a:moveTo>
                <a:lnTo>
                  <a:pt x="105460" y="71540"/>
                </a:lnTo>
                <a:lnTo>
                  <a:pt x="107711" y="98676"/>
                </a:lnTo>
                <a:lnTo>
                  <a:pt x="69937" y="98676"/>
                </a:lnTo>
                <a:lnTo>
                  <a:pt x="72188" y="71540"/>
                </a:lnTo>
                <a:close/>
                <a:moveTo>
                  <a:pt x="120323" y="71540"/>
                </a:moveTo>
                <a:lnTo>
                  <a:pt x="149464" y="71540"/>
                </a:lnTo>
                <a:lnTo>
                  <a:pt x="155508" y="98676"/>
                </a:lnTo>
                <a:lnTo>
                  <a:pt x="122605" y="98676"/>
                </a:lnTo>
                <a:lnTo>
                  <a:pt x="120354" y="71540"/>
                </a:lnTo>
                <a:close/>
                <a:moveTo>
                  <a:pt x="146164" y="56739"/>
                </a:moveTo>
                <a:lnTo>
                  <a:pt x="119090" y="56739"/>
                </a:lnTo>
                <a:lnTo>
                  <a:pt x="116839" y="29603"/>
                </a:lnTo>
                <a:lnTo>
                  <a:pt x="140151" y="29603"/>
                </a:lnTo>
                <a:lnTo>
                  <a:pt x="146195" y="56739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4"/>
          <p:cNvSpPr/>
          <p:nvPr/>
        </p:nvSpPr>
        <p:spPr>
          <a:xfrm>
            <a:off x="6687181" y="1936684"/>
            <a:ext cx="1710388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Technology Demonstration</a:t>
            </a:r>
            <a:endParaRPr b="0" i="0" sz="1600" u="none" cap="none" strike="noStrike"/>
          </a:p>
        </p:txBody>
      </p:sp>
      <p:sp>
        <p:nvSpPr>
          <p:cNvPr id="619" name="Google Shape;619;p14"/>
          <p:cNvSpPr/>
          <p:nvPr/>
        </p:nvSpPr>
        <p:spPr>
          <a:xfrm>
            <a:off x="6419658" y="2217363"/>
            <a:ext cx="5245191" cy="385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Solar-H₂ hybrid system with </a:t>
            </a: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third-life batteries</a:t>
            </a: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demonstrates innovative decentralized RE architecture</a:t>
            </a:r>
            <a:endParaRPr b="0" i="0" sz="1600" u="none" cap="none" strike="noStrike"/>
          </a:p>
        </p:txBody>
      </p:sp>
      <p:sp>
        <p:nvSpPr>
          <p:cNvPr id="620" name="Google Shape;620;p14"/>
          <p:cNvSpPr/>
          <p:nvPr/>
        </p:nvSpPr>
        <p:spPr>
          <a:xfrm>
            <a:off x="6314404" y="2813807"/>
            <a:ext cx="5385531" cy="877122"/>
          </a:xfrm>
          <a:custGeom>
            <a:rect b="b" l="l" r="r" t="t"/>
            <a:pathLst>
              <a:path extrusionOk="0" h="877122" w="5385531">
                <a:moveTo>
                  <a:pt x="70170" y="0"/>
                </a:moveTo>
                <a:lnTo>
                  <a:pt x="5315361" y="0"/>
                </a:lnTo>
                <a:cubicBezTo>
                  <a:pt x="5354115" y="0"/>
                  <a:pt x="5385531" y="31416"/>
                  <a:pt x="5385531" y="70170"/>
                </a:cubicBezTo>
                <a:lnTo>
                  <a:pt x="5385531" y="806953"/>
                </a:lnTo>
                <a:cubicBezTo>
                  <a:pt x="5385531" y="845706"/>
                  <a:pt x="5354115" y="877122"/>
                  <a:pt x="5315361" y="877122"/>
                </a:cubicBezTo>
                <a:lnTo>
                  <a:pt x="70170" y="877122"/>
                </a:lnTo>
                <a:cubicBezTo>
                  <a:pt x="31416" y="877122"/>
                  <a:pt x="0" y="845706"/>
                  <a:pt x="0" y="806953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6431719" y="2945375"/>
            <a:ext cx="177617" cy="157882"/>
          </a:xfrm>
          <a:custGeom>
            <a:rect b="b" l="l" r="r" t="t"/>
            <a:pathLst>
              <a:path extrusionOk="0" h="157882" w="177617">
                <a:moveTo>
                  <a:pt x="129358" y="29603"/>
                </a:moveTo>
                <a:cubicBezTo>
                  <a:pt x="124240" y="29603"/>
                  <a:pt x="119275" y="30991"/>
                  <a:pt x="114927" y="33519"/>
                </a:cubicBezTo>
                <a:cubicBezTo>
                  <a:pt x="110055" y="28585"/>
                  <a:pt x="104381" y="24453"/>
                  <a:pt x="98121" y="21339"/>
                </a:cubicBezTo>
                <a:cubicBezTo>
                  <a:pt x="106817" y="13938"/>
                  <a:pt x="117887" y="9868"/>
                  <a:pt x="129358" y="9868"/>
                </a:cubicBezTo>
                <a:cubicBezTo>
                  <a:pt x="156001" y="9868"/>
                  <a:pt x="177617" y="31453"/>
                  <a:pt x="177617" y="58126"/>
                </a:cubicBezTo>
                <a:cubicBezTo>
                  <a:pt x="177617" y="70924"/>
                  <a:pt x="172529" y="83196"/>
                  <a:pt x="163494" y="92231"/>
                </a:cubicBezTo>
                <a:lnTo>
                  <a:pt x="141570" y="114156"/>
                </a:lnTo>
                <a:cubicBezTo>
                  <a:pt x="132535" y="123191"/>
                  <a:pt x="120262" y="128279"/>
                  <a:pt x="107465" y="128279"/>
                </a:cubicBezTo>
                <a:cubicBezTo>
                  <a:pt x="80822" y="128279"/>
                  <a:pt x="59206" y="106694"/>
                  <a:pt x="59206" y="80020"/>
                </a:cubicBezTo>
                <a:cubicBezTo>
                  <a:pt x="59206" y="79558"/>
                  <a:pt x="59206" y="79095"/>
                  <a:pt x="59237" y="78633"/>
                </a:cubicBezTo>
                <a:cubicBezTo>
                  <a:pt x="59391" y="73175"/>
                  <a:pt x="63924" y="68888"/>
                  <a:pt x="69382" y="69043"/>
                </a:cubicBezTo>
                <a:cubicBezTo>
                  <a:pt x="74840" y="69197"/>
                  <a:pt x="79126" y="73730"/>
                  <a:pt x="78972" y="79188"/>
                </a:cubicBezTo>
                <a:cubicBezTo>
                  <a:pt x="78972" y="79465"/>
                  <a:pt x="78972" y="79743"/>
                  <a:pt x="78972" y="79989"/>
                </a:cubicBezTo>
                <a:cubicBezTo>
                  <a:pt x="78972" y="95747"/>
                  <a:pt x="91738" y="108513"/>
                  <a:pt x="107495" y="108513"/>
                </a:cubicBezTo>
                <a:cubicBezTo>
                  <a:pt x="115050" y="108513"/>
                  <a:pt x="122297" y="105522"/>
                  <a:pt x="127662" y="100156"/>
                </a:cubicBezTo>
                <a:lnTo>
                  <a:pt x="149587" y="78232"/>
                </a:lnTo>
                <a:cubicBezTo>
                  <a:pt x="154922" y="72897"/>
                  <a:pt x="157944" y="65620"/>
                  <a:pt x="157944" y="58065"/>
                </a:cubicBezTo>
                <a:cubicBezTo>
                  <a:pt x="157944" y="42307"/>
                  <a:pt x="145177" y="29541"/>
                  <a:pt x="129420" y="29541"/>
                </a:cubicBezTo>
                <a:close/>
                <a:moveTo>
                  <a:pt x="84862" y="53439"/>
                </a:moveTo>
                <a:cubicBezTo>
                  <a:pt x="84276" y="53193"/>
                  <a:pt x="83690" y="52853"/>
                  <a:pt x="83166" y="52483"/>
                </a:cubicBezTo>
                <a:cubicBezTo>
                  <a:pt x="79280" y="50479"/>
                  <a:pt x="74840" y="49338"/>
                  <a:pt x="70183" y="49338"/>
                </a:cubicBezTo>
                <a:cubicBezTo>
                  <a:pt x="62629" y="49338"/>
                  <a:pt x="55382" y="52329"/>
                  <a:pt x="50017" y="57695"/>
                </a:cubicBezTo>
                <a:lnTo>
                  <a:pt x="28092" y="79619"/>
                </a:lnTo>
                <a:cubicBezTo>
                  <a:pt x="22757" y="84954"/>
                  <a:pt x="19735" y="92231"/>
                  <a:pt x="19735" y="99786"/>
                </a:cubicBezTo>
                <a:cubicBezTo>
                  <a:pt x="19735" y="115544"/>
                  <a:pt x="32501" y="128310"/>
                  <a:pt x="48259" y="128310"/>
                </a:cubicBezTo>
                <a:cubicBezTo>
                  <a:pt x="53347" y="128310"/>
                  <a:pt x="58312" y="126953"/>
                  <a:pt x="62659" y="124425"/>
                </a:cubicBezTo>
                <a:cubicBezTo>
                  <a:pt x="67532" y="129358"/>
                  <a:pt x="73205" y="133490"/>
                  <a:pt x="79496" y="136605"/>
                </a:cubicBezTo>
                <a:cubicBezTo>
                  <a:pt x="70800" y="143975"/>
                  <a:pt x="59761" y="148076"/>
                  <a:pt x="48259" y="148076"/>
                </a:cubicBezTo>
                <a:cubicBezTo>
                  <a:pt x="21616" y="148076"/>
                  <a:pt x="0" y="126491"/>
                  <a:pt x="0" y="99817"/>
                </a:cubicBezTo>
                <a:cubicBezTo>
                  <a:pt x="0" y="87020"/>
                  <a:pt x="5088" y="74747"/>
                  <a:pt x="14123" y="65712"/>
                </a:cubicBezTo>
                <a:lnTo>
                  <a:pt x="36048" y="43788"/>
                </a:lnTo>
                <a:cubicBezTo>
                  <a:pt x="45083" y="34753"/>
                  <a:pt x="57356" y="29665"/>
                  <a:pt x="70153" y="29665"/>
                </a:cubicBezTo>
                <a:cubicBezTo>
                  <a:pt x="96857" y="29665"/>
                  <a:pt x="118412" y="51435"/>
                  <a:pt x="118412" y="78047"/>
                </a:cubicBezTo>
                <a:cubicBezTo>
                  <a:pt x="118412" y="78448"/>
                  <a:pt x="118412" y="78848"/>
                  <a:pt x="118412" y="79249"/>
                </a:cubicBezTo>
                <a:cubicBezTo>
                  <a:pt x="118288" y="84707"/>
                  <a:pt x="113755" y="88994"/>
                  <a:pt x="108297" y="88870"/>
                </a:cubicBezTo>
                <a:cubicBezTo>
                  <a:pt x="102839" y="88747"/>
                  <a:pt x="98553" y="84214"/>
                  <a:pt x="98676" y="78756"/>
                </a:cubicBezTo>
                <a:cubicBezTo>
                  <a:pt x="98676" y="78509"/>
                  <a:pt x="98676" y="78293"/>
                  <a:pt x="98676" y="78047"/>
                </a:cubicBezTo>
                <a:cubicBezTo>
                  <a:pt x="98676" y="67655"/>
                  <a:pt x="93126" y="58527"/>
                  <a:pt x="84862" y="5350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"/>
          <p:cNvSpPr/>
          <p:nvPr/>
        </p:nvSpPr>
        <p:spPr>
          <a:xfrm>
            <a:off x="6687181" y="2919061"/>
            <a:ext cx="1210429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Value Chains</a:t>
            </a:r>
            <a:endParaRPr b="0" i="0" sz="1600" u="none" cap="none" strike="noStrike"/>
          </a:p>
        </p:txBody>
      </p:sp>
      <p:sp>
        <p:nvSpPr>
          <p:cNvPr id="623" name="Google Shape;623;p14"/>
          <p:cNvSpPr/>
          <p:nvPr/>
        </p:nvSpPr>
        <p:spPr>
          <a:xfrm>
            <a:off x="6419658" y="3199740"/>
            <a:ext cx="5245191" cy="385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Spiro/Roam partnership</a:t>
            </a: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creates circular battery supply chain, reducing import dependency</a:t>
            </a:r>
            <a:endParaRPr b="0" i="0" sz="1600" u="none" cap="none" strike="noStrike"/>
          </a:p>
        </p:txBody>
      </p:sp>
      <p:sp>
        <p:nvSpPr>
          <p:cNvPr id="624" name="Google Shape;624;p14"/>
          <p:cNvSpPr/>
          <p:nvPr/>
        </p:nvSpPr>
        <p:spPr>
          <a:xfrm>
            <a:off x="6314404" y="3796184"/>
            <a:ext cx="5385531" cy="877122"/>
          </a:xfrm>
          <a:custGeom>
            <a:rect b="b" l="l" r="r" t="t"/>
            <a:pathLst>
              <a:path extrusionOk="0" h="877122" w="5385531">
                <a:moveTo>
                  <a:pt x="70170" y="0"/>
                </a:moveTo>
                <a:lnTo>
                  <a:pt x="5315361" y="0"/>
                </a:lnTo>
                <a:cubicBezTo>
                  <a:pt x="5354115" y="0"/>
                  <a:pt x="5385531" y="31416"/>
                  <a:pt x="5385531" y="70170"/>
                </a:cubicBezTo>
                <a:lnTo>
                  <a:pt x="5385531" y="806953"/>
                </a:lnTo>
                <a:cubicBezTo>
                  <a:pt x="5385531" y="845706"/>
                  <a:pt x="5354115" y="877122"/>
                  <a:pt x="5315361" y="877122"/>
                </a:cubicBezTo>
                <a:lnTo>
                  <a:pt x="70170" y="877122"/>
                </a:lnTo>
                <a:cubicBezTo>
                  <a:pt x="31416" y="877122"/>
                  <a:pt x="0" y="845706"/>
                  <a:pt x="0" y="806953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6441586" y="3927752"/>
            <a:ext cx="157882" cy="157882"/>
          </a:xfrm>
          <a:custGeom>
            <a:rect b="b" l="l" r="r" t="t"/>
            <a:pathLst>
              <a:path extrusionOk="0" h="157882" w="157882">
                <a:moveTo>
                  <a:pt x="108513" y="86342"/>
                </a:moveTo>
                <a:lnTo>
                  <a:pt x="49646" y="86342"/>
                </a:lnTo>
                <a:cubicBezTo>
                  <a:pt x="50541" y="106231"/>
                  <a:pt x="54950" y="124548"/>
                  <a:pt x="61210" y="137962"/>
                </a:cubicBezTo>
                <a:cubicBezTo>
                  <a:pt x="64725" y="145517"/>
                  <a:pt x="68518" y="150851"/>
                  <a:pt x="72034" y="154120"/>
                </a:cubicBezTo>
                <a:cubicBezTo>
                  <a:pt x="75487" y="157358"/>
                  <a:pt x="77862" y="157882"/>
                  <a:pt x="79095" y="157882"/>
                </a:cubicBezTo>
                <a:cubicBezTo>
                  <a:pt x="80329" y="157882"/>
                  <a:pt x="82703" y="157358"/>
                  <a:pt x="86157" y="154120"/>
                </a:cubicBezTo>
                <a:cubicBezTo>
                  <a:pt x="89672" y="150851"/>
                  <a:pt x="93465" y="145486"/>
                  <a:pt x="96980" y="137962"/>
                </a:cubicBezTo>
                <a:cubicBezTo>
                  <a:pt x="103240" y="124548"/>
                  <a:pt x="107650" y="106231"/>
                  <a:pt x="108544" y="86342"/>
                </a:cubicBezTo>
                <a:close/>
                <a:moveTo>
                  <a:pt x="49616" y="71540"/>
                </a:moveTo>
                <a:lnTo>
                  <a:pt x="108482" y="71540"/>
                </a:lnTo>
                <a:cubicBezTo>
                  <a:pt x="107619" y="51651"/>
                  <a:pt x="103209" y="33334"/>
                  <a:pt x="96949" y="19920"/>
                </a:cubicBezTo>
                <a:cubicBezTo>
                  <a:pt x="93434" y="12396"/>
                  <a:pt x="89641" y="7031"/>
                  <a:pt x="86126" y="3762"/>
                </a:cubicBezTo>
                <a:cubicBezTo>
                  <a:pt x="82672" y="524"/>
                  <a:pt x="80298" y="0"/>
                  <a:pt x="79064" y="0"/>
                </a:cubicBezTo>
                <a:cubicBezTo>
                  <a:pt x="77831" y="0"/>
                  <a:pt x="75457" y="524"/>
                  <a:pt x="72003" y="3762"/>
                </a:cubicBezTo>
                <a:cubicBezTo>
                  <a:pt x="68487" y="7031"/>
                  <a:pt x="64695" y="12396"/>
                  <a:pt x="61179" y="19920"/>
                </a:cubicBezTo>
                <a:cubicBezTo>
                  <a:pt x="54920" y="33334"/>
                  <a:pt x="50510" y="51651"/>
                  <a:pt x="49616" y="71540"/>
                </a:cubicBezTo>
                <a:close/>
                <a:moveTo>
                  <a:pt x="34814" y="71540"/>
                </a:moveTo>
                <a:cubicBezTo>
                  <a:pt x="35893" y="45144"/>
                  <a:pt x="42708" y="20630"/>
                  <a:pt x="52668" y="4533"/>
                </a:cubicBezTo>
                <a:cubicBezTo>
                  <a:pt x="24268" y="14586"/>
                  <a:pt x="3361" y="40457"/>
                  <a:pt x="463" y="71540"/>
                </a:cubicBezTo>
                <a:lnTo>
                  <a:pt x="34814" y="71540"/>
                </a:lnTo>
                <a:close/>
                <a:moveTo>
                  <a:pt x="463" y="86342"/>
                </a:moveTo>
                <a:cubicBezTo>
                  <a:pt x="3361" y="117425"/>
                  <a:pt x="24268" y="143296"/>
                  <a:pt x="52668" y="153349"/>
                </a:cubicBezTo>
                <a:cubicBezTo>
                  <a:pt x="42708" y="137253"/>
                  <a:pt x="35893" y="112738"/>
                  <a:pt x="34814" y="86342"/>
                </a:cubicBezTo>
                <a:lnTo>
                  <a:pt x="463" y="86342"/>
                </a:lnTo>
                <a:close/>
                <a:moveTo>
                  <a:pt x="123314" y="86342"/>
                </a:moveTo>
                <a:cubicBezTo>
                  <a:pt x="122235" y="112738"/>
                  <a:pt x="115420" y="137253"/>
                  <a:pt x="105460" y="153349"/>
                </a:cubicBezTo>
                <a:cubicBezTo>
                  <a:pt x="133861" y="143266"/>
                  <a:pt x="154768" y="117425"/>
                  <a:pt x="157666" y="86342"/>
                </a:cubicBezTo>
                <a:lnTo>
                  <a:pt x="123314" y="86342"/>
                </a:lnTo>
                <a:close/>
                <a:moveTo>
                  <a:pt x="157666" y="71540"/>
                </a:moveTo>
                <a:cubicBezTo>
                  <a:pt x="154768" y="40457"/>
                  <a:pt x="133861" y="14586"/>
                  <a:pt x="105460" y="4533"/>
                </a:cubicBezTo>
                <a:cubicBezTo>
                  <a:pt x="115420" y="20630"/>
                  <a:pt x="122235" y="45144"/>
                  <a:pt x="123314" y="71540"/>
                </a:cubicBezTo>
                <a:lnTo>
                  <a:pt x="157666" y="7154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6687181" y="3901438"/>
            <a:ext cx="1508650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EU-Africa Collaboration</a:t>
            </a:r>
            <a:endParaRPr b="0" i="0" sz="1600" u="none" cap="none" strike="noStrike"/>
          </a:p>
        </p:txBody>
      </p:sp>
      <p:sp>
        <p:nvSpPr>
          <p:cNvPr id="627" name="Google Shape;627;p14"/>
          <p:cNvSpPr/>
          <p:nvPr/>
        </p:nvSpPr>
        <p:spPr>
          <a:xfrm>
            <a:off x="6419658" y="4182117"/>
            <a:ext cx="5245191" cy="385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Technology transfer and knowledge exchange between European and African partners</a:t>
            </a:r>
            <a:endParaRPr b="0" i="0" sz="1600" u="none" cap="none" strike="noStrike"/>
          </a:p>
        </p:txBody>
      </p:sp>
      <p:sp>
        <p:nvSpPr>
          <p:cNvPr id="628" name="Google Shape;628;p14"/>
          <p:cNvSpPr/>
          <p:nvPr/>
        </p:nvSpPr>
        <p:spPr>
          <a:xfrm>
            <a:off x="6314404" y="4778561"/>
            <a:ext cx="5385531" cy="684155"/>
          </a:xfrm>
          <a:custGeom>
            <a:rect b="b" l="l" r="r" t="t"/>
            <a:pathLst>
              <a:path extrusionOk="0" h="684155" w="5385531">
                <a:moveTo>
                  <a:pt x="70167" y="0"/>
                </a:moveTo>
                <a:lnTo>
                  <a:pt x="5315364" y="0"/>
                </a:lnTo>
                <a:cubicBezTo>
                  <a:pt x="5354116" y="0"/>
                  <a:pt x="5385531" y="31415"/>
                  <a:pt x="5385531" y="70167"/>
                </a:cubicBezTo>
                <a:lnTo>
                  <a:pt x="5385531" y="613988"/>
                </a:lnTo>
                <a:cubicBezTo>
                  <a:pt x="5385531" y="652741"/>
                  <a:pt x="5354116" y="684155"/>
                  <a:pt x="5315364" y="684155"/>
                </a:cubicBezTo>
                <a:lnTo>
                  <a:pt x="70167" y="684155"/>
                </a:lnTo>
                <a:cubicBezTo>
                  <a:pt x="31441" y="684155"/>
                  <a:pt x="0" y="652715"/>
                  <a:pt x="0" y="613988"/>
                </a:cubicBezTo>
                <a:lnTo>
                  <a:pt x="0" y="70167"/>
                </a:lnTo>
                <a:cubicBezTo>
                  <a:pt x="0" y="31415"/>
                  <a:pt x="31415" y="0"/>
                  <a:pt x="7016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4"/>
          <p:cNvSpPr/>
          <p:nvPr/>
        </p:nvSpPr>
        <p:spPr>
          <a:xfrm>
            <a:off x="6441586" y="4910129"/>
            <a:ext cx="157882" cy="157882"/>
          </a:xfrm>
          <a:custGeom>
            <a:rect b="b" l="l" r="r" t="t"/>
            <a:pathLst>
              <a:path extrusionOk="0" h="157882" w="157882">
                <a:moveTo>
                  <a:pt x="46964" y="18502"/>
                </a:moveTo>
                <a:cubicBezTo>
                  <a:pt x="61210" y="-6167"/>
                  <a:pt x="96826" y="-6167"/>
                  <a:pt x="111072" y="18502"/>
                </a:cubicBezTo>
                <a:lnTo>
                  <a:pt x="122574" y="38422"/>
                </a:lnTo>
                <a:lnTo>
                  <a:pt x="131116" y="33488"/>
                </a:lnTo>
                <a:cubicBezTo>
                  <a:pt x="133706" y="31977"/>
                  <a:pt x="136944" y="32193"/>
                  <a:pt x="139319" y="34012"/>
                </a:cubicBezTo>
                <a:cubicBezTo>
                  <a:pt x="141693" y="35832"/>
                  <a:pt x="142741" y="38915"/>
                  <a:pt x="141970" y="41814"/>
                </a:cubicBezTo>
                <a:lnTo>
                  <a:pt x="134724" y="68765"/>
                </a:lnTo>
                <a:cubicBezTo>
                  <a:pt x="133675" y="72712"/>
                  <a:pt x="129605" y="75056"/>
                  <a:pt x="125658" y="74007"/>
                </a:cubicBezTo>
                <a:lnTo>
                  <a:pt x="98707" y="66791"/>
                </a:lnTo>
                <a:cubicBezTo>
                  <a:pt x="95808" y="66021"/>
                  <a:pt x="93681" y="63585"/>
                  <a:pt x="93280" y="60624"/>
                </a:cubicBezTo>
                <a:cubicBezTo>
                  <a:pt x="92879" y="57664"/>
                  <a:pt x="94328" y="54734"/>
                  <a:pt x="96919" y="53254"/>
                </a:cubicBezTo>
                <a:lnTo>
                  <a:pt x="105460" y="48321"/>
                </a:lnTo>
                <a:lnTo>
                  <a:pt x="93958" y="28400"/>
                </a:lnTo>
                <a:cubicBezTo>
                  <a:pt x="87298" y="16898"/>
                  <a:pt x="70708" y="16898"/>
                  <a:pt x="64047" y="28400"/>
                </a:cubicBezTo>
                <a:lnTo>
                  <a:pt x="62413" y="31206"/>
                </a:lnTo>
                <a:cubicBezTo>
                  <a:pt x="59699" y="35924"/>
                  <a:pt x="53655" y="37528"/>
                  <a:pt x="48937" y="34814"/>
                </a:cubicBezTo>
                <a:cubicBezTo>
                  <a:pt x="44219" y="32101"/>
                  <a:pt x="42616" y="26057"/>
                  <a:pt x="45329" y="21308"/>
                </a:cubicBezTo>
                <a:lnTo>
                  <a:pt x="46964" y="18502"/>
                </a:lnTo>
                <a:close/>
                <a:moveTo>
                  <a:pt x="138671" y="86064"/>
                </a:moveTo>
                <a:cubicBezTo>
                  <a:pt x="143389" y="83351"/>
                  <a:pt x="149433" y="84954"/>
                  <a:pt x="152146" y="89672"/>
                </a:cubicBezTo>
                <a:lnTo>
                  <a:pt x="153781" y="92478"/>
                </a:lnTo>
                <a:cubicBezTo>
                  <a:pt x="168027" y="117147"/>
                  <a:pt x="150235" y="147984"/>
                  <a:pt x="121742" y="147984"/>
                </a:cubicBezTo>
                <a:lnTo>
                  <a:pt x="98738" y="147984"/>
                </a:lnTo>
                <a:lnTo>
                  <a:pt x="98738" y="157851"/>
                </a:lnTo>
                <a:cubicBezTo>
                  <a:pt x="98738" y="160842"/>
                  <a:pt x="96949" y="163556"/>
                  <a:pt x="94174" y="164697"/>
                </a:cubicBezTo>
                <a:cubicBezTo>
                  <a:pt x="91399" y="165838"/>
                  <a:pt x="88223" y="165221"/>
                  <a:pt x="86095" y="163093"/>
                </a:cubicBezTo>
                <a:lnTo>
                  <a:pt x="66360" y="143358"/>
                </a:lnTo>
                <a:cubicBezTo>
                  <a:pt x="63461" y="140459"/>
                  <a:pt x="63461" y="135772"/>
                  <a:pt x="66360" y="132905"/>
                </a:cubicBezTo>
                <a:lnTo>
                  <a:pt x="86095" y="113169"/>
                </a:lnTo>
                <a:cubicBezTo>
                  <a:pt x="88223" y="111042"/>
                  <a:pt x="91399" y="110425"/>
                  <a:pt x="94174" y="111566"/>
                </a:cubicBezTo>
                <a:cubicBezTo>
                  <a:pt x="96949" y="112707"/>
                  <a:pt x="98738" y="115420"/>
                  <a:pt x="98738" y="118412"/>
                </a:cubicBezTo>
                <a:lnTo>
                  <a:pt x="98738" y="128279"/>
                </a:lnTo>
                <a:lnTo>
                  <a:pt x="121742" y="128279"/>
                </a:lnTo>
                <a:cubicBezTo>
                  <a:pt x="135032" y="128279"/>
                  <a:pt x="143358" y="113879"/>
                  <a:pt x="136697" y="102377"/>
                </a:cubicBezTo>
                <a:lnTo>
                  <a:pt x="135063" y="99571"/>
                </a:lnTo>
                <a:cubicBezTo>
                  <a:pt x="132350" y="94853"/>
                  <a:pt x="133953" y="88809"/>
                  <a:pt x="138671" y="86095"/>
                </a:cubicBezTo>
                <a:close/>
                <a:moveTo>
                  <a:pt x="15727" y="72589"/>
                </a:moveTo>
                <a:lnTo>
                  <a:pt x="7185" y="67655"/>
                </a:lnTo>
                <a:cubicBezTo>
                  <a:pt x="4595" y="66144"/>
                  <a:pt x="3145" y="63245"/>
                  <a:pt x="3546" y="60285"/>
                </a:cubicBezTo>
                <a:cubicBezTo>
                  <a:pt x="3947" y="57325"/>
                  <a:pt x="6075" y="54889"/>
                  <a:pt x="8973" y="54118"/>
                </a:cubicBezTo>
                <a:lnTo>
                  <a:pt x="35924" y="46871"/>
                </a:lnTo>
                <a:cubicBezTo>
                  <a:pt x="39871" y="45823"/>
                  <a:pt x="43942" y="48166"/>
                  <a:pt x="44990" y="52113"/>
                </a:cubicBezTo>
                <a:lnTo>
                  <a:pt x="52206" y="79064"/>
                </a:lnTo>
                <a:cubicBezTo>
                  <a:pt x="52977" y="81963"/>
                  <a:pt x="51928" y="85016"/>
                  <a:pt x="49554" y="86866"/>
                </a:cubicBezTo>
                <a:cubicBezTo>
                  <a:pt x="47180" y="88716"/>
                  <a:pt x="43942" y="88901"/>
                  <a:pt x="41352" y="87390"/>
                </a:cubicBezTo>
                <a:lnTo>
                  <a:pt x="32810" y="82456"/>
                </a:lnTo>
                <a:lnTo>
                  <a:pt x="21308" y="102377"/>
                </a:lnTo>
                <a:cubicBezTo>
                  <a:pt x="14647" y="113879"/>
                  <a:pt x="22973" y="128279"/>
                  <a:pt x="36264" y="128279"/>
                </a:cubicBezTo>
                <a:lnTo>
                  <a:pt x="39532" y="128279"/>
                </a:lnTo>
                <a:cubicBezTo>
                  <a:pt x="44990" y="128279"/>
                  <a:pt x="49400" y="132689"/>
                  <a:pt x="49400" y="138147"/>
                </a:cubicBezTo>
                <a:cubicBezTo>
                  <a:pt x="49400" y="143605"/>
                  <a:pt x="44990" y="148014"/>
                  <a:pt x="39532" y="148014"/>
                </a:cubicBezTo>
                <a:lnTo>
                  <a:pt x="36264" y="148014"/>
                </a:lnTo>
                <a:cubicBezTo>
                  <a:pt x="7802" y="148014"/>
                  <a:pt x="-9991" y="117178"/>
                  <a:pt x="4255" y="92509"/>
                </a:cubicBezTo>
                <a:lnTo>
                  <a:pt x="15727" y="72589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6687181" y="4883815"/>
            <a:ext cx="1149030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Circular Economy</a:t>
            </a:r>
            <a:endParaRPr b="0" i="0" sz="1600" u="none" cap="none" strike="noStrike"/>
          </a:p>
        </p:txBody>
      </p:sp>
      <p:sp>
        <p:nvSpPr>
          <p:cNvPr id="631" name="Google Shape;631;p14"/>
          <p:cNvSpPr/>
          <p:nvPr/>
        </p:nvSpPr>
        <p:spPr>
          <a:xfrm>
            <a:off x="6419658" y="5164494"/>
            <a:ext cx="5245191" cy="192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Third-life batteries close the e-waste loop, aligning with </a:t>
            </a: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circular economy principles</a:t>
            </a:r>
            <a:endParaRPr b="0" i="0" sz="1600" u="none" cap="none" strike="noStrike"/>
          </a:p>
        </p:txBody>
      </p:sp>
      <p:sp>
        <p:nvSpPr>
          <p:cNvPr id="632" name="Google Shape;632;p14"/>
          <p:cNvSpPr/>
          <p:nvPr/>
        </p:nvSpPr>
        <p:spPr>
          <a:xfrm>
            <a:off x="6184590" y="5750419"/>
            <a:ext cx="5657439" cy="912207"/>
          </a:xfrm>
          <a:custGeom>
            <a:rect b="b" l="l" r="r" t="t"/>
            <a:pathLst>
              <a:path extrusionOk="0" h="912207" w="5657439">
                <a:moveTo>
                  <a:pt x="35085" y="0"/>
                </a:moveTo>
                <a:lnTo>
                  <a:pt x="5587272" y="0"/>
                </a:lnTo>
                <a:cubicBezTo>
                  <a:pt x="5626024" y="0"/>
                  <a:pt x="5657439" y="31415"/>
                  <a:pt x="5657439" y="70167"/>
                </a:cubicBezTo>
                <a:lnTo>
                  <a:pt x="5657439" y="842040"/>
                </a:lnTo>
                <a:cubicBezTo>
                  <a:pt x="5657439" y="880792"/>
                  <a:pt x="5626024" y="912207"/>
                  <a:pt x="5587272" y="912207"/>
                </a:cubicBezTo>
                <a:lnTo>
                  <a:pt x="35085" y="912207"/>
                </a:lnTo>
                <a:cubicBezTo>
                  <a:pt x="15708" y="912207"/>
                  <a:pt x="0" y="896499"/>
                  <a:pt x="0" y="877122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4"/>
          <p:cNvSpPr/>
          <p:nvPr/>
        </p:nvSpPr>
        <p:spPr>
          <a:xfrm>
            <a:off x="6184590" y="5750419"/>
            <a:ext cx="35085" cy="912207"/>
          </a:xfrm>
          <a:custGeom>
            <a:rect b="b" l="l" r="r" t="t"/>
            <a:pathLst>
              <a:path extrusionOk="0" h="912207" w="35085">
                <a:moveTo>
                  <a:pt x="35085" y="0"/>
                </a:moveTo>
                <a:lnTo>
                  <a:pt x="35085" y="0"/>
                </a:lnTo>
                <a:lnTo>
                  <a:pt x="35085" y="912207"/>
                </a:lnTo>
                <a:lnTo>
                  <a:pt x="35085" y="912207"/>
                </a:lnTo>
                <a:cubicBezTo>
                  <a:pt x="15708" y="912207"/>
                  <a:pt x="0" y="896499"/>
                  <a:pt x="0" y="877122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4"/>
          <p:cNvSpPr/>
          <p:nvPr/>
        </p:nvSpPr>
        <p:spPr>
          <a:xfrm>
            <a:off x="6324929" y="5925843"/>
            <a:ext cx="175424" cy="175424"/>
          </a:xfrm>
          <a:custGeom>
            <a:rect b="b" l="l" r="r" t="t"/>
            <a:pathLst>
              <a:path extrusionOk="0" h="175424" w="175424">
                <a:moveTo>
                  <a:pt x="87712" y="175424"/>
                </a:moveTo>
                <a:cubicBezTo>
                  <a:pt x="136122" y="175424"/>
                  <a:pt x="175424" y="136122"/>
                  <a:pt x="175424" y="87712"/>
                </a:cubicBezTo>
                <a:cubicBezTo>
                  <a:pt x="175424" y="39303"/>
                  <a:pt x="136122" y="0"/>
                  <a:pt x="87712" y="0"/>
                </a:cubicBezTo>
                <a:cubicBezTo>
                  <a:pt x="39303" y="0"/>
                  <a:pt x="0" y="39303"/>
                  <a:pt x="0" y="87712"/>
                </a:cubicBezTo>
                <a:cubicBezTo>
                  <a:pt x="0" y="136122"/>
                  <a:pt x="39303" y="175424"/>
                  <a:pt x="87712" y="175424"/>
                </a:cubicBezTo>
                <a:close/>
                <a:moveTo>
                  <a:pt x="76748" y="54820"/>
                </a:moveTo>
                <a:cubicBezTo>
                  <a:pt x="76748" y="48769"/>
                  <a:pt x="81661" y="43856"/>
                  <a:pt x="87712" y="43856"/>
                </a:cubicBezTo>
                <a:cubicBezTo>
                  <a:pt x="93763" y="43856"/>
                  <a:pt x="98676" y="48769"/>
                  <a:pt x="98676" y="54820"/>
                </a:cubicBezTo>
                <a:cubicBezTo>
                  <a:pt x="98676" y="60871"/>
                  <a:pt x="93763" y="65784"/>
                  <a:pt x="87712" y="65784"/>
                </a:cubicBezTo>
                <a:cubicBezTo>
                  <a:pt x="81661" y="65784"/>
                  <a:pt x="76748" y="60871"/>
                  <a:pt x="76748" y="54820"/>
                </a:cubicBezTo>
                <a:close/>
                <a:moveTo>
                  <a:pt x="74007" y="76748"/>
                </a:moveTo>
                <a:lnTo>
                  <a:pt x="90453" y="76748"/>
                </a:lnTo>
                <a:cubicBezTo>
                  <a:pt x="95010" y="76748"/>
                  <a:pt x="98676" y="80414"/>
                  <a:pt x="98676" y="84971"/>
                </a:cubicBezTo>
                <a:lnTo>
                  <a:pt x="98676" y="115122"/>
                </a:lnTo>
                <a:lnTo>
                  <a:pt x="101417" y="115122"/>
                </a:lnTo>
                <a:cubicBezTo>
                  <a:pt x="105974" y="115122"/>
                  <a:pt x="109640" y="118788"/>
                  <a:pt x="109640" y="123345"/>
                </a:cubicBezTo>
                <a:cubicBezTo>
                  <a:pt x="109640" y="127902"/>
                  <a:pt x="105974" y="131568"/>
                  <a:pt x="101417" y="131568"/>
                </a:cubicBezTo>
                <a:lnTo>
                  <a:pt x="74007" y="131568"/>
                </a:lnTo>
                <a:cubicBezTo>
                  <a:pt x="69450" y="131568"/>
                  <a:pt x="65784" y="127902"/>
                  <a:pt x="65784" y="123345"/>
                </a:cubicBezTo>
                <a:cubicBezTo>
                  <a:pt x="65784" y="118788"/>
                  <a:pt x="69450" y="115122"/>
                  <a:pt x="74007" y="115122"/>
                </a:cubicBezTo>
                <a:lnTo>
                  <a:pt x="82230" y="115122"/>
                </a:lnTo>
                <a:lnTo>
                  <a:pt x="82230" y="93194"/>
                </a:lnTo>
                <a:lnTo>
                  <a:pt x="74007" y="93194"/>
                </a:lnTo>
                <a:cubicBezTo>
                  <a:pt x="69450" y="93194"/>
                  <a:pt x="65784" y="89528"/>
                  <a:pt x="65784" y="84971"/>
                </a:cubicBezTo>
                <a:cubicBezTo>
                  <a:pt x="65784" y="80414"/>
                  <a:pt x="69450" y="76748"/>
                  <a:pt x="74007" y="76748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4"/>
          <p:cNvSpPr/>
          <p:nvPr/>
        </p:nvSpPr>
        <p:spPr>
          <a:xfrm>
            <a:off x="6590149" y="5890759"/>
            <a:ext cx="5183793" cy="2105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Strategic Context</a:t>
            </a:r>
            <a:endParaRPr b="0" i="0" sz="1600" u="none" cap="none" strike="noStrike"/>
          </a:p>
        </p:txBody>
      </p:sp>
      <p:sp>
        <p:nvSpPr>
          <p:cNvPr id="636" name="Google Shape;636;p14"/>
          <p:cNvSpPr/>
          <p:nvPr/>
        </p:nvSpPr>
        <p:spPr>
          <a:xfrm>
            <a:off x="6590149" y="6136353"/>
            <a:ext cx="5183793" cy="385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call contributes to the </a:t>
            </a: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 Global Gateway strategy</a:t>
            </a: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EU-AU cooperation on climate change and sustainable energy supply</a:t>
            </a:r>
            <a:r>
              <a:rPr b="0" i="0" lang="en-US" sz="1105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www.worldbank.org/76b43bcbb3ec2c7ac7c7ea6f66391f0a2abc5654.jpg" id="642" name="Google Shape;642;p15"/>
          <p:cNvPicPr preferRelativeResize="0"/>
          <p:nvPr/>
        </p:nvPicPr>
        <p:blipFill rotWithShape="1">
          <a:blip r:embed="rId3">
            <a:alphaModFix amt="20000"/>
          </a:blip>
          <a:srcRect b="28" l="0" r="0" t="28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43" name="Google Shape;643;p1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94901"/>
                </a:srgbClr>
              </a:gs>
              <a:gs pos="50000">
                <a:srgbClr val="1A202C">
                  <a:alpha val="90196"/>
                </a:srgbClr>
              </a:gs>
              <a:gs pos="100000">
                <a:srgbClr val="38A169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644" name="Google Shape;644;p15"/>
          <p:cNvSpPr/>
          <p:nvPr/>
        </p:nvSpPr>
        <p:spPr>
          <a:xfrm>
            <a:off x="381000" y="495300"/>
            <a:ext cx="57150" cy="381000"/>
          </a:xfrm>
          <a:custGeom>
            <a:rect b="b" l="l" r="r" t="t"/>
            <a:pathLst>
              <a:path extrusionOk="0" h="381000" w="5715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</p:sp>
      <p:sp>
        <p:nvSpPr>
          <p:cNvPr id="645" name="Google Shape;645;p15"/>
          <p:cNvSpPr/>
          <p:nvPr/>
        </p:nvSpPr>
        <p:spPr>
          <a:xfrm>
            <a:off x="552450" y="381000"/>
            <a:ext cx="5591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SECTION 08 — CLOSING</a:t>
            </a:r>
            <a:endParaRPr b="0" i="0" sz="1600" u="none" cap="none" strike="noStrike"/>
          </a:p>
        </p:txBody>
      </p:sp>
      <p:sp>
        <p:nvSpPr>
          <p:cNvPr id="646" name="Google Shape;646;p15"/>
          <p:cNvSpPr/>
          <p:nvPr/>
        </p:nvSpPr>
        <p:spPr>
          <a:xfrm>
            <a:off x="552450" y="609600"/>
            <a:ext cx="56864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Where We Are in the Design Journey</a:t>
            </a:r>
            <a:endParaRPr b="0" i="0" sz="1600" u="none" cap="none" strike="noStrike"/>
          </a:p>
        </p:txBody>
      </p:sp>
      <p:sp>
        <p:nvSpPr>
          <p:cNvPr id="647" name="Google Shape;647;p15"/>
          <p:cNvSpPr/>
          <p:nvPr/>
        </p:nvSpPr>
        <p:spPr>
          <a:xfrm>
            <a:off x="384810" y="1223010"/>
            <a:ext cx="11418570" cy="2255520"/>
          </a:xfrm>
          <a:custGeom>
            <a:rect b="b" l="l" r="r" t="t"/>
            <a:pathLst>
              <a:path extrusionOk="0" h="2255520" w="11418570">
                <a:moveTo>
                  <a:pt x="76191" y="0"/>
                </a:moveTo>
                <a:lnTo>
                  <a:pt x="11342379" y="0"/>
                </a:lnTo>
                <a:cubicBezTo>
                  <a:pt x="11384458" y="0"/>
                  <a:pt x="11418570" y="34112"/>
                  <a:pt x="11418570" y="76191"/>
                </a:cubicBezTo>
                <a:lnTo>
                  <a:pt x="11418570" y="2179329"/>
                </a:lnTo>
                <a:cubicBezTo>
                  <a:pt x="11418570" y="2221408"/>
                  <a:pt x="11384458" y="2255520"/>
                  <a:pt x="11342379" y="2255520"/>
                </a:cubicBezTo>
                <a:lnTo>
                  <a:pt x="76191" y="2255520"/>
                </a:lnTo>
                <a:cubicBezTo>
                  <a:pt x="34112" y="2255520"/>
                  <a:pt x="0" y="2221408"/>
                  <a:pt x="0" y="2179329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 cap="flat" cmpd="sng" w="10150">
            <a:solidFill>
              <a:srgbClr val="4A556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564832" y="1417318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855345" y="1379218"/>
            <a:ext cx="885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A169"/>
                </a:solidFill>
                <a:latin typeface="Liter"/>
                <a:ea typeface="Liter"/>
                <a:cs typeface="Liter"/>
                <a:sym typeface="Liter"/>
              </a:rPr>
              <a:t>Confirmed</a:t>
            </a:r>
            <a:endParaRPr b="0" i="0" sz="1600" u="none" cap="none" strike="noStrike"/>
          </a:p>
        </p:txBody>
      </p:sp>
      <p:sp>
        <p:nvSpPr>
          <p:cNvPr id="650" name="Google Shape;650;p15"/>
          <p:cNvSpPr/>
          <p:nvPr/>
        </p:nvSpPr>
        <p:spPr>
          <a:xfrm>
            <a:off x="568404" y="1813564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>
            <a:off x="769620" y="1760218"/>
            <a:ext cx="3448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Solar &amp; wind resource (39-46yr datasets)</a:t>
            </a:r>
            <a:endParaRPr b="0" i="0" sz="1600" u="none" cap="none" strike="noStrike"/>
          </a:p>
        </p:txBody>
      </p:sp>
      <p:sp>
        <p:nvSpPr>
          <p:cNvPr id="652" name="Google Shape;652;p15"/>
          <p:cNvSpPr/>
          <p:nvPr/>
        </p:nvSpPr>
        <p:spPr>
          <a:xfrm>
            <a:off x="568404" y="2080264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769620" y="2026918"/>
            <a:ext cx="3448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Demographic anchor loads</a:t>
            </a:r>
            <a:endParaRPr b="0" i="0" sz="1600" u="none" cap="none" strike="noStrike"/>
          </a:p>
        </p:txBody>
      </p:sp>
      <p:sp>
        <p:nvSpPr>
          <p:cNvPr id="654" name="Google Shape;654;p15"/>
          <p:cNvSpPr/>
          <p:nvPr/>
        </p:nvSpPr>
        <p:spPr>
          <a:xfrm>
            <a:off x="568404" y="2346964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769620" y="2293618"/>
            <a:ext cx="3448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Reference system architecture (Mweiga)</a:t>
            </a:r>
            <a:endParaRPr b="0" i="0" sz="1600" u="none" cap="none" strike="noStrike"/>
          </a:p>
        </p:txBody>
      </p:sp>
      <p:sp>
        <p:nvSpPr>
          <p:cNvPr id="656" name="Google Shape;656;p15"/>
          <p:cNvSpPr/>
          <p:nvPr/>
        </p:nvSpPr>
        <p:spPr>
          <a:xfrm>
            <a:off x="568404" y="2613664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5"/>
          <p:cNvSpPr/>
          <p:nvPr/>
        </p:nvSpPr>
        <p:spPr>
          <a:xfrm>
            <a:off x="769620" y="2560318"/>
            <a:ext cx="3448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Climate constraints (dust, heat, derating)</a:t>
            </a:r>
            <a:endParaRPr b="0" i="0" sz="1600" u="none" cap="none" strike="noStrike"/>
          </a:p>
        </p:txBody>
      </p:sp>
      <p:sp>
        <p:nvSpPr>
          <p:cNvPr id="658" name="Google Shape;658;p15"/>
          <p:cNvSpPr/>
          <p:nvPr/>
        </p:nvSpPr>
        <p:spPr>
          <a:xfrm>
            <a:off x="568404" y="2880364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5"/>
          <p:cNvSpPr/>
          <p:nvPr/>
        </p:nvSpPr>
        <p:spPr>
          <a:xfrm>
            <a:off x="769620" y="2827018"/>
            <a:ext cx="3448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WEFE nexus framework</a:t>
            </a:r>
            <a:endParaRPr b="0" i="0" sz="1600" u="none" cap="none" strike="noStrike"/>
          </a:p>
        </p:txBody>
      </p:sp>
      <p:sp>
        <p:nvSpPr>
          <p:cNvPr id="660" name="Google Shape;660;p15"/>
          <p:cNvSpPr/>
          <p:nvPr/>
        </p:nvSpPr>
        <p:spPr>
          <a:xfrm>
            <a:off x="568404" y="3147064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5"/>
          <p:cNvSpPr/>
          <p:nvPr/>
        </p:nvSpPr>
        <p:spPr>
          <a:xfrm>
            <a:off x="769620" y="3093718"/>
            <a:ext cx="3448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Third-life battery concept &amp; partners</a:t>
            </a:r>
            <a:endParaRPr b="0" i="0" sz="1600" u="none" cap="none" strike="noStrike"/>
          </a:p>
        </p:txBody>
      </p:sp>
      <p:sp>
        <p:nvSpPr>
          <p:cNvPr id="662" name="Google Shape;662;p15"/>
          <p:cNvSpPr/>
          <p:nvPr/>
        </p:nvSpPr>
        <p:spPr>
          <a:xfrm>
            <a:off x="4318873" y="1417318"/>
            <a:ext cx="190500" cy="190500"/>
          </a:xfrm>
          <a:custGeom>
            <a:rect b="b" l="l" r="r" t="t"/>
            <a:pathLst>
              <a:path extrusionOk="0" h="190500" w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5"/>
          <p:cNvSpPr/>
          <p:nvPr/>
        </p:nvSpPr>
        <p:spPr>
          <a:xfrm>
            <a:off x="4609386" y="1379218"/>
            <a:ext cx="933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69E2E"/>
                </a:solidFill>
                <a:latin typeface="Liter"/>
                <a:ea typeface="Liter"/>
                <a:cs typeface="Liter"/>
                <a:sym typeface="Liter"/>
              </a:rPr>
              <a:t>In Progress</a:t>
            </a:r>
            <a:endParaRPr b="0" i="0" sz="1600" u="none" cap="none" strike="noStrike"/>
          </a:p>
        </p:txBody>
      </p:sp>
      <p:sp>
        <p:nvSpPr>
          <p:cNvPr id="664" name="Google Shape;664;p15"/>
          <p:cNvSpPr/>
          <p:nvPr/>
        </p:nvSpPr>
        <p:spPr>
          <a:xfrm>
            <a:off x="4309348" y="18288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"/>
          <p:cNvSpPr/>
          <p:nvPr/>
        </p:nvSpPr>
        <p:spPr>
          <a:xfrm>
            <a:off x="4495086" y="17602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Community questionnaire deployment</a:t>
            </a:r>
            <a:endParaRPr b="0" i="0" sz="1600" u="none" cap="none" strike="noStrike"/>
          </a:p>
        </p:txBody>
      </p:sp>
      <p:sp>
        <p:nvSpPr>
          <p:cNvPr id="666" name="Google Shape;666;p15"/>
          <p:cNvSpPr/>
          <p:nvPr/>
        </p:nvSpPr>
        <p:spPr>
          <a:xfrm>
            <a:off x="4309348" y="20955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4495086" y="20269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Spiro/Roam partnership scoping</a:t>
            </a:r>
            <a:endParaRPr b="0" i="0" sz="1600" u="none" cap="none" strike="noStrike"/>
          </a:p>
        </p:txBody>
      </p:sp>
      <p:sp>
        <p:nvSpPr>
          <p:cNvPr id="668" name="Google Shape;668;p15"/>
          <p:cNvSpPr/>
          <p:nvPr/>
        </p:nvSpPr>
        <p:spPr>
          <a:xfrm>
            <a:off x="4309348" y="23622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4495086" y="22936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Site visit planning</a:t>
            </a:r>
            <a:endParaRPr b="0" i="0" sz="1600" u="none" cap="none" strike="noStrike"/>
          </a:p>
        </p:txBody>
      </p:sp>
      <p:sp>
        <p:nvSpPr>
          <p:cNvPr id="670" name="Google Shape;670;p15"/>
          <p:cNvSpPr/>
          <p:nvPr/>
        </p:nvSpPr>
        <p:spPr>
          <a:xfrm>
            <a:off x="4309348" y="26289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/>
          <p:nvPr/>
        </p:nvSpPr>
        <p:spPr>
          <a:xfrm>
            <a:off x="4495086" y="25603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Third-life battery supply chain mapping</a:t>
            </a:r>
            <a:endParaRPr b="0" i="0" sz="1600" u="none" cap="none" strike="noStrike"/>
          </a:p>
        </p:txBody>
      </p:sp>
      <p:sp>
        <p:nvSpPr>
          <p:cNvPr id="672" name="Google Shape;672;p15"/>
          <p:cNvSpPr/>
          <p:nvPr/>
        </p:nvSpPr>
        <p:spPr>
          <a:xfrm>
            <a:off x="8073033" y="1417318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8363545" y="1379218"/>
            <a:ext cx="1971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Liter"/>
                <a:ea typeface="Liter"/>
                <a:cs typeface="Liter"/>
                <a:sym typeface="Liter"/>
              </a:rPr>
              <a:t>Field Survey Will Resolve</a:t>
            </a:r>
            <a:endParaRPr b="0" i="0" sz="1600" u="none" cap="none" strike="noStrike"/>
          </a:p>
        </p:txBody>
      </p:sp>
      <p:sp>
        <p:nvSpPr>
          <p:cNvPr id="674" name="Google Shape;674;p15"/>
          <p:cNvSpPr/>
          <p:nvPr/>
        </p:nvSpPr>
        <p:spPr>
          <a:xfrm>
            <a:off x="8084939" y="1828800"/>
            <a:ext cx="71438" cy="114300"/>
          </a:xfrm>
          <a:custGeom>
            <a:rect b="b" l="l" r="r" t="t"/>
            <a:pathLst>
              <a:path extrusionOk="0" h="114300" w="71438">
                <a:moveTo>
                  <a:pt x="14288" y="35719"/>
                </a:moveTo>
                <a:cubicBezTo>
                  <a:pt x="14288" y="23887"/>
                  <a:pt x="23887" y="14288"/>
                  <a:pt x="35719" y="14288"/>
                </a:cubicBezTo>
                <a:cubicBezTo>
                  <a:pt x="47551" y="14288"/>
                  <a:pt x="57150" y="23887"/>
                  <a:pt x="57150" y="35719"/>
                </a:cubicBezTo>
                <a:cubicBezTo>
                  <a:pt x="57150" y="45251"/>
                  <a:pt x="50922" y="53333"/>
                  <a:pt x="42304" y="56123"/>
                </a:cubicBezTo>
                <a:cubicBezTo>
                  <a:pt x="35964" y="58177"/>
                  <a:pt x="28575" y="64004"/>
                  <a:pt x="28575" y="73223"/>
                </a:cubicBezTo>
                <a:lnTo>
                  <a:pt x="28575" y="78581"/>
                </a:lnTo>
                <a:cubicBezTo>
                  <a:pt x="28575" y="82533"/>
                  <a:pt x="31767" y="85725"/>
                  <a:pt x="35719" y="85725"/>
                </a:cubicBezTo>
                <a:cubicBezTo>
                  <a:pt x="39670" y="85725"/>
                  <a:pt x="42863" y="82533"/>
                  <a:pt x="42863" y="78581"/>
                </a:cubicBezTo>
                <a:lnTo>
                  <a:pt x="42863" y="73223"/>
                </a:lnTo>
                <a:cubicBezTo>
                  <a:pt x="42863" y="72844"/>
                  <a:pt x="42996" y="72308"/>
                  <a:pt x="43644" y="71594"/>
                </a:cubicBezTo>
                <a:cubicBezTo>
                  <a:pt x="44314" y="70857"/>
                  <a:pt x="45407" y="70143"/>
                  <a:pt x="46702" y="69719"/>
                </a:cubicBezTo>
                <a:cubicBezTo>
                  <a:pt x="61057" y="65097"/>
                  <a:pt x="71438" y="51636"/>
                  <a:pt x="71438" y="35719"/>
                </a:cubicBezTo>
                <a:cubicBezTo>
                  <a:pt x="71438" y="15984"/>
                  <a:pt x="55453" y="0"/>
                  <a:pt x="35719" y="0"/>
                </a:cubicBezTo>
                <a:cubicBezTo>
                  <a:pt x="15984" y="0"/>
                  <a:pt x="0" y="15984"/>
                  <a:pt x="0" y="35719"/>
                </a:cubicBezTo>
                <a:cubicBezTo>
                  <a:pt x="0" y="39670"/>
                  <a:pt x="3192" y="42863"/>
                  <a:pt x="7144" y="42863"/>
                </a:cubicBezTo>
                <a:cubicBezTo>
                  <a:pt x="11095" y="42863"/>
                  <a:pt x="14288" y="39670"/>
                  <a:pt x="14288" y="35719"/>
                </a:cubicBezTo>
                <a:close/>
                <a:moveTo>
                  <a:pt x="35719" y="114300"/>
                </a:moveTo>
                <a:cubicBezTo>
                  <a:pt x="40652" y="114300"/>
                  <a:pt x="44648" y="110304"/>
                  <a:pt x="44648" y="105370"/>
                </a:cubicBezTo>
                <a:cubicBezTo>
                  <a:pt x="44648" y="100437"/>
                  <a:pt x="40652" y="96441"/>
                  <a:pt x="35719" y="96441"/>
                </a:cubicBezTo>
                <a:cubicBezTo>
                  <a:pt x="30785" y="96441"/>
                  <a:pt x="26789" y="100437"/>
                  <a:pt x="26789" y="105370"/>
                </a:cubicBezTo>
                <a:cubicBezTo>
                  <a:pt x="26789" y="110304"/>
                  <a:pt x="30785" y="114300"/>
                  <a:pt x="35719" y="11430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8249245" y="17602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Actual load inventory</a:t>
            </a:r>
            <a:endParaRPr b="0" i="0" sz="1600" u="none" cap="none" strike="noStrike"/>
          </a:p>
        </p:txBody>
      </p:sp>
      <p:sp>
        <p:nvSpPr>
          <p:cNvPr id="676" name="Google Shape;676;p15"/>
          <p:cNvSpPr/>
          <p:nvPr/>
        </p:nvSpPr>
        <p:spPr>
          <a:xfrm>
            <a:off x="8084939" y="2095500"/>
            <a:ext cx="71438" cy="114300"/>
          </a:xfrm>
          <a:custGeom>
            <a:rect b="b" l="l" r="r" t="t"/>
            <a:pathLst>
              <a:path extrusionOk="0" h="114300" w="71438">
                <a:moveTo>
                  <a:pt x="14288" y="35719"/>
                </a:moveTo>
                <a:cubicBezTo>
                  <a:pt x="14288" y="23887"/>
                  <a:pt x="23887" y="14288"/>
                  <a:pt x="35719" y="14288"/>
                </a:cubicBezTo>
                <a:cubicBezTo>
                  <a:pt x="47551" y="14288"/>
                  <a:pt x="57150" y="23887"/>
                  <a:pt x="57150" y="35719"/>
                </a:cubicBezTo>
                <a:cubicBezTo>
                  <a:pt x="57150" y="45251"/>
                  <a:pt x="50922" y="53333"/>
                  <a:pt x="42304" y="56123"/>
                </a:cubicBezTo>
                <a:cubicBezTo>
                  <a:pt x="35964" y="58177"/>
                  <a:pt x="28575" y="64004"/>
                  <a:pt x="28575" y="73223"/>
                </a:cubicBezTo>
                <a:lnTo>
                  <a:pt x="28575" y="78581"/>
                </a:lnTo>
                <a:cubicBezTo>
                  <a:pt x="28575" y="82533"/>
                  <a:pt x="31767" y="85725"/>
                  <a:pt x="35719" y="85725"/>
                </a:cubicBezTo>
                <a:cubicBezTo>
                  <a:pt x="39670" y="85725"/>
                  <a:pt x="42863" y="82533"/>
                  <a:pt x="42863" y="78581"/>
                </a:cubicBezTo>
                <a:lnTo>
                  <a:pt x="42863" y="73223"/>
                </a:lnTo>
                <a:cubicBezTo>
                  <a:pt x="42863" y="72844"/>
                  <a:pt x="42996" y="72308"/>
                  <a:pt x="43644" y="71594"/>
                </a:cubicBezTo>
                <a:cubicBezTo>
                  <a:pt x="44314" y="70857"/>
                  <a:pt x="45407" y="70143"/>
                  <a:pt x="46702" y="69719"/>
                </a:cubicBezTo>
                <a:cubicBezTo>
                  <a:pt x="61057" y="65097"/>
                  <a:pt x="71438" y="51636"/>
                  <a:pt x="71438" y="35719"/>
                </a:cubicBezTo>
                <a:cubicBezTo>
                  <a:pt x="71438" y="15984"/>
                  <a:pt x="55453" y="0"/>
                  <a:pt x="35719" y="0"/>
                </a:cubicBezTo>
                <a:cubicBezTo>
                  <a:pt x="15984" y="0"/>
                  <a:pt x="0" y="15984"/>
                  <a:pt x="0" y="35719"/>
                </a:cubicBezTo>
                <a:cubicBezTo>
                  <a:pt x="0" y="39670"/>
                  <a:pt x="3192" y="42863"/>
                  <a:pt x="7144" y="42863"/>
                </a:cubicBezTo>
                <a:cubicBezTo>
                  <a:pt x="11095" y="42863"/>
                  <a:pt x="14288" y="39670"/>
                  <a:pt x="14288" y="35719"/>
                </a:cubicBezTo>
                <a:close/>
                <a:moveTo>
                  <a:pt x="35719" y="114300"/>
                </a:moveTo>
                <a:cubicBezTo>
                  <a:pt x="40652" y="114300"/>
                  <a:pt x="44648" y="110304"/>
                  <a:pt x="44648" y="105370"/>
                </a:cubicBezTo>
                <a:cubicBezTo>
                  <a:pt x="44648" y="100437"/>
                  <a:pt x="40652" y="96441"/>
                  <a:pt x="35719" y="96441"/>
                </a:cubicBezTo>
                <a:cubicBezTo>
                  <a:pt x="30785" y="96441"/>
                  <a:pt x="26789" y="100437"/>
                  <a:pt x="26789" y="105370"/>
                </a:cubicBezTo>
                <a:cubicBezTo>
                  <a:pt x="26789" y="110304"/>
                  <a:pt x="30785" y="114300"/>
                  <a:pt x="35719" y="11430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8249245" y="20269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Land availability &amp; tenure</a:t>
            </a:r>
            <a:endParaRPr b="0" i="0" sz="1600" u="none" cap="none" strike="noStrike"/>
          </a:p>
        </p:txBody>
      </p:sp>
      <p:sp>
        <p:nvSpPr>
          <p:cNvPr id="678" name="Google Shape;678;p15"/>
          <p:cNvSpPr/>
          <p:nvPr/>
        </p:nvSpPr>
        <p:spPr>
          <a:xfrm>
            <a:off x="8084939" y="2362200"/>
            <a:ext cx="71438" cy="114300"/>
          </a:xfrm>
          <a:custGeom>
            <a:rect b="b" l="l" r="r" t="t"/>
            <a:pathLst>
              <a:path extrusionOk="0" h="114300" w="71438">
                <a:moveTo>
                  <a:pt x="14288" y="35719"/>
                </a:moveTo>
                <a:cubicBezTo>
                  <a:pt x="14288" y="23887"/>
                  <a:pt x="23887" y="14288"/>
                  <a:pt x="35719" y="14288"/>
                </a:cubicBezTo>
                <a:cubicBezTo>
                  <a:pt x="47551" y="14288"/>
                  <a:pt x="57150" y="23887"/>
                  <a:pt x="57150" y="35719"/>
                </a:cubicBezTo>
                <a:cubicBezTo>
                  <a:pt x="57150" y="45251"/>
                  <a:pt x="50922" y="53333"/>
                  <a:pt x="42304" y="56123"/>
                </a:cubicBezTo>
                <a:cubicBezTo>
                  <a:pt x="35964" y="58177"/>
                  <a:pt x="28575" y="64004"/>
                  <a:pt x="28575" y="73223"/>
                </a:cubicBezTo>
                <a:lnTo>
                  <a:pt x="28575" y="78581"/>
                </a:lnTo>
                <a:cubicBezTo>
                  <a:pt x="28575" y="82533"/>
                  <a:pt x="31767" y="85725"/>
                  <a:pt x="35719" y="85725"/>
                </a:cubicBezTo>
                <a:cubicBezTo>
                  <a:pt x="39670" y="85725"/>
                  <a:pt x="42863" y="82533"/>
                  <a:pt x="42863" y="78581"/>
                </a:cubicBezTo>
                <a:lnTo>
                  <a:pt x="42863" y="73223"/>
                </a:lnTo>
                <a:cubicBezTo>
                  <a:pt x="42863" y="72844"/>
                  <a:pt x="42996" y="72308"/>
                  <a:pt x="43644" y="71594"/>
                </a:cubicBezTo>
                <a:cubicBezTo>
                  <a:pt x="44314" y="70857"/>
                  <a:pt x="45407" y="70143"/>
                  <a:pt x="46702" y="69719"/>
                </a:cubicBezTo>
                <a:cubicBezTo>
                  <a:pt x="61057" y="65097"/>
                  <a:pt x="71438" y="51636"/>
                  <a:pt x="71438" y="35719"/>
                </a:cubicBezTo>
                <a:cubicBezTo>
                  <a:pt x="71438" y="15984"/>
                  <a:pt x="55453" y="0"/>
                  <a:pt x="35719" y="0"/>
                </a:cubicBezTo>
                <a:cubicBezTo>
                  <a:pt x="15984" y="0"/>
                  <a:pt x="0" y="15984"/>
                  <a:pt x="0" y="35719"/>
                </a:cubicBezTo>
                <a:cubicBezTo>
                  <a:pt x="0" y="39670"/>
                  <a:pt x="3192" y="42863"/>
                  <a:pt x="7144" y="42863"/>
                </a:cubicBezTo>
                <a:cubicBezTo>
                  <a:pt x="11095" y="42863"/>
                  <a:pt x="14288" y="39670"/>
                  <a:pt x="14288" y="35719"/>
                </a:cubicBezTo>
                <a:close/>
                <a:moveTo>
                  <a:pt x="35719" y="114300"/>
                </a:moveTo>
                <a:cubicBezTo>
                  <a:pt x="40652" y="114300"/>
                  <a:pt x="44648" y="110304"/>
                  <a:pt x="44648" y="105370"/>
                </a:cubicBezTo>
                <a:cubicBezTo>
                  <a:pt x="44648" y="100437"/>
                  <a:pt x="40652" y="96441"/>
                  <a:pt x="35719" y="96441"/>
                </a:cubicBezTo>
                <a:cubicBezTo>
                  <a:pt x="30785" y="96441"/>
                  <a:pt x="26789" y="100437"/>
                  <a:pt x="26789" y="105370"/>
                </a:cubicBezTo>
                <a:cubicBezTo>
                  <a:pt x="26789" y="110304"/>
                  <a:pt x="30785" y="114300"/>
                  <a:pt x="35719" y="11430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5"/>
          <p:cNvSpPr/>
          <p:nvPr/>
        </p:nvSpPr>
        <p:spPr>
          <a:xfrm>
            <a:off x="8249245" y="22936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Borehole &amp; water data</a:t>
            </a:r>
            <a:endParaRPr b="0" i="0" sz="1600" u="none" cap="none" strike="noStrike"/>
          </a:p>
        </p:txBody>
      </p:sp>
      <p:sp>
        <p:nvSpPr>
          <p:cNvPr id="680" name="Google Shape;680;p15"/>
          <p:cNvSpPr/>
          <p:nvPr/>
        </p:nvSpPr>
        <p:spPr>
          <a:xfrm>
            <a:off x="8084939" y="2628900"/>
            <a:ext cx="71438" cy="114300"/>
          </a:xfrm>
          <a:custGeom>
            <a:rect b="b" l="l" r="r" t="t"/>
            <a:pathLst>
              <a:path extrusionOk="0" h="114300" w="71438">
                <a:moveTo>
                  <a:pt x="14288" y="35719"/>
                </a:moveTo>
                <a:cubicBezTo>
                  <a:pt x="14288" y="23887"/>
                  <a:pt x="23887" y="14288"/>
                  <a:pt x="35719" y="14288"/>
                </a:cubicBezTo>
                <a:cubicBezTo>
                  <a:pt x="47551" y="14288"/>
                  <a:pt x="57150" y="23887"/>
                  <a:pt x="57150" y="35719"/>
                </a:cubicBezTo>
                <a:cubicBezTo>
                  <a:pt x="57150" y="45251"/>
                  <a:pt x="50922" y="53333"/>
                  <a:pt x="42304" y="56123"/>
                </a:cubicBezTo>
                <a:cubicBezTo>
                  <a:pt x="35964" y="58177"/>
                  <a:pt x="28575" y="64004"/>
                  <a:pt x="28575" y="73223"/>
                </a:cubicBezTo>
                <a:lnTo>
                  <a:pt x="28575" y="78581"/>
                </a:lnTo>
                <a:cubicBezTo>
                  <a:pt x="28575" y="82533"/>
                  <a:pt x="31767" y="85725"/>
                  <a:pt x="35719" y="85725"/>
                </a:cubicBezTo>
                <a:cubicBezTo>
                  <a:pt x="39670" y="85725"/>
                  <a:pt x="42863" y="82533"/>
                  <a:pt x="42863" y="78581"/>
                </a:cubicBezTo>
                <a:lnTo>
                  <a:pt x="42863" y="73223"/>
                </a:lnTo>
                <a:cubicBezTo>
                  <a:pt x="42863" y="72844"/>
                  <a:pt x="42996" y="72308"/>
                  <a:pt x="43644" y="71594"/>
                </a:cubicBezTo>
                <a:cubicBezTo>
                  <a:pt x="44314" y="70857"/>
                  <a:pt x="45407" y="70143"/>
                  <a:pt x="46702" y="69719"/>
                </a:cubicBezTo>
                <a:cubicBezTo>
                  <a:pt x="61057" y="65097"/>
                  <a:pt x="71438" y="51636"/>
                  <a:pt x="71438" y="35719"/>
                </a:cubicBezTo>
                <a:cubicBezTo>
                  <a:pt x="71438" y="15984"/>
                  <a:pt x="55453" y="0"/>
                  <a:pt x="35719" y="0"/>
                </a:cubicBezTo>
                <a:cubicBezTo>
                  <a:pt x="15984" y="0"/>
                  <a:pt x="0" y="15984"/>
                  <a:pt x="0" y="35719"/>
                </a:cubicBezTo>
                <a:cubicBezTo>
                  <a:pt x="0" y="39670"/>
                  <a:pt x="3192" y="42863"/>
                  <a:pt x="7144" y="42863"/>
                </a:cubicBezTo>
                <a:cubicBezTo>
                  <a:pt x="11095" y="42863"/>
                  <a:pt x="14288" y="39670"/>
                  <a:pt x="14288" y="35719"/>
                </a:cubicBezTo>
                <a:close/>
                <a:moveTo>
                  <a:pt x="35719" y="114300"/>
                </a:moveTo>
                <a:cubicBezTo>
                  <a:pt x="40652" y="114300"/>
                  <a:pt x="44648" y="110304"/>
                  <a:pt x="44648" y="105370"/>
                </a:cubicBezTo>
                <a:cubicBezTo>
                  <a:pt x="44648" y="100437"/>
                  <a:pt x="40652" y="96441"/>
                  <a:pt x="35719" y="96441"/>
                </a:cubicBezTo>
                <a:cubicBezTo>
                  <a:pt x="30785" y="96441"/>
                  <a:pt x="26789" y="100437"/>
                  <a:pt x="26789" y="105370"/>
                </a:cubicBezTo>
                <a:cubicBezTo>
                  <a:pt x="26789" y="110304"/>
                  <a:pt x="30785" y="114300"/>
                  <a:pt x="35719" y="11430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8249245" y="25603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Seasonal RH for AWG sizing</a:t>
            </a:r>
            <a:endParaRPr b="0" i="0" sz="1600" u="none" cap="none" strike="noStrike"/>
          </a:p>
        </p:txBody>
      </p:sp>
      <p:sp>
        <p:nvSpPr>
          <p:cNvPr id="682" name="Google Shape;682;p15"/>
          <p:cNvSpPr/>
          <p:nvPr/>
        </p:nvSpPr>
        <p:spPr>
          <a:xfrm>
            <a:off x="8084939" y="2895600"/>
            <a:ext cx="71438" cy="114300"/>
          </a:xfrm>
          <a:custGeom>
            <a:rect b="b" l="l" r="r" t="t"/>
            <a:pathLst>
              <a:path extrusionOk="0" h="114300" w="71438">
                <a:moveTo>
                  <a:pt x="14288" y="35719"/>
                </a:moveTo>
                <a:cubicBezTo>
                  <a:pt x="14288" y="23887"/>
                  <a:pt x="23887" y="14288"/>
                  <a:pt x="35719" y="14288"/>
                </a:cubicBezTo>
                <a:cubicBezTo>
                  <a:pt x="47551" y="14288"/>
                  <a:pt x="57150" y="23887"/>
                  <a:pt x="57150" y="35719"/>
                </a:cubicBezTo>
                <a:cubicBezTo>
                  <a:pt x="57150" y="45251"/>
                  <a:pt x="50922" y="53333"/>
                  <a:pt x="42304" y="56123"/>
                </a:cubicBezTo>
                <a:cubicBezTo>
                  <a:pt x="35964" y="58177"/>
                  <a:pt x="28575" y="64004"/>
                  <a:pt x="28575" y="73223"/>
                </a:cubicBezTo>
                <a:lnTo>
                  <a:pt x="28575" y="78581"/>
                </a:lnTo>
                <a:cubicBezTo>
                  <a:pt x="28575" y="82533"/>
                  <a:pt x="31767" y="85725"/>
                  <a:pt x="35719" y="85725"/>
                </a:cubicBezTo>
                <a:cubicBezTo>
                  <a:pt x="39670" y="85725"/>
                  <a:pt x="42863" y="82533"/>
                  <a:pt x="42863" y="78581"/>
                </a:cubicBezTo>
                <a:lnTo>
                  <a:pt x="42863" y="73223"/>
                </a:lnTo>
                <a:cubicBezTo>
                  <a:pt x="42863" y="72844"/>
                  <a:pt x="42996" y="72308"/>
                  <a:pt x="43644" y="71594"/>
                </a:cubicBezTo>
                <a:cubicBezTo>
                  <a:pt x="44314" y="70857"/>
                  <a:pt x="45407" y="70143"/>
                  <a:pt x="46702" y="69719"/>
                </a:cubicBezTo>
                <a:cubicBezTo>
                  <a:pt x="61057" y="65097"/>
                  <a:pt x="71438" y="51636"/>
                  <a:pt x="71438" y="35719"/>
                </a:cubicBezTo>
                <a:cubicBezTo>
                  <a:pt x="71438" y="15984"/>
                  <a:pt x="55453" y="0"/>
                  <a:pt x="35719" y="0"/>
                </a:cubicBezTo>
                <a:cubicBezTo>
                  <a:pt x="15984" y="0"/>
                  <a:pt x="0" y="15984"/>
                  <a:pt x="0" y="35719"/>
                </a:cubicBezTo>
                <a:cubicBezTo>
                  <a:pt x="0" y="39670"/>
                  <a:pt x="3192" y="42863"/>
                  <a:pt x="7144" y="42863"/>
                </a:cubicBezTo>
                <a:cubicBezTo>
                  <a:pt x="11095" y="42863"/>
                  <a:pt x="14288" y="39670"/>
                  <a:pt x="14288" y="35719"/>
                </a:cubicBezTo>
                <a:close/>
                <a:moveTo>
                  <a:pt x="35719" y="114300"/>
                </a:moveTo>
                <a:cubicBezTo>
                  <a:pt x="40652" y="114300"/>
                  <a:pt x="44648" y="110304"/>
                  <a:pt x="44648" y="105370"/>
                </a:cubicBezTo>
                <a:cubicBezTo>
                  <a:pt x="44648" y="100437"/>
                  <a:pt x="40652" y="96441"/>
                  <a:pt x="35719" y="96441"/>
                </a:cubicBezTo>
                <a:cubicBezTo>
                  <a:pt x="30785" y="96441"/>
                  <a:pt x="26789" y="100437"/>
                  <a:pt x="26789" y="105370"/>
                </a:cubicBezTo>
                <a:cubicBezTo>
                  <a:pt x="26789" y="110304"/>
                  <a:pt x="30785" y="114300"/>
                  <a:pt x="35719" y="11430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5"/>
          <p:cNvSpPr/>
          <p:nvPr/>
        </p:nvSpPr>
        <p:spPr>
          <a:xfrm>
            <a:off x="8249245" y="28270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WTP, tariff, mobile money</a:t>
            </a:r>
            <a:endParaRPr b="0" i="0" sz="1600" u="none" cap="none" strike="noStrike"/>
          </a:p>
        </p:txBody>
      </p:sp>
      <p:sp>
        <p:nvSpPr>
          <p:cNvPr id="684" name="Google Shape;684;p15"/>
          <p:cNvSpPr/>
          <p:nvPr/>
        </p:nvSpPr>
        <p:spPr>
          <a:xfrm>
            <a:off x="8084939" y="3162300"/>
            <a:ext cx="71438" cy="114300"/>
          </a:xfrm>
          <a:custGeom>
            <a:rect b="b" l="l" r="r" t="t"/>
            <a:pathLst>
              <a:path extrusionOk="0" h="114300" w="71438">
                <a:moveTo>
                  <a:pt x="14288" y="35719"/>
                </a:moveTo>
                <a:cubicBezTo>
                  <a:pt x="14288" y="23887"/>
                  <a:pt x="23887" y="14288"/>
                  <a:pt x="35719" y="14288"/>
                </a:cubicBezTo>
                <a:cubicBezTo>
                  <a:pt x="47551" y="14288"/>
                  <a:pt x="57150" y="23887"/>
                  <a:pt x="57150" y="35719"/>
                </a:cubicBezTo>
                <a:cubicBezTo>
                  <a:pt x="57150" y="45251"/>
                  <a:pt x="50922" y="53333"/>
                  <a:pt x="42304" y="56123"/>
                </a:cubicBezTo>
                <a:cubicBezTo>
                  <a:pt x="35964" y="58177"/>
                  <a:pt x="28575" y="64004"/>
                  <a:pt x="28575" y="73223"/>
                </a:cubicBezTo>
                <a:lnTo>
                  <a:pt x="28575" y="78581"/>
                </a:lnTo>
                <a:cubicBezTo>
                  <a:pt x="28575" y="82533"/>
                  <a:pt x="31767" y="85725"/>
                  <a:pt x="35719" y="85725"/>
                </a:cubicBezTo>
                <a:cubicBezTo>
                  <a:pt x="39670" y="85725"/>
                  <a:pt x="42863" y="82533"/>
                  <a:pt x="42863" y="78581"/>
                </a:cubicBezTo>
                <a:lnTo>
                  <a:pt x="42863" y="73223"/>
                </a:lnTo>
                <a:cubicBezTo>
                  <a:pt x="42863" y="72844"/>
                  <a:pt x="42996" y="72308"/>
                  <a:pt x="43644" y="71594"/>
                </a:cubicBezTo>
                <a:cubicBezTo>
                  <a:pt x="44314" y="70857"/>
                  <a:pt x="45407" y="70143"/>
                  <a:pt x="46702" y="69719"/>
                </a:cubicBezTo>
                <a:cubicBezTo>
                  <a:pt x="61057" y="65097"/>
                  <a:pt x="71438" y="51636"/>
                  <a:pt x="71438" y="35719"/>
                </a:cubicBezTo>
                <a:cubicBezTo>
                  <a:pt x="71438" y="15984"/>
                  <a:pt x="55453" y="0"/>
                  <a:pt x="35719" y="0"/>
                </a:cubicBezTo>
                <a:cubicBezTo>
                  <a:pt x="15984" y="0"/>
                  <a:pt x="0" y="15984"/>
                  <a:pt x="0" y="35719"/>
                </a:cubicBezTo>
                <a:cubicBezTo>
                  <a:pt x="0" y="39670"/>
                  <a:pt x="3192" y="42863"/>
                  <a:pt x="7144" y="42863"/>
                </a:cubicBezTo>
                <a:cubicBezTo>
                  <a:pt x="11095" y="42863"/>
                  <a:pt x="14288" y="39670"/>
                  <a:pt x="14288" y="35719"/>
                </a:cubicBezTo>
                <a:close/>
                <a:moveTo>
                  <a:pt x="35719" y="114300"/>
                </a:moveTo>
                <a:cubicBezTo>
                  <a:pt x="40652" y="114300"/>
                  <a:pt x="44648" y="110304"/>
                  <a:pt x="44648" y="105370"/>
                </a:cubicBezTo>
                <a:cubicBezTo>
                  <a:pt x="44648" y="100437"/>
                  <a:pt x="40652" y="96441"/>
                  <a:pt x="35719" y="96441"/>
                </a:cubicBezTo>
                <a:cubicBezTo>
                  <a:pt x="30785" y="96441"/>
                  <a:pt x="26789" y="100437"/>
                  <a:pt x="26789" y="105370"/>
                </a:cubicBezTo>
                <a:cubicBezTo>
                  <a:pt x="26789" y="110304"/>
                  <a:pt x="30785" y="114300"/>
                  <a:pt x="35719" y="114300"/>
                </a:cubicBezTo>
                <a:close/>
              </a:path>
            </a:pathLst>
          </a:custGeom>
          <a:solidFill>
            <a:srgbClr val="4A5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5"/>
          <p:cNvSpPr/>
          <p:nvPr/>
        </p:nvSpPr>
        <p:spPr>
          <a:xfrm>
            <a:off x="8249245" y="3093718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7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reconditioning capacity</a:t>
            </a:r>
            <a:endParaRPr b="0" i="0" sz="1600" u="none" cap="none" strike="noStrike"/>
          </a:p>
        </p:txBody>
      </p:sp>
      <p:sp>
        <p:nvSpPr>
          <p:cNvPr id="686" name="Google Shape;686;p15"/>
          <p:cNvSpPr/>
          <p:nvPr/>
        </p:nvSpPr>
        <p:spPr>
          <a:xfrm>
            <a:off x="384810" y="3638556"/>
            <a:ext cx="5627370" cy="2169795"/>
          </a:xfrm>
          <a:custGeom>
            <a:rect b="b" l="l" r="r" t="t"/>
            <a:pathLst>
              <a:path extrusionOk="0" h="2169795" w="5627370">
                <a:moveTo>
                  <a:pt x="76203" y="0"/>
                </a:moveTo>
                <a:lnTo>
                  <a:pt x="5551167" y="0"/>
                </a:lnTo>
                <a:cubicBezTo>
                  <a:pt x="5593253" y="0"/>
                  <a:pt x="5627370" y="34117"/>
                  <a:pt x="5627370" y="76203"/>
                </a:cubicBezTo>
                <a:lnTo>
                  <a:pt x="5627370" y="2093592"/>
                </a:lnTo>
                <a:cubicBezTo>
                  <a:pt x="5627370" y="2135678"/>
                  <a:pt x="5593253" y="2169795"/>
                  <a:pt x="5551167" y="2169795"/>
                </a:cubicBezTo>
                <a:lnTo>
                  <a:pt x="76203" y="2169795"/>
                </a:lnTo>
                <a:cubicBezTo>
                  <a:pt x="34117" y="2169795"/>
                  <a:pt x="0" y="2135678"/>
                  <a:pt x="0" y="2093592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gradFill>
            <a:gsLst>
              <a:gs pos="0">
                <a:srgbClr val="38A169">
                  <a:alpha val="30196"/>
                </a:srgbClr>
              </a:gs>
              <a:gs pos="100000">
                <a:srgbClr val="38A169">
                  <a:alpha val="10196"/>
                </a:srgbClr>
              </a:gs>
            </a:gsLst>
            <a:lin ang="2700000" scaled="0"/>
          </a:gradFill>
          <a:ln cap="flat" cmpd="sng" w="10150">
            <a:solidFill>
              <a:srgbClr val="38A16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5"/>
          <p:cNvSpPr/>
          <p:nvPr/>
        </p:nvSpPr>
        <p:spPr>
          <a:xfrm>
            <a:off x="3071813" y="3849291"/>
            <a:ext cx="257175" cy="342900"/>
          </a:xfrm>
          <a:custGeom>
            <a:rect b="b" l="l" r="r" t="t"/>
            <a:pathLst>
              <a:path extrusionOk="0" h="342900" w="257175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5"/>
          <p:cNvSpPr/>
          <p:nvPr/>
        </p:nvSpPr>
        <p:spPr>
          <a:xfrm>
            <a:off x="521970" y="4344591"/>
            <a:ext cx="5353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Key Insight</a:t>
            </a:r>
            <a:endParaRPr b="0" i="0" sz="1600" u="none" cap="none" strike="noStrike"/>
          </a:p>
        </p:txBody>
      </p:sp>
      <p:sp>
        <p:nvSpPr>
          <p:cNvPr id="689" name="Google Shape;689;p15"/>
          <p:cNvSpPr/>
          <p:nvPr/>
        </p:nvSpPr>
        <p:spPr>
          <a:xfrm>
            <a:off x="536257" y="4763570"/>
            <a:ext cx="53244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FAFC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Mweiga proved the methodology. The Merti questionnaire will unlock the design. Third-life batteries via local partners will make it affordable and circular.</a:t>
            </a:r>
            <a:endParaRPr b="0" i="0" sz="1600" u="none" cap="none" strike="noStrike"/>
          </a:p>
        </p:txBody>
      </p:sp>
      <p:sp>
        <p:nvSpPr>
          <p:cNvPr id="690" name="Google Shape;690;p15"/>
          <p:cNvSpPr/>
          <p:nvPr/>
        </p:nvSpPr>
        <p:spPr>
          <a:xfrm>
            <a:off x="6176010" y="3638556"/>
            <a:ext cx="5627370" cy="2169795"/>
          </a:xfrm>
          <a:custGeom>
            <a:rect b="b" l="l" r="r" t="t"/>
            <a:pathLst>
              <a:path extrusionOk="0" h="2169795" w="5627370">
                <a:moveTo>
                  <a:pt x="76203" y="0"/>
                </a:moveTo>
                <a:lnTo>
                  <a:pt x="5551167" y="0"/>
                </a:lnTo>
                <a:cubicBezTo>
                  <a:pt x="5593253" y="0"/>
                  <a:pt x="5627370" y="34117"/>
                  <a:pt x="5627370" y="76203"/>
                </a:cubicBezTo>
                <a:lnTo>
                  <a:pt x="5627370" y="2093592"/>
                </a:lnTo>
                <a:cubicBezTo>
                  <a:pt x="5627370" y="2135678"/>
                  <a:pt x="5593253" y="2169795"/>
                  <a:pt x="5551167" y="2169795"/>
                </a:cubicBezTo>
                <a:lnTo>
                  <a:pt x="76203" y="2169795"/>
                </a:lnTo>
                <a:cubicBezTo>
                  <a:pt x="34117" y="2169795"/>
                  <a:pt x="0" y="2135678"/>
                  <a:pt x="0" y="2093592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gradFill>
            <a:gsLst>
              <a:gs pos="0">
                <a:srgbClr val="D69E2E">
                  <a:alpha val="30196"/>
                </a:srgbClr>
              </a:gs>
              <a:gs pos="100000">
                <a:srgbClr val="D69E2E">
                  <a:alpha val="10196"/>
                </a:srgbClr>
              </a:gs>
            </a:gsLst>
            <a:lin ang="2700000" scaled="0"/>
          </a:gradFill>
          <a:ln cap="flat" cmpd="sng" w="10150">
            <a:solidFill>
              <a:srgbClr val="D69E2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5"/>
          <p:cNvSpPr/>
          <p:nvPr/>
        </p:nvSpPr>
        <p:spPr>
          <a:xfrm>
            <a:off x="8820150" y="3849291"/>
            <a:ext cx="342900" cy="342900"/>
          </a:xfrm>
          <a:custGeom>
            <a:rect b="b" l="l" r="r" t="t"/>
            <a:pathLst>
              <a:path extrusionOk="0" h="342900" w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D69E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5"/>
          <p:cNvSpPr/>
          <p:nvPr/>
        </p:nvSpPr>
        <p:spPr>
          <a:xfrm>
            <a:off x="6313170" y="4344591"/>
            <a:ext cx="5353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Next Milestone</a:t>
            </a:r>
            <a:endParaRPr b="0" i="0" sz="1600" u="none" cap="none" strike="noStrike"/>
          </a:p>
        </p:txBody>
      </p:sp>
      <p:sp>
        <p:nvSpPr>
          <p:cNvPr id="693" name="Google Shape;693;p15"/>
          <p:cNvSpPr/>
          <p:nvPr/>
        </p:nvSpPr>
        <p:spPr>
          <a:xfrm>
            <a:off x="6327457" y="4763570"/>
            <a:ext cx="53244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AFC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Field data collection</a:t>
            </a:r>
            <a:r>
              <a:rPr b="0" i="0" lang="en-US" sz="1350" u="none" cap="none" strike="noStrike">
                <a:solidFill>
                  <a:srgbClr val="F7FAFC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followed by load demand design based on questionnaire responses. This will enable accurate system sizing and economic modeling.</a:t>
            </a:r>
            <a:endParaRPr b="0" i="0" sz="1600" u="none" cap="none" strike="noStrike"/>
          </a:p>
        </p:txBody>
      </p:sp>
      <p:sp>
        <p:nvSpPr>
          <p:cNvPr id="694" name="Google Shape;694;p15"/>
          <p:cNvSpPr/>
          <p:nvPr/>
        </p:nvSpPr>
        <p:spPr>
          <a:xfrm>
            <a:off x="384810" y="5970274"/>
            <a:ext cx="11418570" cy="502920"/>
          </a:xfrm>
          <a:custGeom>
            <a:rect b="b" l="l" r="r" t="t"/>
            <a:pathLst>
              <a:path extrusionOk="0" h="502920" w="11418570">
                <a:moveTo>
                  <a:pt x="76202" y="0"/>
                </a:moveTo>
                <a:lnTo>
                  <a:pt x="11342368" y="0"/>
                </a:lnTo>
                <a:cubicBezTo>
                  <a:pt x="11384453" y="0"/>
                  <a:pt x="11418570" y="34117"/>
                  <a:pt x="11418570" y="76202"/>
                </a:cubicBezTo>
                <a:lnTo>
                  <a:pt x="11418570" y="426718"/>
                </a:lnTo>
                <a:cubicBezTo>
                  <a:pt x="11418570" y="468803"/>
                  <a:pt x="11384453" y="502920"/>
                  <a:pt x="11342368" y="502920"/>
                </a:cubicBezTo>
                <a:lnTo>
                  <a:pt x="76202" y="502920"/>
                </a:lnTo>
                <a:cubicBezTo>
                  <a:pt x="34117" y="502920"/>
                  <a:pt x="0" y="468803"/>
                  <a:pt x="0" y="4267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8A169">
              <a:alpha val="20000"/>
            </a:srgbClr>
          </a:solidFill>
          <a:ln cap="flat" cmpd="sng" w="10150">
            <a:solidFill>
              <a:srgbClr val="38A16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5"/>
          <p:cNvSpPr/>
          <p:nvPr/>
        </p:nvSpPr>
        <p:spPr>
          <a:xfrm>
            <a:off x="3087410" y="6107432"/>
            <a:ext cx="228600" cy="228600"/>
          </a:xfrm>
          <a:custGeom>
            <a:rect b="b" l="l" r="r" t="t"/>
            <a:pathLst>
              <a:path extrusionOk="0" h="228600" w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5"/>
          <p:cNvSpPr/>
          <p:nvPr/>
        </p:nvSpPr>
        <p:spPr>
          <a:xfrm>
            <a:off x="3496985" y="6088382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AFC"/>
                </a:solidFill>
                <a:latin typeface="Liter"/>
                <a:ea typeface="Liter"/>
                <a:cs typeface="Liter"/>
                <a:sym typeface="Liter"/>
              </a:rPr>
              <a:t>Next Steps: Load Demand Design Based on Questionnaire Responses</a:t>
            </a:r>
            <a:endParaRPr b="0" i="0" sz="1600" u="none" cap="none" strike="noStrike"/>
          </a:p>
        </p:txBody>
      </p:sp>
      <p:sp>
        <p:nvSpPr>
          <p:cNvPr id="697" name="Google Shape;697;p15"/>
          <p:cNvSpPr/>
          <p:nvPr/>
        </p:nvSpPr>
        <p:spPr>
          <a:xfrm>
            <a:off x="8875990" y="6107432"/>
            <a:ext cx="228600" cy="228600"/>
          </a:xfrm>
          <a:custGeom>
            <a:rect b="b" l="l" r="r" t="t"/>
            <a:pathLst>
              <a:path extrusionOk="0" h="228600" w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38A1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